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6"/>
  </p:notesMasterIdLst>
  <p:sldIdLst>
    <p:sldId id="266" r:id="rId2"/>
    <p:sldId id="267" r:id="rId8"/>
    <p:sldId id="268" r:id="rId9"/>
    <p:sldId id="269" r:id="rId10"/>
    <p:sldId id="270" r:id="rId11"/>
    <p:sldId id="271" r:id="rId12"/>
    <p:sldId id="272" r:id="rId13"/>
    <p:sldId id="273" r:id="rId14"/>
    <p:sldId id="274" r:id="rId15"/>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10"/>
  </p:normalViewPr>
  <p:slideViewPr>
    <p:cSldViewPr snapToGrid="0" snapToObjects="1">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9279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reads n, t, h, d, t1 and t2 from config.txt. Every player arrives at the same time, so it forms all the parties at once: as many full parties as the scarcest role allows, min(t, h, d / 3), and reports the rest as leftovers. The main thread then sends the parties into instances one at a time, in order. Each party in a dungeon is its own thread, which sleeps for a clear time picked at random from t1 to t2, then marks its instance empty and frees it. Every event prints the status of all n instances, active or empty, and once every thread is joined the program prints how many parties each instance served and its total time served.</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deadlock the program is built to avoid. If the main thread took the mutex and then waited for an instance, it would sleep while holding the mutex once all n instances were busy. The parties in those instances need the same mutex to mark their instance empty before they release it, so they wait for main while main waits for them. That is a circular wait, and nothing can ever clear. A test build that swaps the two lines shows it: with n = 3 and five parties it printed the first three entries and then stopped, and no party ever cleared. The real program waits for a free instance first, while holding nothing, and only then takes the lock.</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ways the program could hang. Building parties one player at a time can deadlock when two half-built parties each hold DPS the other needs; forming only full parties up front, which works because all players arrive at once, means no party ever holds some players while waiting for more. A run that dies without calling release() would leave main waiting in acquire() forever, so release() sits after the try/catch and runs even after an error. A mutex locked by hand stays locked if an exception skips the unlock, so every lock in the program goes through lock_guard. In general, a deadlock needs a circular wait. Here every thread takes an instance before the mutex and never the other way around, and nobody waits for another thread while holding the mutex, so a cycle cannot form.</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Starvation is a party or player that can wait without limit while the program keeps running. C++ semaphores and mutexes make no promise about which waiter wakes first, so if every party were its own thread blocked in acquire(), an unlucky party could keep losing to newer ones. Here only the main thread ever waits for an instance, and it sends the parties strictly in order, so a party can only be behind the parties that came before it. Each run ends within t2 seconds, at most 15, and frees its instance even after an error. Together that bounds every wait: each group of n parties ahead adds at most t2 seconds. Players who can never be in a full party are reported as leftovers instead of being kept waiting.</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pieces work together. The counting semaphore enforces the limit of n active instances. One mutex, always taken through lock_guard, protects the shared status, counters and output. Each dungeon run is a thread, and joining the threads is what lets main read the final totals safely. The ordering rules are what keep the combination free of deadlock and starvation: wait for an instance before locking, never sleep or join while holding the lock, and send the parties in from one thread, in order.</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semaphore's count is the number of free instances. It is a global, so it is created with zero permits; main gives it n permits once n is read and the instance lists are allocated. Before each party enters, main takes a permit, and when all n instances are active, acquire() blocks until a run ends, so there are never more than n parties in dungeons. Each run returns its permit when its party clears, and also after an error, so the count never drifts. If a party cannot start, for example because the system cannot create another thread, undoEnter() puts the instance back and returns the permit.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shared data sits behind one mutex, including the console. The status change and the status printout happen under the same lock, so every printed list matches the state at that moment and output from different threads never interleaves. The lock is never held during the clear time: a run sleeps first and only then locks to record its result, so the instances really run at the same time and nobody waits long for the lock. pickInstance() also runs under the lock and picks the empty instance that has served the fewest parties, which spreads the parties across the instances. Every lock goes through lock_guard, which unlocks even if an exception is thrown.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requirement maps to one part of the design: the semaphore for the instance limit; matching once at the start for the party makeup and the simultaneous arrival; the lock ordering, full parties, lock_guard and guaranteed releases for deadlock; one ordered dispatcher and bounded clear times for starvation; and a clear time drawn at random from t1 to t2. The status of every instance is printed after each event, and the summary lists the parties served and total time served per instance.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75774-F061-3A5F-9B4D-5D6D829A8F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21D3B8-BC61-A991-412B-53A85040C4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B09BA5-8C07-C496-3712-61476B51C17A}"/>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FC4D782B-3ABB-10F9-20FD-F19FA4897B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DD5E85-86E2-A391-E8D8-1C222D4C730E}"/>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169490385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1E472-2CBD-7EE4-9ED6-043AC1A66F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85D99C-EB84-E6D2-A891-400D204E0E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C6E8C1-0EAB-42FE-1D4B-0531FC4B5DF4}"/>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2DBD7CA4-A9FC-FBAB-3031-4A7437E4F0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A7350E-57AA-E1A0-9801-46DA37789E7E}"/>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94464813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8AFF1-CF03-CA89-3598-441CC2A63E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9275C9-4BF4-7AE3-E862-2B1CD37445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8EF447-7DBA-EB19-BEBF-8A7BD48F1D44}"/>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E9FA88C0-3E41-0317-68D8-02372A4516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432BB0-B741-D723-602F-57FFD2B9BCCC}"/>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21371998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D263-CA6D-63CE-8078-6411D8729D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5311A7-FEE0-8DFD-ADED-723B8EA415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91DC0C-2427-8288-FBC0-5FDF1968B5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841D07-FF9C-EA02-1380-CD08402F2DD8}"/>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6" name="Footer Placeholder 5">
            <a:extLst>
              <a:ext uri="{FF2B5EF4-FFF2-40B4-BE49-F238E27FC236}">
                <a16:creationId xmlns:a16="http://schemas.microsoft.com/office/drawing/2014/main" id="{949AFD7F-F13E-D2F0-9D7B-56B89C6742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1B0E61-71CC-C1F5-6177-36F7EB4A53FB}"/>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127989229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8C020-93E8-46B4-D393-C772A3415F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A1E0AB-2D73-A1EB-4424-38822459E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4CA54D-9465-1284-7A63-4BBE183E10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BCFAD2-1380-D36A-8C04-62BDC66DC1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DD1413-A574-6DD8-7CC4-4F707B5E59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8C9E8D-AD54-39CB-8476-28DBD85329B8}"/>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8" name="Footer Placeholder 7">
            <a:extLst>
              <a:ext uri="{FF2B5EF4-FFF2-40B4-BE49-F238E27FC236}">
                <a16:creationId xmlns:a16="http://schemas.microsoft.com/office/drawing/2014/main" id="{7477DD40-BF0F-0663-4307-71A99C43B3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B37AD6-63E6-A1A3-CABA-35F26E35317B}"/>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52575240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78EBE-17A3-FE5C-FB4B-7A69035EB7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C6674C-54CA-7C17-3C3E-9909B34ACC3E}"/>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4" name="Footer Placeholder 3">
            <a:extLst>
              <a:ext uri="{FF2B5EF4-FFF2-40B4-BE49-F238E27FC236}">
                <a16:creationId xmlns:a16="http://schemas.microsoft.com/office/drawing/2014/main" id="{57278639-FAB7-9A43-1D16-030867B5E0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8377F5-05D0-FFC5-0E1F-28EA350A6001}"/>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352340654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0CF3AD-FD36-6775-B298-8FCE6D8D9775}"/>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3" name="Footer Placeholder 2">
            <a:extLst>
              <a:ext uri="{FF2B5EF4-FFF2-40B4-BE49-F238E27FC236}">
                <a16:creationId xmlns:a16="http://schemas.microsoft.com/office/drawing/2014/main" id="{0C8CDCB9-90A5-D559-1311-D4E2BDD44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B5A220-22ED-ECEA-17FF-1DFA19059EB9}"/>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38959562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8B952-F025-E12D-B481-4CDE0DD8CB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04ED05-F30B-6DEF-7B35-82F84E0568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72CEE0-B104-6FD0-5F0C-641630F3CC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CCF6C1-0A23-01E4-FAEC-6BD54CE8F40E}"/>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6" name="Footer Placeholder 5">
            <a:extLst>
              <a:ext uri="{FF2B5EF4-FFF2-40B4-BE49-F238E27FC236}">
                <a16:creationId xmlns:a16="http://schemas.microsoft.com/office/drawing/2014/main" id="{3B78CC05-0573-935F-6EA2-05C6EA5199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9D88DD-2B80-C06E-BB19-D7FC62CAF70F}"/>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13190220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3C099-0063-1698-9CBF-14CA00567C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F20740-A4FC-DF92-95E4-26F492434FA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E4D609-8340-C950-E7DA-A79F318AED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23B5E2-7845-75DB-5BB6-C9FED77E79F1}"/>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6" name="Footer Placeholder 5">
            <a:extLst>
              <a:ext uri="{FF2B5EF4-FFF2-40B4-BE49-F238E27FC236}">
                <a16:creationId xmlns:a16="http://schemas.microsoft.com/office/drawing/2014/main" id="{7958DA40-6664-B0BE-4267-05D072094F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37487D-1F41-ADC0-F66E-D65BCB0299F5}"/>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414601314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3E5D4-505E-F6A1-70FC-CC53A9601C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F2E44F-6942-6675-7F76-1364F90879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C8E8A7-4CFD-35F1-F0F6-D074D3A4AF42}"/>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C6A3207D-16E2-218B-B606-0FCFCF576E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7E62ED-ADA4-3826-DCE0-2176D4E2F632}"/>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314487413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DE963A-078D-8F15-042A-A8723EA862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25120A-B9FA-B364-0E65-421B36A209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F582FE-3266-5E47-9387-E9580FA19587}"/>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CA276A12-26D5-4BCE-B73A-D3C0805314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FEEE70-9973-0F40-7065-E15DB56769B0}"/>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63416070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body">
    <p:bg>
      <p:bgPr>
        <a:solidFill>
          <a:srgbClr val="FAFA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B2430"/>
                </a:solidFill>
                <a:latin typeface="Arial" pitchFamily="34" charset="0"/>
                <a:ea typeface="Arial" pitchFamily="34" charset="-122"/>
                <a:cs typeface="Arial"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526540"/>
            <a:ext cx="10566400" cy="4518660"/>
          </a:xfrm>
          <a:prstGeom prst="rect">
            <a:avLst/>
          </a:prstGeom>
          <a:noFill/>
          <a:ln/>
        </p:spPr>
        <p:txBody>
          <a:bodyPr wrap="square" lIns="0" tIns="0" rIns="0" bIns="0" rtlCol="0" anchor="t"/>
          <a:lstStyle>
            <a:lvl1pPr marL="0" indent="0" algn="l">
              <a:lnSpc>
                <a:spcPct val="140000"/>
              </a:lnSpc>
              <a:buNone/>
              <a:defRPr lang="en-US" sz="1600" dirty="0">
                <a:solidFill>
                  <a:srgbClr val="2F3A48"/>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3430198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6ED31A-1BBE-1E05-AC26-D5EF92D6D5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000230-B745-4ACD-647F-5226DB732C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FEEC1-35E9-DBD6-1E1F-384AB7FBBD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A7E7C766-AA31-7A00-8C67-3E94AAE559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272AB0A-10EF-F06C-C84A-6E6C7952CE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7B957E-62BD-4BE6-8AAE-F837B31C0530}" type="slidenum">
              <a:rPr lang="en-US" smtClean="0"/>
              <a:t>‹#›</a:t>
            </a:fld>
            <a:endParaRPr lang="en-US"/>
          </a:p>
        </p:txBody>
      </p:sp>
    </p:spTree>
    <p:extLst>
      <p:ext uri="{BB962C8B-B14F-4D97-AF65-F5344CB8AC3E}">
        <p14:creationId xmlns:p14="http://schemas.microsoft.com/office/powerpoint/2010/main" val="2075882259"/>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78206-8219-549C-1D2B-332421C9D6F3}"/>
              </a:ext>
            </a:extLst>
          </p:cNvPr>
          <p:cNvSpPr>
            <a:spLocks noGrp="1"/>
          </p:cNvSpPr>
          <p:nvPr>
            <p:ph type="title"/>
          </p:nvPr>
        </p:nvSpPr>
        <p:spPr/>
        <p:txBody>
          <a:bodyPr>
            <a:normAutofit fontScale="90000"/>
          </a:bodyPr>
          <a:lstStyle/>
          <a:p>
            <a:r>
              <a:rPr lang="en-US" dirty="0"/>
              <a:t>Problem Set 2 - Group Synchronization</a:t>
            </a:r>
          </a:p>
        </p:txBody>
      </p:sp>
      <p:sp>
        <p:nvSpPr>
          <p:cNvPr id="3" name="Text Placeholder 2">
            <a:extLst>
              <a:ext uri="{FF2B5EF4-FFF2-40B4-BE49-F238E27FC236}">
                <a16:creationId xmlns:a16="http://schemas.microsoft.com/office/drawing/2014/main" id="{8DDF8F20-9563-82FF-84C6-455FA149C416}"/>
              </a:ext>
            </a:extLst>
          </p:cNvPr>
          <p:cNvSpPr>
            <a:spLocks noGrp="1"/>
          </p:cNvSpPr>
          <p:nvPr>
            <p:ph type="body" idx="101"/>
          </p:nvPr>
        </p:nvSpPr>
        <p:spPr/>
        <p:txBody>
          <a:bodyPr/>
          <a:lstStyle/>
          <a:p>
            <a:r>
              <a:rPr lang="en-US" dirty="0"/>
              <a:t>Clarence Ivan Ang</a:t>
            </a:r>
          </a:p>
        </p:txBody>
      </p:sp>
      <p:sp>
        <p:nvSpPr>
          <p:cNvPr id="4" name="Disclosure"/>
          <p:cNvSpPr txBox="1"/>
          <p:nvPr/>
        </p:nvSpPr>
        <p:spPr>
          <a:xfrm>
            <a:off x="812902" y="6172200"/>
            <a:ext cx="7315200" cy="228600"/>
          </a:xfrm>
          <a:prstGeom prst="rect">
            <a:avLst/>
          </a:prstGeom>
          <a:noFill/>
          <a:ln>
            <a:noFill/>
          </a:ln>
        </p:spPr>
        <p:txBody>
          <a:bodyPr wrap="square" lIns="0" tIns="0" rIns="0" bIns="0" rtlCol="0" anchor="t">
            <a:noAutofit/>
          </a:bodyPr>
          <a:lstStyle/>
          <a:p>
            <a:pPr algn="l"/>
            <a:r>
              <a:rPr lang="en-US" sz="1100" dirty="0">
                <a:solidFill>
                  <a:srgbClr val="5A6675"/>
                </a:solidFill>
                <a:latin typeface="Arial" pitchFamily="34" charset="0"/>
                <a:ea typeface="Arial" pitchFamily="34" charset="-122"/>
                <a:cs typeface="Arial" pitchFamily="34" charset="-120"/>
              </a:rPr>
              <a:t>These slides were drafted with Claude.</a:t>
            </a:r>
          </a:p>
        </p:txBody>
      </p:sp>
    </p:spTree>
    <p:extLst>
      <p:ext uri="{BB962C8B-B14F-4D97-AF65-F5344CB8AC3E}">
        <p14:creationId xmlns:p14="http://schemas.microsoft.com/office/powerpoint/2010/main" val="73901296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2430"/>
                </a:solidFill>
                <a:latin typeface="Arial" pitchFamily="34" charset="0"/>
                <a:ea typeface="Arial" pitchFamily="34" charset="-122"/>
                <a:cs typeface="Arial" pitchFamily="34" charset="-120"/>
              </a:rPr>
              <a:t>LFG queue: implementation</a:t>
            </a:r>
            <a:endParaRPr lang="en-US" sz="2800" dirty="0">
              <a:solidFill>
                <a:srgbClr val="1B2430"/>
              </a:solidFill>
              <a:latin typeface="Arial" pitchFamily="34" charset="0"/>
              <a:ea typeface="Arial" pitchFamily="34" charset="-122"/>
              <a:cs typeface="Arial" pitchFamily="34" charset="-120"/>
            </a:endParaRPr>
          </a:p>
        </p:txBody>
      </p:sp>
      <p:sp>
        <p:nvSpPr>
          <p:cNvPr id="3" name="Text 1"/>
          <p:cNvSpPr txBox="1"/>
          <p:nvPr/>
        </p:nvSpPr>
        <p:spPr>
          <a:xfrm>
            <a:off x="875284" y="1526539"/>
            <a:ext cx="4343400" cy="4754880"/>
          </a:xfrm>
          <a:prstGeom prst="rect">
            <a:avLst/>
          </a:prstGeom>
          <a:noFill/>
          <a:ln>
            <a:noFill/>
          </a:ln>
        </p:spPr>
        <p:txBody>
          <a:bodyPr wrap="square" lIns="0" tIns="0" rIns="0" bIns="0" rtlCol="0" anchor="t">
            <a:normAutofit/>
          </a:bodyPr>
          <a:lstStyle/>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Parties are formed once, at the start: min(t, h, d / 3) full parties of 1 tank, 1 healer and 3 DPS; everyone else is a leftover</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A counting semaphore starts with n permits, one per instance</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The main thread sends the parties in one at a time, in queue order, each with a clear time picked at random from t1 to t2</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Each party runs in its own thread: it sleeps for its clear time, marks its instance empty, then frees it</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Main joins every thread, then prints the summary: parties served and total time served per instance</a:t>
            </a:r>
          </a:p>
        </p:txBody>
      </p:sp>
      <p:sp>
        <p:nvSpPr>
          <p:cNvPr id="4" name="Code card"/>
          <p:cNvSpPr/>
          <p:nvPr/>
        </p:nvSpPr>
        <p:spPr>
          <a:xfrm>
            <a:off x="5504688" y="1526539"/>
            <a:ext cx="6191504" cy="4527296"/>
          </a:xfrm>
          <a:prstGeom prst="rect">
            <a:avLst/>
          </a:prstGeom>
          <a:solidFill>
            <a:srgbClr val="1B2430"/>
          </a:solidFill>
          <a:ln>
            <a:noFill/>
          </a:ln>
        </p:spPr>
        <p:txBody>
          <a:bodyPr rtlCol="0" anchor="ctr"/>
          <a:lstStyle/>
          <a:p>
            <a:endParaRPr lang="en-US"/>
          </a:p>
        </p:txBody>
      </p:sp>
      <p:sp>
        <p:nvSpPr>
          <p:cNvPr id="5" name="Code highlight 1"/>
          <p:cNvSpPr/>
          <p:nvPr/>
        </p:nvSpPr>
        <p:spPr>
          <a:xfrm>
            <a:off x="5559552" y="1872487"/>
            <a:ext cx="6081776" cy="152400"/>
          </a:xfrm>
          <a:prstGeom prst="rect">
            <a:avLst/>
          </a:prstGeom>
          <a:solidFill>
            <a:srgbClr val="2D3C52"/>
          </a:solidFill>
          <a:ln>
            <a:noFill/>
          </a:ln>
        </p:spPr>
        <p:txBody>
          <a:bodyPr rtlCol="0" anchor="ctr"/>
          <a:lstStyle/>
          <a:p>
            <a:endParaRPr lang="en-US"/>
          </a:p>
        </p:txBody>
      </p:sp>
      <p:sp>
        <p:nvSpPr>
          <p:cNvPr id="6" name="Code highlight 2"/>
          <p:cNvSpPr/>
          <p:nvPr/>
        </p:nvSpPr>
        <p:spPr>
          <a:xfrm>
            <a:off x="5559552" y="2228087"/>
            <a:ext cx="6081776" cy="152400"/>
          </a:xfrm>
          <a:prstGeom prst="rect">
            <a:avLst/>
          </a:prstGeom>
          <a:solidFill>
            <a:srgbClr val="2D3C52"/>
          </a:solidFill>
          <a:ln>
            <a:noFill/>
          </a:ln>
        </p:spPr>
        <p:txBody>
          <a:bodyPr rtlCol="0" anchor="ctr"/>
          <a:lstStyle/>
          <a:p>
            <a:endParaRPr lang="en-US"/>
          </a:p>
        </p:txBody>
      </p:sp>
      <p:sp>
        <p:nvSpPr>
          <p:cNvPr id="7" name="Code highlight 3"/>
          <p:cNvSpPr/>
          <p:nvPr/>
        </p:nvSpPr>
        <p:spPr>
          <a:xfrm>
            <a:off x="5559552" y="2761487"/>
            <a:ext cx="6081776" cy="152400"/>
          </a:xfrm>
          <a:prstGeom prst="rect">
            <a:avLst/>
          </a:prstGeom>
          <a:solidFill>
            <a:srgbClr val="2D3C52"/>
          </a:solidFill>
          <a:ln>
            <a:noFill/>
          </a:ln>
        </p:spPr>
        <p:txBody>
          <a:bodyPr rtlCol="0" anchor="ctr"/>
          <a:lstStyle/>
          <a:p>
            <a:endParaRPr lang="en-US"/>
          </a:p>
        </p:txBody>
      </p:sp>
      <p:sp>
        <p:nvSpPr>
          <p:cNvPr id="8" name="Code highlight 5"/>
          <p:cNvSpPr/>
          <p:nvPr/>
        </p:nvSpPr>
        <p:spPr>
          <a:xfrm>
            <a:off x="5559552" y="3472687"/>
            <a:ext cx="6081776" cy="152400"/>
          </a:xfrm>
          <a:prstGeom prst="rect">
            <a:avLst/>
          </a:prstGeom>
          <a:solidFill>
            <a:srgbClr val="2D3C52"/>
          </a:solidFill>
          <a:ln>
            <a:noFill/>
          </a:ln>
        </p:spPr>
        <p:txBody>
          <a:bodyPr rtlCol="0" anchor="ctr"/>
          <a:lstStyle/>
          <a:p>
            <a:endParaRPr lang="en-US"/>
          </a:p>
        </p:txBody>
      </p:sp>
      <p:sp>
        <p:nvSpPr>
          <p:cNvPr id="9" name="Code highlight 4"/>
          <p:cNvSpPr/>
          <p:nvPr/>
        </p:nvSpPr>
        <p:spPr>
          <a:xfrm>
            <a:off x="5559552" y="4602987"/>
            <a:ext cx="6081776" cy="152400"/>
          </a:xfrm>
          <a:prstGeom prst="rect">
            <a:avLst/>
          </a:prstGeom>
          <a:solidFill>
            <a:srgbClr val="2D3C52"/>
          </a:solidFill>
          <a:ln>
            <a:noFill/>
          </a:ln>
        </p:spPr>
        <p:txBody>
          <a:bodyPr rtlCol="0" anchor="ctr"/>
          <a:lstStyle/>
          <a:p>
            <a:endParaRPr lang="en-US"/>
          </a:p>
        </p:txBody>
      </p:sp>
      <p:sp>
        <p:nvSpPr>
          <p:cNvPr id="10" name="Code highlight 4"/>
          <p:cNvSpPr/>
          <p:nvPr/>
        </p:nvSpPr>
        <p:spPr>
          <a:xfrm>
            <a:off x="5559552" y="5022087"/>
            <a:ext cx="6081776" cy="863600"/>
          </a:xfrm>
          <a:prstGeom prst="rect">
            <a:avLst/>
          </a:prstGeom>
          <a:solidFill>
            <a:srgbClr val="2D3C52"/>
          </a:solidFill>
          <a:ln>
            <a:noFill/>
          </a:ln>
        </p:spPr>
        <p:txBody>
          <a:bodyPr rtlCol="0" anchor="ctr"/>
          <a:lstStyle/>
          <a:p>
            <a:endParaRPr lang="en-US"/>
          </a:p>
        </p:txBody>
      </p:sp>
      <p:sp>
        <p:nvSpPr>
          <p:cNvPr id="11" name="Code"/>
          <p:cNvSpPr txBox="1"/>
          <p:nvPr/>
        </p:nvSpPr>
        <p:spPr>
          <a:xfrm>
            <a:off x="5925312" y="1681987"/>
            <a:ext cx="5661152" cy="4216400"/>
          </a:xfrm>
          <a:prstGeom prst="rect">
            <a:avLst/>
          </a:prstGeom>
          <a:noFill/>
          <a:ln>
            <a:noFill/>
          </a:ln>
        </p:spPr>
        <p:txBody>
          <a:bodyPr wrap="none" lIns="0" tIns="0" rIns="0" bIns="0" rtlCol="0" anchor="t">
            <a:noAutofit/>
          </a:bodyPr>
          <a:lstStyle/>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main()</a:t>
            </a:r>
          </a:p>
          <a:p>
            <a:pPr marL="0" indent="0" algn="l">
              <a:lnSpc>
                <a:spcPts val="1400"/>
              </a:lnSpc>
              <a:spcBef>
                <a:spcPts val="0"/>
              </a:spcBef>
              <a:spcAft>
                <a:spcPts val="0"/>
              </a:spcAft>
              <a:buNone/>
            </a:pPr>
            <a:r>
              <a:rPr lang="en-US" sz="1200" dirty="0">
                <a:solidFill>
                  <a:srgbClr val="7ED3C0"/>
                </a:solidFill>
                <a:latin typeface="Consolas" pitchFamily="49" charset="0"/>
                <a:ea typeface="Consolas" pitchFamily="49" charset="-122"/>
                <a:cs typeface="Consolas" pitchFamily="49" charset="-120"/>
              </a:rPr>
              <a:t>long</a:t>
            </a: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long</a:t>
            </a:r>
            <a:r>
              <a:rPr lang="en-US" sz="1200" dirty="0">
                <a:solidFill>
                  <a:srgbClr val="DCE3EE"/>
                </a:solidFill>
                <a:latin typeface="Consolas" pitchFamily="49" charset="0"/>
                <a:ea typeface="Consolas" pitchFamily="49" charset="-122"/>
                <a:cs typeface="Consolas" pitchFamily="49" charset="-120"/>
              </a:rPr>
              <a:t> parties = min({numTanks, numHealers, numDps / </a:t>
            </a:r>
            <a:r>
              <a:rPr lang="en-US" sz="1200" dirty="0">
                <a:solidFill>
                  <a:srgbClr val="F4B26B"/>
                </a:solidFill>
                <a:latin typeface="Consolas" pitchFamily="49" charset="0"/>
                <a:ea typeface="Consolas" pitchFamily="49" charset="-122"/>
                <a:cs typeface="Consolas" pitchFamily="49" charset="-120"/>
              </a:rPr>
              <a:t>3</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freeInstances.release(maxInstances);</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8EC1F5"/>
                </a:solidFill>
                <a:latin typeface="Consolas" pitchFamily="49" charset="0"/>
                <a:ea typeface="Consolas" pitchFamily="49" charset="-122"/>
                <a:cs typeface="Consolas" pitchFamily="49" charset="-120"/>
              </a:rPr>
              <a:t>for</a:t>
            </a: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int</a:t>
            </a:r>
            <a:r>
              <a:rPr lang="en-US" sz="1200" dirty="0">
                <a:solidFill>
                  <a:srgbClr val="DCE3EE"/>
                </a:solidFill>
                <a:latin typeface="Consolas" pitchFamily="49" charset="0"/>
                <a:ea typeface="Consolas" pitchFamily="49" charset="-122"/>
                <a:cs typeface="Consolas" pitchFamily="49" charset="-120"/>
              </a:rPr>
              <a:t> p = </a:t>
            </a:r>
            <a:r>
              <a:rPr lang="en-US" sz="1200" dirty="0">
                <a:solidFill>
                  <a:srgbClr val="F4B26B"/>
                </a:solidFill>
                <a:latin typeface="Consolas" pitchFamily="49" charset="0"/>
                <a:ea typeface="Consolas" pitchFamily="49" charset="-122"/>
                <a:cs typeface="Consolas" pitchFamily="49" charset="-120"/>
              </a:rPr>
              <a:t>1</a:t>
            </a:r>
            <a:r>
              <a:rPr lang="en-US" sz="1200" dirty="0">
                <a:solidFill>
                  <a:srgbClr val="DCE3EE"/>
                </a:solidFill>
                <a:latin typeface="Consolas" pitchFamily="49" charset="0"/>
                <a:ea typeface="Consolas" pitchFamily="49" charset="-122"/>
                <a:cs typeface="Consolas" pitchFamily="49" charset="-120"/>
              </a:rPr>
              <a:t>; p &lt;= parties; p++)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enterDungeon(p, randomTime(rng));</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8EC1F5"/>
                </a:solidFill>
                <a:latin typeface="Consolas" pitchFamily="49" charset="0"/>
                <a:ea typeface="Consolas" pitchFamily="49" charset="-122"/>
                <a:cs typeface="Consolas" pitchFamily="49" charset="-120"/>
              </a:rPr>
              <a:t>for</a:t>
            </a: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int</a:t>
            </a:r>
            <a:r>
              <a:rPr lang="en-US" sz="1200" dirty="0">
                <a:solidFill>
                  <a:srgbClr val="DCE3EE"/>
                </a:solidFill>
                <a:latin typeface="Consolas" pitchFamily="49" charset="0"/>
                <a:ea typeface="Consolas" pitchFamily="49" charset="-122"/>
                <a:cs typeface="Consolas" pitchFamily="49" charset="-120"/>
              </a:rPr>
              <a:t> i = </a:t>
            </a:r>
            <a:r>
              <a:rPr lang="en-US" sz="1200" dirty="0">
                <a:solidFill>
                  <a:srgbClr val="F4B26B"/>
                </a:solidFill>
                <a:latin typeface="Consolas" pitchFamily="49" charset="0"/>
                <a:ea typeface="Consolas" pitchFamily="49" charset="-122"/>
                <a:cs typeface="Consolas" pitchFamily="49" charset="-120"/>
              </a:rPr>
              <a:t>0</a:t>
            </a:r>
            <a:r>
              <a:rPr lang="en-US" sz="1200" dirty="0">
                <a:solidFill>
                  <a:srgbClr val="DCE3EE"/>
                </a:solidFill>
                <a:latin typeface="Consolas" pitchFamily="49" charset="0"/>
                <a:ea typeface="Consolas" pitchFamily="49" charset="-122"/>
                <a:cs typeface="Consolas" pitchFamily="49" charset="-120"/>
              </a:rPr>
              <a:t>; i &lt; maxInstances; i++)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if</a:t>
            </a:r>
            <a:r>
              <a:rPr lang="en-US" sz="1200" dirty="0">
                <a:solidFill>
                  <a:srgbClr val="DCE3EE"/>
                </a:solidFill>
                <a:latin typeface="Consolas" pitchFamily="49" charset="0"/>
                <a:ea typeface="Consolas" pitchFamily="49" charset="-122"/>
                <a:cs typeface="Consolas" pitchFamily="49" charset="-120"/>
              </a:rPr>
              <a:t> (runs[i].joinable()) runs[i].join();</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enterDungeon(): main thread, once per party</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freeInstances.acquire();</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8EC1F5"/>
                </a:solidFill>
                <a:latin typeface="Consolas" pitchFamily="49" charset="0"/>
                <a:ea typeface="Consolas" pitchFamily="49" charset="-122"/>
                <a:cs typeface="Consolas" pitchFamily="49" charset="-120"/>
              </a:rPr>
              <a:t>if</a:t>
            </a:r>
            <a:r>
              <a:rPr lang="en-US" sz="1200" dirty="0">
                <a:solidFill>
                  <a:srgbClr val="DCE3EE"/>
                </a:solidFill>
                <a:latin typeface="Consolas" pitchFamily="49" charset="0"/>
                <a:ea typeface="Consolas" pitchFamily="49" charset="-122"/>
                <a:cs typeface="Consolas" pitchFamily="49" charset="-120"/>
              </a:rPr>
              <a:t> (runs[instance].joinable()) runs[instance].join();</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runs[instance] = </a:t>
            </a:r>
            <a:r>
              <a:rPr lang="en-US" sz="1200" dirty="0">
                <a:solidFill>
                  <a:srgbClr val="7ED3C0"/>
                </a:solidFill>
                <a:latin typeface="Consolas" pitchFamily="49" charset="0"/>
                <a:ea typeface="Consolas" pitchFamily="49" charset="-122"/>
                <a:cs typeface="Consolas" pitchFamily="49" charset="-120"/>
              </a:rPr>
              <a:t>thread</a:t>
            </a:r>
            <a:r>
              <a:rPr lang="en-US" sz="1200" dirty="0">
                <a:solidFill>
                  <a:srgbClr val="DCE3EE"/>
                </a:solidFill>
                <a:latin typeface="Consolas" pitchFamily="49" charset="0"/>
                <a:ea typeface="Consolas" pitchFamily="49" charset="-122"/>
                <a:cs typeface="Consolas" pitchFamily="49" charset="-120"/>
              </a:rPr>
              <a:t>(runDungeon, instance, party, clearTime);</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runDungeon(): the party's own thread</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this_thread::sleep_for(chrono::seconds(clearTime));</a:t>
            </a:r>
          </a:p>
          <a:p>
            <a:pPr marL="0" indent="0" algn="l">
              <a:lnSpc>
                <a:spcPts val="1400"/>
              </a:lnSpc>
              <a:spcBef>
                <a:spcPts val="0"/>
              </a:spcBef>
              <a:spcAft>
                <a:spcPts val="0"/>
              </a:spcAft>
              <a:buNone/>
            </a:pPr>
            <a:r>
              <a:rPr lang="en-US" sz="1200" dirty="0">
                <a:solidFill>
                  <a:srgbClr val="7ED3C0"/>
                </a:solidFill>
                <a:latin typeface="Consolas" pitchFamily="49" charset="0"/>
                <a:ea typeface="Consolas" pitchFamily="49" charset="-122"/>
                <a:cs typeface="Consolas" pitchFamily="49" charset="-120"/>
              </a:rPr>
              <a:t>lock_guard</a:t>
            </a:r>
            <a:r>
              <a:rPr lang="en-US" sz="1200" dirty="0">
                <a:solidFill>
                  <a:srgbClr val="DCE3EE"/>
                </a:solidFill>
                <a:latin typeface="Consolas" pitchFamily="49" charset="0"/>
                <a:ea typeface="Consolas" pitchFamily="49" charset="-122"/>
                <a:cs typeface="Consolas" pitchFamily="49" charset="-120"/>
              </a:rPr>
              <a:t>&lt;</a:t>
            </a:r>
            <a:r>
              <a:rPr lang="en-US" sz="1200" dirty="0">
                <a:solidFill>
                  <a:srgbClr val="7ED3C0"/>
                </a:solidFill>
                <a:latin typeface="Consolas" pitchFamily="49" charset="0"/>
                <a:ea typeface="Consolas" pitchFamily="49" charset="-122"/>
                <a:cs typeface="Consolas" pitchFamily="49" charset="-120"/>
              </a:rPr>
              <a:t>mutex</a:t>
            </a:r>
            <a:r>
              <a:rPr lang="en-US" sz="1200" dirty="0">
                <a:solidFill>
                  <a:srgbClr val="DCE3EE"/>
                </a:solidFill>
                <a:latin typeface="Consolas" pitchFamily="49" charset="0"/>
                <a:ea typeface="Consolas" pitchFamily="49" charset="-122"/>
                <a:cs typeface="Consolas" pitchFamily="49" charset="-120"/>
              </a:rPr>
              <a:t>&gt; lock(mtx);</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status[instance] = </a:t>
            </a:r>
            <a:r>
              <a:rPr lang="en-US" sz="1200" dirty="0">
                <a:solidFill>
                  <a:srgbClr val="B5DCA0"/>
                </a:solidFill>
                <a:latin typeface="Consolas" pitchFamily="49" charset="0"/>
                <a:ea typeface="Consolas" pitchFamily="49" charset="-122"/>
                <a:cs typeface="Consolas" pitchFamily="49" charset="-120"/>
              </a:rPr>
              <a:t>"empty"</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freeInstances.release();</a:t>
            </a:r>
          </a:p>
        </p:txBody>
      </p:sp>
      <p:sp>
        <p:nvSpPr>
          <p:cNvPr id="12" name="Code badge 1"/>
          <p:cNvSpPr/>
          <p:nvPr/>
        </p:nvSpPr>
        <p:spPr>
          <a:xfrm>
            <a:off x="5623560" y="1868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1</a:t>
            </a:r>
          </a:p>
        </p:txBody>
      </p:sp>
      <p:sp>
        <p:nvSpPr>
          <p:cNvPr id="13" name="Code badge 2"/>
          <p:cNvSpPr/>
          <p:nvPr/>
        </p:nvSpPr>
        <p:spPr>
          <a:xfrm>
            <a:off x="5623560" y="22242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2</a:t>
            </a:r>
          </a:p>
        </p:txBody>
      </p:sp>
      <p:sp>
        <p:nvSpPr>
          <p:cNvPr id="14" name="Code badge 3"/>
          <p:cNvSpPr/>
          <p:nvPr/>
        </p:nvSpPr>
        <p:spPr>
          <a:xfrm>
            <a:off x="5623560" y="2757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3</a:t>
            </a:r>
          </a:p>
        </p:txBody>
      </p:sp>
      <p:sp>
        <p:nvSpPr>
          <p:cNvPr id="15" name="Code badge 5"/>
          <p:cNvSpPr/>
          <p:nvPr/>
        </p:nvSpPr>
        <p:spPr>
          <a:xfrm>
            <a:off x="5623560" y="34688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5</a:t>
            </a:r>
          </a:p>
        </p:txBody>
      </p:sp>
      <p:sp>
        <p:nvSpPr>
          <p:cNvPr id="16" name="Code badge 4"/>
          <p:cNvSpPr/>
          <p:nvPr/>
        </p:nvSpPr>
        <p:spPr>
          <a:xfrm>
            <a:off x="5623560" y="45991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4</a:t>
            </a:r>
          </a:p>
        </p:txBody>
      </p:sp>
      <p:sp>
        <p:nvSpPr>
          <p:cNvPr id="17" name="Code badge 4"/>
          <p:cNvSpPr/>
          <p:nvPr/>
        </p:nvSpPr>
        <p:spPr>
          <a:xfrm>
            <a:off x="5623560" y="50182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4</a:t>
            </a:r>
          </a:p>
        </p:txBody>
      </p:sp>
      <p:sp>
        <p:nvSpPr>
          <p:cNvPr id="18" name="Code caption"/>
          <p:cNvSpPr txBox="1"/>
          <p:nvPr/>
        </p:nvSpPr>
        <p:spPr>
          <a:xfrm>
            <a:off x="5504688" y="6126987"/>
            <a:ext cx="6191504" cy="603504"/>
          </a:xfrm>
          <a:prstGeom prst="rect">
            <a:avLst/>
          </a:prstGeom>
          <a:noFill/>
          <a:ln>
            <a:noFill/>
          </a:ln>
        </p:spPr>
        <p:txBody>
          <a:bodyPr wrap="square" lIns="0" tIns="0" rIns="0" bIns="0" rtlCol="0" anchor="t">
            <a:noAutofit/>
          </a:bodyPr>
          <a:lstStyle/>
          <a:p>
            <a:pPr algn="l"/>
            <a:r>
              <a:rPr lang="en-US" sz="1100" dirty="0">
                <a:solidFill>
                  <a:srgbClr val="5A6675"/>
                </a:solidFill>
                <a:latin typeface="Arial" pitchFamily="34" charset="0"/>
                <a:ea typeface="Arial" pitchFamily="34" charset="-122"/>
                <a:cs typeface="Arial" pitchFamily="34" charset="-120"/>
              </a:rPr>
              <a:t>Excerpts from the project source, abridged.</a:t>
            </a:r>
          </a:p>
          <a:p>
            <a:pPr algn="l"/>
            <a:r>
              <a:rPr lang="en-US" sz="1100" dirty="0">
                <a:solidFill>
                  <a:srgbClr val="5A6675"/>
                </a:solidFill>
                <a:latin typeface="Arial" pitchFamily="34" charset="0"/>
                <a:ea typeface="Arial" pitchFamily="34" charset="-122"/>
                <a:cs typeface="Arial" pitchFamily="34" charset="-120"/>
              </a:rPr>
              <a:t> </a:t>
            </a:r>
          </a:p>
          <a:p>
            <a:pPr algn="l"/>
            <a:r>
              <a:rPr lang="en-US" sz="1100" dirty="0">
                <a:solidFill>
                  <a:srgbClr val="5A6675"/>
                </a:solidFill>
                <a:latin typeface="Arial" pitchFamily="34" charset="0"/>
                <a:ea typeface="Arial" pitchFamily="34" charset="-122"/>
                <a:cs typeface="Arial" pitchFamily="34" charset="-120"/>
              </a:rPr>
              <a:t>Note: Claude was used in mapping the specific line of code per number to the bullet point.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2430"/>
                </a:solidFill>
                <a:latin typeface="Arial" pitchFamily="34" charset="0"/>
                <a:ea typeface="Arial" pitchFamily="34" charset="-122"/>
                <a:cs typeface="Arial" pitchFamily="34" charset="-120"/>
              </a:rPr>
              <a:t>Possible deadlock: locking before waiting</a:t>
            </a:r>
            <a:endParaRPr lang="en-US" sz="2800" dirty="0">
              <a:solidFill>
                <a:srgbClr val="1B2430"/>
              </a:solidFill>
              <a:latin typeface="Arial" pitchFamily="34" charset="0"/>
              <a:ea typeface="Arial" pitchFamily="34" charset="-122"/>
              <a:cs typeface="Arial" pitchFamily="34" charset="-120"/>
            </a:endParaRPr>
          </a:p>
        </p:txBody>
      </p:sp>
      <p:sp>
        <p:nvSpPr>
          <p:cNvPr id="3" name="Text 1"/>
          <p:cNvSpPr txBox="1"/>
          <p:nvPr/>
        </p:nvSpPr>
        <p:spPr>
          <a:xfrm>
            <a:off x="875284" y="1526539"/>
            <a:ext cx="4343400" cy="3703320"/>
          </a:xfrm>
          <a:prstGeom prst="rect">
            <a:avLst/>
          </a:prstGeom>
          <a:noFill/>
          <a:ln>
            <a:noFill/>
          </a:ln>
        </p:spPr>
        <p:txBody>
          <a:bodyPr wrap="square" lIns="0" tIns="0" rIns="0" bIns="0" rtlCol="0" anchor="t">
            <a:normAutofit/>
          </a:bodyPr>
          <a:lstStyle/>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Suppose enterDungeon() locked mtx first, then waited for a free instance</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With all n instances active, main sleeps in acquire() while still holding mtx</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A party whose time is up needs mtx to mark its instance empty, so it blocks before release()</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Main waits for the parties and the parties wait for main: a circular wait</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The program waits for an instance first and locks after, so it holds nothing while it waits</a:t>
            </a:r>
          </a:p>
        </p:txBody>
      </p:sp>
      <p:sp>
        <p:nvSpPr>
          <p:cNvPr id="4" name="Swapped card"/>
          <p:cNvSpPr/>
          <p:nvPr/>
        </p:nvSpPr>
        <p:spPr>
          <a:xfrm>
            <a:off x="5504688" y="1526539"/>
            <a:ext cx="6191504" cy="1618996"/>
          </a:xfrm>
          <a:prstGeom prst="rect">
            <a:avLst/>
          </a:prstGeom>
          <a:solidFill>
            <a:srgbClr val="1B2430"/>
          </a:solidFill>
          <a:ln>
            <a:noFill/>
          </a:ln>
        </p:spPr>
        <p:txBody>
          <a:bodyPr rtlCol="0" anchor="ctr"/>
          <a:lstStyle/>
          <a:p>
            <a:endParaRPr lang="en-US"/>
          </a:p>
        </p:txBody>
      </p:sp>
      <p:sp>
        <p:nvSpPr>
          <p:cNvPr id="5" name="Swapped highlight 1"/>
          <p:cNvSpPr/>
          <p:nvPr/>
        </p:nvSpPr>
        <p:spPr>
          <a:xfrm>
            <a:off x="5559552" y="1872487"/>
            <a:ext cx="6081776" cy="152400"/>
          </a:xfrm>
          <a:prstGeom prst="rect">
            <a:avLst/>
          </a:prstGeom>
          <a:solidFill>
            <a:srgbClr val="2D3C52"/>
          </a:solidFill>
          <a:ln>
            <a:noFill/>
          </a:ln>
        </p:spPr>
        <p:txBody>
          <a:bodyPr rtlCol="0" anchor="ctr"/>
          <a:lstStyle/>
          <a:p>
            <a:endParaRPr lang="en-US"/>
          </a:p>
        </p:txBody>
      </p:sp>
      <p:sp>
        <p:nvSpPr>
          <p:cNvPr id="6" name="Swapped highlight 2"/>
          <p:cNvSpPr/>
          <p:nvPr/>
        </p:nvSpPr>
        <p:spPr>
          <a:xfrm>
            <a:off x="5559552" y="2050287"/>
            <a:ext cx="6081776" cy="152400"/>
          </a:xfrm>
          <a:prstGeom prst="rect">
            <a:avLst/>
          </a:prstGeom>
          <a:solidFill>
            <a:srgbClr val="2D3C52"/>
          </a:solidFill>
          <a:ln>
            <a:noFill/>
          </a:ln>
        </p:spPr>
        <p:txBody>
          <a:bodyPr rtlCol="0" anchor="ctr"/>
          <a:lstStyle/>
          <a:p>
            <a:endParaRPr lang="en-US"/>
          </a:p>
        </p:txBody>
      </p:sp>
      <p:sp>
        <p:nvSpPr>
          <p:cNvPr id="7" name="Swapped highlight 3"/>
          <p:cNvSpPr/>
          <p:nvPr/>
        </p:nvSpPr>
        <p:spPr>
          <a:xfrm>
            <a:off x="5559552" y="2469387"/>
            <a:ext cx="6081776" cy="152400"/>
          </a:xfrm>
          <a:prstGeom prst="rect">
            <a:avLst/>
          </a:prstGeom>
          <a:solidFill>
            <a:srgbClr val="2D3C52"/>
          </a:solidFill>
          <a:ln>
            <a:noFill/>
          </a:ln>
        </p:spPr>
        <p:txBody>
          <a:bodyPr rtlCol="0" anchor="ctr"/>
          <a:lstStyle/>
          <a:p>
            <a:endParaRPr lang="en-US"/>
          </a:p>
        </p:txBody>
      </p:sp>
      <p:sp>
        <p:nvSpPr>
          <p:cNvPr id="8" name="Swapped highlight 4"/>
          <p:cNvSpPr/>
          <p:nvPr/>
        </p:nvSpPr>
        <p:spPr>
          <a:xfrm>
            <a:off x="5559552" y="2824987"/>
            <a:ext cx="6081776" cy="152400"/>
          </a:xfrm>
          <a:prstGeom prst="rect">
            <a:avLst/>
          </a:prstGeom>
          <a:solidFill>
            <a:srgbClr val="2D3C52"/>
          </a:solidFill>
          <a:ln>
            <a:noFill/>
          </a:ln>
        </p:spPr>
        <p:txBody>
          <a:bodyPr rtlCol="0" anchor="ctr"/>
          <a:lstStyle/>
          <a:p>
            <a:endParaRPr lang="en-US"/>
          </a:p>
        </p:txBody>
      </p:sp>
      <p:sp>
        <p:nvSpPr>
          <p:cNvPr id="9" name="Swapped"/>
          <p:cNvSpPr txBox="1"/>
          <p:nvPr/>
        </p:nvSpPr>
        <p:spPr>
          <a:xfrm>
            <a:off x="5925312" y="1681987"/>
            <a:ext cx="5661152" cy="1308100"/>
          </a:xfrm>
          <a:prstGeom prst="rect">
            <a:avLst/>
          </a:prstGeom>
          <a:noFill/>
          <a:ln>
            <a:noFill/>
          </a:ln>
        </p:spPr>
        <p:txBody>
          <a:bodyPr wrap="none" lIns="0" tIns="0" rIns="0" bIns="0" rtlCol="0" anchor="t">
            <a:noAutofit/>
          </a:bodyPr>
          <a:lstStyle/>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swapped order (a test build, not the program)</a:t>
            </a:r>
          </a:p>
          <a:p>
            <a:pPr marL="0" indent="0" algn="l">
              <a:lnSpc>
                <a:spcPts val="1400"/>
              </a:lnSpc>
              <a:spcBef>
                <a:spcPts val="0"/>
              </a:spcBef>
              <a:spcAft>
                <a:spcPts val="0"/>
              </a:spcAft>
              <a:buNone/>
            </a:pPr>
            <a:r>
              <a:rPr lang="en-US" sz="1200" dirty="0">
                <a:solidFill>
                  <a:srgbClr val="7ED3C0"/>
                </a:solidFill>
                <a:latin typeface="Consolas" pitchFamily="49" charset="0"/>
                <a:ea typeface="Consolas" pitchFamily="49" charset="-122"/>
                <a:cs typeface="Consolas" pitchFamily="49" charset="-120"/>
              </a:rPr>
              <a:t>lock_guard</a:t>
            </a:r>
            <a:r>
              <a:rPr lang="en-US" sz="1200" dirty="0">
                <a:solidFill>
                  <a:srgbClr val="DCE3EE"/>
                </a:solidFill>
                <a:latin typeface="Consolas" pitchFamily="49" charset="0"/>
                <a:ea typeface="Consolas" pitchFamily="49" charset="-122"/>
                <a:cs typeface="Consolas" pitchFamily="49" charset="-120"/>
              </a:rPr>
              <a:t>&lt;</a:t>
            </a:r>
            <a:r>
              <a:rPr lang="en-US" sz="1200" dirty="0">
                <a:solidFill>
                  <a:srgbClr val="7ED3C0"/>
                </a:solidFill>
                <a:latin typeface="Consolas" pitchFamily="49" charset="0"/>
                <a:ea typeface="Consolas" pitchFamily="49" charset="-122"/>
                <a:cs typeface="Consolas" pitchFamily="49" charset="-120"/>
              </a:rPr>
              <a:t>mutex</a:t>
            </a:r>
            <a:r>
              <a:rPr lang="en-US" sz="1200" dirty="0">
                <a:solidFill>
                  <a:srgbClr val="DCE3EE"/>
                </a:solidFill>
                <a:latin typeface="Consolas" pitchFamily="49" charset="0"/>
                <a:ea typeface="Consolas" pitchFamily="49" charset="-122"/>
                <a:cs typeface="Consolas" pitchFamily="49" charset="-120"/>
              </a:rPr>
              <a:t>&gt; lock(mtx);</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freeInstances.acquire();  </a:t>
            </a:r>
            <a:r>
              <a:rPr lang="en-US" sz="1200" i="1" dirty="0">
                <a:solidFill>
                  <a:srgbClr val="A3B0C2"/>
                </a:solidFill>
                <a:latin typeface="Consolas" pitchFamily="49" charset="0"/>
                <a:ea typeface="Consolas" pitchFamily="49" charset="-122"/>
                <a:cs typeface="Consolas" pitchFamily="49" charset="-120"/>
              </a:rPr>
              <a:t>// n active: waits, holding mtx</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runDungeon(): a party whose clear time is up</a:t>
            </a:r>
          </a:p>
          <a:p>
            <a:pPr marL="0" indent="0" algn="l">
              <a:lnSpc>
                <a:spcPts val="1400"/>
              </a:lnSpc>
              <a:spcBef>
                <a:spcPts val="0"/>
              </a:spcBef>
              <a:spcAft>
                <a:spcPts val="0"/>
              </a:spcAft>
              <a:buNone/>
            </a:pPr>
            <a:r>
              <a:rPr lang="en-US" sz="1200" dirty="0">
                <a:solidFill>
                  <a:srgbClr val="7ED3C0"/>
                </a:solidFill>
                <a:latin typeface="Consolas" pitchFamily="49" charset="0"/>
                <a:ea typeface="Consolas" pitchFamily="49" charset="-122"/>
                <a:cs typeface="Consolas" pitchFamily="49" charset="-120"/>
              </a:rPr>
              <a:t>lock_guard</a:t>
            </a:r>
            <a:r>
              <a:rPr lang="en-US" sz="1200" dirty="0">
                <a:solidFill>
                  <a:srgbClr val="DCE3EE"/>
                </a:solidFill>
                <a:latin typeface="Consolas" pitchFamily="49" charset="0"/>
                <a:ea typeface="Consolas" pitchFamily="49" charset="-122"/>
                <a:cs typeface="Consolas" pitchFamily="49" charset="-120"/>
              </a:rPr>
              <a:t>&lt;</a:t>
            </a:r>
            <a:r>
              <a:rPr lang="en-US" sz="1200" dirty="0">
                <a:solidFill>
                  <a:srgbClr val="7ED3C0"/>
                </a:solidFill>
                <a:latin typeface="Consolas" pitchFamily="49" charset="0"/>
                <a:ea typeface="Consolas" pitchFamily="49" charset="-122"/>
                <a:cs typeface="Consolas" pitchFamily="49" charset="-120"/>
              </a:rPr>
              <a:t>mutex</a:t>
            </a:r>
            <a:r>
              <a:rPr lang="en-US" sz="1200" dirty="0">
                <a:solidFill>
                  <a:srgbClr val="DCE3EE"/>
                </a:solidFill>
                <a:latin typeface="Consolas" pitchFamily="49" charset="0"/>
                <a:ea typeface="Consolas" pitchFamily="49" charset="-122"/>
                <a:cs typeface="Consolas" pitchFamily="49" charset="-120"/>
              </a:rPr>
              <a:t>&gt; lock(mtx);  </a:t>
            </a:r>
            <a:r>
              <a:rPr lang="en-US" sz="1200" i="1" dirty="0">
                <a:solidFill>
                  <a:srgbClr val="A3B0C2"/>
                </a:solidFill>
                <a:latin typeface="Consolas" pitchFamily="49" charset="0"/>
                <a:ea typeface="Consolas" pitchFamily="49" charset="-122"/>
                <a:cs typeface="Consolas" pitchFamily="49" charset="-120"/>
              </a:rPr>
              <a:t>// blocks: main holds mtx</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status[instance] = </a:t>
            </a:r>
            <a:r>
              <a:rPr lang="en-US" sz="1200" dirty="0">
                <a:solidFill>
                  <a:srgbClr val="B5DCA0"/>
                </a:solidFill>
                <a:latin typeface="Consolas" pitchFamily="49" charset="0"/>
                <a:ea typeface="Consolas" pitchFamily="49" charset="-122"/>
                <a:cs typeface="Consolas" pitchFamily="49" charset="-120"/>
              </a:rPr>
              <a:t>"empty"</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freeInstances.release();      </a:t>
            </a:r>
            <a:r>
              <a:rPr lang="en-US" sz="1200" i="1" dirty="0">
                <a:solidFill>
                  <a:srgbClr val="A3B0C2"/>
                </a:solidFill>
                <a:latin typeface="Consolas" pitchFamily="49" charset="0"/>
                <a:ea typeface="Consolas" pitchFamily="49" charset="-122"/>
                <a:cs typeface="Consolas" pitchFamily="49" charset="-120"/>
              </a:rPr>
              <a:t>// never reached</a:t>
            </a:r>
          </a:p>
        </p:txBody>
      </p:sp>
      <p:sp>
        <p:nvSpPr>
          <p:cNvPr id="10" name="Swapped badge 1"/>
          <p:cNvSpPr/>
          <p:nvPr/>
        </p:nvSpPr>
        <p:spPr>
          <a:xfrm>
            <a:off x="5623560" y="1868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1</a:t>
            </a:r>
          </a:p>
        </p:txBody>
      </p:sp>
      <p:sp>
        <p:nvSpPr>
          <p:cNvPr id="11" name="Swapped badge 2"/>
          <p:cNvSpPr/>
          <p:nvPr/>
        </p:nvSpPr>
        <p:spPr>
          <a:xfrm>
            <a:off x="5623560" y="20464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2</a:t>
            </a:r>
          </a:p>
        </p:txBody>
      </p:sp>
      <p:sp>
        <p:nvSpPr>
          <p:cNvPr id="12" name="Swapped badge 3"/>
          <p:cNvSpPr/>
          <p:nvPr/>
        </p:nvSpPr>
        <p:spPr>
          <a:xfrm>
            <a:off x="5623560" y="24655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3</a:t>
            </a:r>
          </a:p>
        </p:txBody>
      </p:sp>
      <p:sp>
        <p:nvSpPr>
          <p:cNvPr id="13" name="Swapped badge 4"/>
          <p:cNvSpPr/>
          <p:nvPr/>
        </p:nvSpPr>
        <p:spPr>
          <a:xfrm>
            <a:off x="5623560" y="28211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4</a:t>
            </a:r>
          </a:p>
        </p:txBody>
      </p:sp>
      <p:sp>
        <p:nvSpPr>
          <p:cNvPr id="14" name="Code card"/>
          <p:cNvSpPr/>
          <p:nvPr/>
        </p:nvSpPr>
        <p:spPr>
          <a:xfrm>
            <a:off x="5504688" y="3419855"/>
            <a:ext cx="6191504" cy="2266696"/>
          </a:xfrm>
          <a:prstGeom prst="rect">
            <a:avLst/>
          </a:prstGeom>
          <a:solidFill>
            <a:srgbClr val="1B2430"/>
          </a:solidFill>
          <a:ln>
            <a:noFill/>
          </a:ln>
        </p:spPr>
        <p:txBody>
          <a:bodyPr rtlCol="0" anchor="ctr"/>
          <a:lstStyle/>
          <a:p>
            <a:endParaRPr lang="en-US"/>
          </a:p>
        </p:txBody>
      </p:sp>
      <p:sp>
        <p:nvSpPr>
          <p:cNvPr id="15" name="Code highlight 5"/>
          <p:cNvSpPr/>
          <p:nvPr/>
        </p:nvSpPr>
        <p:spPr>
          <a:xfrm>
            <a:off x="5559552" y="4121403"/>
            <a:ext cx="6081776" cy="152400"/>
          </a:xfrm>
          <a:prstGeom prst="rect">
            <a:avLst/>
          </a:prstGeom>
          <a:solidFill>
            <a:srgbClr val="2D3C52"/>
          </a:solidFill>
          <a:ln>
            <a:noFill/>
          </a:ln>
        </p:spPr>
        <p:txBody>
          <a:bodyPr rtlCol="0" anchor="ctr"/>
          <a:lstStyle/>
          <a:p>
            <a:endParaRPr lang="en-US"/>
          </a:p>
        </p:txBody>
      </p:sp>
      <p:sp>
        <p:nvSpPr>
          <p:cNvPr id="16" name="Code"/>
          <p:cNvSpPr txBox="1"/>
          <p:nvPr/>
        </p:nvSpPr>
        <p:spPr>
          <a:xfrm>
            <a:off x="5925312" y="3575303"/>
            <a:ext cx="5661152" cy="1955800"/>
          </a:xfrm>
          <a:prstGeom prst="rect">
            <a:avLst/>
          </a:prstGeom>
          <a:noFill/>
          <a:ln>
            <a:noFill/>
          </a:ln>
        </p:spPr>
        <p:txBody>
          <a:bodyPr wrap="none" lIns="0" tIns="0" rIns="0" bIns="0" rtlCol="0" anchor="t">
            <a:noAutofit/>
          </a:bodyPr>
          <a:lstStyle/>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the program: enterDungeon()</a:t>
            </a:r>
          </a:p>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wait for a free instance before locking,</a:t>
            </a:r>
          </a:p>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otherwise it can deadlock</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freeInstances.acquire();</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lock_guard</a:t>
            </a:r>
            <a:r>
              <a:rPr lang="en-US" sz="1200" dirty="0">
                <a:solidFill>
                  <a:srgbClr val="DCE3EE"/>
                </a:solidFill>
                <a:latin typeface="Consolas" pitchFamily="49" charset="0"/>
                <a:ea typeface="Consolas" pitchFamily="49" charset="-122"/>
                <a:cs typeface="Consolas" pitchFamily="49" charset="-120"/>
              </a:rPr>
              <a:t>&lt;</a:t>
            </a:r>
            <a:r>
              <a:rPr lang="en-US" sz="1200" dirty="0">
                <a:solidFill>
                  <a:srgbClr val="7ED3C0"/>
                </a:solidFill>
                <a:latin typeface="Consolas" pitchFamily="49" charset="0"/>
                <a:ea typeface="Consolas" pitchFamily="49" charset="-122"/>
                <a:cs typeface="Consolas" pitchFamily="49" charset="-120"/>
              </a:rPr>
              <a:t>mutex</a:t>
            </a:r>
            <a:r>
              <a:rPr lang="en-US" sz="1200" dirty="0">
                <a:solidFill>
                  <a:srgbClr val="DCE3EE"/>
                </a:solidFill>
                <a:latin typeface="Consolas" pitchFamily="49" charset="0"/>
                <a:ea typeface="Consolas" pitchFamily="49" charset="-122"/>
                <a:cs typeface="Consolas" pitchFamily="49" charset="-120"/>
              </a:rPr>
              <a:t>&gt; lock(mtx);</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instance = pickInstance();</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status[instance] = </a:t>
            </a:r>
            <a:r>
              <a:rPr lang="en-US" sz="1200" dirty="0">
                <a:solidFill>
                  <a:srgbClr val="B5DCA0"/>
                </a:solidFill>
                <a:latin typeface="Consolas" pitchFamily="49" charset="0"/>
                <a:ea typeface="Consolas" pitchFamily="49" charset="-122"/>
                <a:cs typeface="Consolas" pitchFamily="49" charset="-120"/>
              </a:rPr>
              <a:t>"active"</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p:txBody>
      </p:sp>
      <p:sp>
        <p:nvSpPr>
          <p:cNvPr id="17" name="Code badge 5"/>
          <p:cNvSpPr/>
          <p:nvPr/>
        </p:nvSpPr>
        <p:spPr>
          <a:xfrm>
            <a:off x="5623560" y="4117593"/>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5</a:t>
            </a:r>
          </a:p>
        </p:txBody>
      </p:sp>
      <p:sp>
        <p:nvSpPr>
          <p:cNvPr id="18" name="Code caption"/>
          <p:cNvSpPr txBox="1"/>
          <p:nvPr/>
        </p:nvSpPr>
        <p:spPr>
          <a:xfrm>
            <a:off x="5504688" y="5759703"/>
            <a:ext cx="6191504" cy="603504"/>
          </a:xfrm>
          <a:prstGeom prst="rect">
            <a:avLst/>
          </a:prstGeom>
          <a:noFill/>
          <a:ln>
            <a:noFill/>
          </a:ln>
        </p:spPr>
        <p:txBody>
          <a:bodyPr wrap="square" lIns="0" tIns="0" rIns="0" bIns="0" rtlCol="0" anchor="t">
            <a:noAutofit/>
          </a:bodyPr>
          <a:lstStyle/>
          <a:p>
            <a:pPr algn="l"/>
            <a:r>
              <a:rPr lang="en-US" sz="1100" dirty="0">
                <a:solidFill>
                  <a:srgbClr val="5A6675"/>
                </a:solidFill>
                <a:latin typeface="Arial" pitchFamily="34" charset="0"/>
                <a:ea typeface="Arial" pitchFamily="34" charset="-122"/>
                <a:cs typeface="Arial" pitchFamily="34" charset="-120"/>
              </a:rPr>
              <a:t>Excerpts from the project source, abridged.</a:t>
            </a:r>
          </a:p>
          <a:p>
            <a:pPr algn="l"/>
            <a:r>
              <a:rPr lang="en-US" sz="1100" dirty="0">
                <a:solidFill>
                  <a:srgbClr val="5A6675"/>
                </a:solidFill>
                <a:latin typeface="Arial" pitchFamily="34" charset="0"/>
                <a:ea typeface="Arial" pitchFamily="34" charset="-122"/>
                <a:cs typeface="Arial" pitchFamily="34" charset="-120"/>
              </a:rPr>
              <a:t> </a:t>
            </a:r>
          </a:p>
          <a:p>
            <a:pPr algn="l"/>
            <a:r>
              <a:rPr lang="en-US" sz="1100" dirty="0">
                <a:solidFill>
                  <a:srgbClr val="5A6675"/>
                </a:solidFill>
                <a:latin typeface="Arial" pitchFamily="34" charset="0"/>
                <a:ea typeface="Arial" pitchFamily="34" charset="-122"/>
                <a:cs typeface="Arial" pitchFamily="34" charset="-120"/>
              </a:rPr>
              <a:t>Note: Claude was used in mapping the specific line of code per number to the bullet point.</a:t>
            </a:r>
          </a:p>
        </p:txBody>
      </p:sp>
      <p:sp>
        <p:nvSpPr>
          <p:cNvPr id="19" name="Test panel"/>
          <p:cNvSpPr/>
          <p:nvPr/>
        </p:nvSpPr>
        <p:spPr>
          <a:xfrm>
            <a:off x="875284" y="5257800"/>
            <a:ext cx="4343400" cy="914400"/>
          </a:xfrm>
          <a:prstGeom prst="rect">
            <a:avLst/>
          </a:prstGeom>
          <a:solidFill>
            <a:srgbClr val="EEF2F8"/>
          </a:solidFill>
          <a:ln>
            <a:noFill/>
          </a:ln>
        </p:spPr>
        <p:txBody>
          <a:bodyPr rtlCol="0" anchor="ctr"/>
          <a:lstStyle/>
          <a:p>
            <a:endParaRPr lang="en-US"/>
          </a:p>
        </p:txBody>
      </p:sp>
      <p:sp>
        <p:nvSpPr>
          <p:cNvPr id="20" name="Test result"/>
          <p:cNvSpPr txBox="1"/>
          <p:nvPr/>
        </p:nvSpPr>
        <p:spPr>
          <a:xfrm>
            <a:off x="1058164" y="5413248"/>
            <a:ext cx="3977640" cy="640080"/>
          </a:xfrm>
          <a:prstGeom prst="rect">
            <a:avLst/>
          </a:prstGeom>
          <a:noFill/>
          <a:ln>
            <a:noFill/>
          </a:ln>
        </p:spPr>
        <p:txBody>
          <a:bodyPr wrap="square" lIns="0" tIns="0" rIns="0" bIns="0" rtlCol="0" anchor="t">
            <a:noAutofit/>
          </a:bodyPr>
          <a:lstStyle/>
          <a:p>
            <a:pPr marL="0" indent="0" algn="l">
              <a:lnSpc>
                <a:spcPct val="100000"/>
              </a:lnSpc>
              <a:spcBef>
                <a:spcPts val="0"/>
              </a:spcBef>
              <a:spcAft>
                <a:spcPts val="600"/>
              </a:spcAft>
              <a:buNone/>
            </a:pPr>
            <a:r>
              <a:rPr lang="en-US" sz="1200" b="1" dirty="0">
                <a:solidFill>
                  <a:srgbClr val="5A6675"/>
                </a:solidFill>
                <a:latin typeface="Arial" pitchFamily="34" charset="0"/>
                <a:ea typeface="Arial" pitchFamily="34" charset="-122"/>
                <a:cs typeface="Arial" pitchFamily="34" charset="-120"/>
              </a:rPr>
              <a:t>Tested with n = 3 and 5 parties</a:t>
            </a:r>
          </a:p>
          <a:p>
            <a:pPr marL="0" indent="0" algn="l">
              <a:lnSpc>
                <a:spcPct val="115000"/>
              </a:lnSpc>
              <a:spcBef>
                <a:spcPts val="0"/>
              </a:spcBef>
              <a:spcAft>
                <a:spcPts val="400"/>
              </a:spcAft>
              <a:buNone/>
            </a:pPr>
            <a:r>
              <a:rPr lang="en-US" sz="1400" dirty="0">
                <a:solidFill>
                  <a:srgbClr val="1B2430"/>
                </a:solidFill>
                <a:latin typeface="Arial" pitchFamily="34" charset="0"/>
                <a:ea typeface="Arial" pitchFamily="34" charset="-122"/>
                <a:cs typeface="Arial" pitchFamily="34" charset="-120"/>
              </a:rPr>
              <a:t>With the two lines swapped, output stopped after Party 3 entered; no party ever cleared.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2430"/>
                </a:solidFill>
                <a:latin typeface="Arial" pitchFamily="34" charset="0"/>
                <a:ea typeface="Arial" pitchFamily="34" charset="-122"/>
                <a:cs typeface="Arial" pitchFamily="34" charset="-120"/>
              </a:rPr>
              <a:t>Possible deadlock: other ways to wait forever</a:t>
            </a:r>
            <a:endParaRPr lang="en-US" sz="2800" dirty="0">
              <a:solidFill>
                <a:srgbClr val="1B2430"/>
              </a:solidFill>
              <a:latin typeface="Arial" pitchFamily="34" charset="0"/>
              <a:ea typeface="Arial" pitchFamily="34" charset="-122"/>
              <a:cs typeface="Arial" pitchFamily="34" charset="-120"/>
            </a:endParaRPr>
          </a:p>
        </p:txBody>
      </p:sp>
      <p:graphicFrame>
        <p:nvGraphicFramePr>
          <p:cNvPr id="3" name="Table 0"/>
          <p:cNvGraphicFramePr>
            <a:graphicFrameLocks noGrp="1"/>
          </p:cNvGraphicFramePr>
          <p:nvPr/>
        </p:nvGraphicFramePr>
        <p:xfrm>
          <a:off x="822960" y="1536192"/>
          <a:ext cx="10556664" cy="2852928"/>
        </p:xfrm>
        <a:graphic>
          <a:graphicData uri="http://schemas.openxmlformats.org/drawingml/2006/table">
            <a:tbl>
              <a:tblPr/>
              <a:tblGrid>
                <a:gridCol w="2103120"/>
                <a:gridCol w="4343400"/>
                <a:gridCol w="4110144"/>
              </a:tblGrid>
              <a:tr h="384048">
                <a:tc>
                  <a:txBody>
                    <a:bodyPr/>
                    <a:lstStyle/>
                    <a:p>
                      <a:pPr marL="0" indent="0">
                        <a:lnSpc>
                          <a:spcPts val="1700"/>
                        </a:lnSpc>
                        <a:buNone/>
                      </a:pPr>
                      <a:r>
                        <a:rPr lang="en-US" sz="1400" b="1" dirty="0">
                          <a:solidFill>
                            <a:srgbClr val="2F3A48"/>
                          </a:solidFill>
                          <a:latin typeface="Arial" pitchFamily="34" charset="0"/>
                          <a:ea typeface="Arial" pitchFamily="34" charset="-122"/>
                          <a:cs typeface="Arial" pitchFamily="34" charset="-120"/>
                        </a:rPr>
                        <a:t>Case</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1700"/>
                        </a:lnSpc>
                        <a:buNone/>
                      </a:pPr>
                      <a:r>
                        <a:rPr lang="en-US" sz="1400" b="1" dirty="0">
                          <a:solidFill>
                            <a:srgbClr val="2F3A48"/>
                          </a:solidFill>
                          <a:latin typeface="Arial" pitchFamily="34" charset="0"/>
                          <a:ea typeface="Arial" pitchFamily="34" charset="-122"/>
                          <a:cs typeface="Arial" pitchFamily="34" charset="-120"/>
                        </a:rPr>
                        <a:t>How it could deadlock</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1700"/>
                        </a:lnSpc>
                        <a:buNone/>
                      </a:pPr>
                      <a:r>
                        <a:rPr lang="en-US" sz="1400" b="1" dirty="0">
                          <a:solidFill>
                            <a:srgbClr val="2F3A48"/>
                          </a:solidFill>
                          <a:latin typeface="Arial" pitchFamily="34" charset="0"/>
                          <a:ea typeface="Arial" pitchFamily="34" charset="-122"/>
                          <a:cs typeface="Arial" pitchFamily="34" charset="-120"/>
                        </a:rPr>
                        <a:t>How the program avoids it</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r>
              <a:tr h="822960">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Half-built parties</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If parties were built one player at a time, two of them could each hold 2 of the 4 DPS and wait for a third that the other one holds</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Only full parties are formed, all at the start, before any party enters (possible because every player arrives at once)</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822960">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A permit never returned</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If a run threw before release(), its instance would stay taken; once every permit is gone, main waits in acquire() forever</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release() comes after the run's try/catch, so it runs even after an error; undoEnter() returns the permit if a party cannot start</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822960">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A mutex left locked</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With mtx.lock() and mtx.unlock(), an exception in between skips the unlock, and every later lock waits forever</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Every lock is a lock_guard, which unlocks in its destructor, also when an exception is thrown</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4" name="Cycle panel"/>
          <p:cNvSpPr/>
          <p:nvPr/>
        </p:nvSpPr>
        <p:spPr>
          <a:xfrm>
            <a:off x="822960" y="4663440"/>
            <a:ext cx="10556664" cy="1143000"/>
          </a:xfrm>
          <a:prstGeom prst="rect">
            <a:avLst/>
          </a:prstGeom>
          <a:solidFill>
            <a:srgbClr val="EEF2F8"/>
          </a:solidFill>
          <a:ln>
            <a:noFill/>
          </a:ln>
        </p:spPr>
        <p:txBody>
          <a:bodyPr rtlCol="0" anchor="ctr"/>
          <a:lstStyle/>
          <a:p>
            <a:endParaRPr lang="en-US"/>
          </a:p>
        </p:txBody>
      </p:sp>
      <p:sp>
        <p:nvSpPr>
          <p:cNvPr id="5" name="Why no cycle can form"/>
          <p:cNvSpPr txBox="1"/>
          <p:nvPr/>
        </p:nvSpPr>
        <p:spPr>
          <a:xfrm>
            <a:off x="1024128" y="4864608"/>
            <a:ext cx="10154328" cy="822960"/>
          </a:xfrm>
          <a:prstGeom prst="rect">
            <a:avLst/>
          </a:prstGeom>
          <a:noFill/>
          <a:ln>
            <a:noFill/>
          </a:ln>
        </p:spPr>
        <p:txBody>
          <a:bodyPr wrap="square" lIns="0" tIns="0" rIns="0" bIns="0" rtlCol="0" anchor="t">
            <a:noAutofit/>
          </a:bodyPr>
          <a:lstStyle/>
          <a:p>
            <a:pPr marL="0" indent="0" algn="l">
              <a:lnSpc>
                <a:spcPct val="100000"/>
              </a:lnSpc>
              <a:spcBef>
                <a:spcPts val="0"/>
              </a:spcBef>
              <a:spcAft>
                <a:spcPts val="600"/>
              </a:spcAft>
              <a:buNone/>
            </a:pPr>
            <a:r>
              <a:rPr lang="en-US" sz="1200" b="1" dirty="0">
                <a:solidFill>
                  <a:srgbClr val="5A6675"/>
                </a:solidFill>
                <a:latin typeface="Arial" pitchFamily="34" charset="0"/>
                <a:ea typeface="Arial" pitchFamily="34" charset="-122"/>
                <a:cs typeface="Arial" pitchFamily="34" charset="-120"/>
              </a:rPr>
              <a:t>Why no cycle can form</a:t>
            </a:r>
          </a:p>
          <a:p>
            <a:pPr marL="0" indent="0" algn="l">
              <a:lnSpc>
                <a:spcPct val="115000"/>
              </a:lnSpc>
              <a:spcBef>
                <a:spcPts val="0"/>
              </a:spcBef>
              <a:spcAft>
                <a:spcPts val="400"/>
              </a:spcAft>
              <a:buNone/>
            </a:pPr>
            <a:r>
              <a:rPr lang="en-US" sz="1400" dirty="0">
                <a:solidFill>
                  <a:srgbClr val="1B2430"/>
                </a:solidFill>
                <a:latin typeface="Arial" pitchFamily="34" charset="0"/>
                <a:ea typeface="Arial" pitchFamily="34" charset="-122"/>
                <a:cs typeface="Arial" pitchFamily="34" charset="-120"/>
              </a:rPr>
              <a:t>A deadlock needs a circular wait. Every thread takes an instance before mtx, never the reverse, and no thread waits for another while it holds mtx, so no cycle can form.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2430"/>
                </a:solidFill>
                <a:latin typeface="Arial" pitchFamily="34" charset="0"/>
                <a:ea typeface="Arial" pitchFamily="34" charset="-122"/>
                <a:cs typeface="Arial" pitchFamily="34" charset="-120"/>
              </a:rPr>
              <a:t>Possible starvation: every wait is bounded</a:t>
            </a:r>
            <a:endParaRPr lang="en-US" sz="2800" dirty="0">
              <a:solidFill>
                <a:srgbClr val="1B2430"/>
              </a:solidFill>
              <a:latin typeface="Arial" pitchFamily="34" charset="0"/>
              <a:ea typeface="Arial" pitchFamily="34" charset="-122"/>
              <a:cs typeface="Arial" pitchFamily="34" charset="-120"/>
            </a:endParaRPr>
          </a:p>
        </p:txBody>
      </p:sp>
      <p:graphicFrame>
        <p:nvGraphicFramePr>
          <p:cNvPr id="3" name="Table 0"/>
          <p:cNvGraphicFramePr>
            <a:graphicFrameLocks noGrp="1"/>
          </p:cNvGraphicFramePr>
          <p:nvPr/>
        </p:nvGraphicFramePr>
        <p:xfrm>
          <a:off x="822960" y="1536192"/>
          <a:ext cx="10556664" cy="2852928"/>
        </p:xfrm>
        <a:graphic>
          <a:graphicData uri="http://schemas.openxmlformats.org/drawingml/2006/table">
            <a:tbl>
              <a:tblPr/>
              <a:tblGrid>
                <a:gridCol w="2103120"/>
                <a:gridCol w="4343400"/>
                <a:gridCol w="4110144"/>
              </a:tblGrid>
              <a:tr h="384048">
                <a:tc>
                  <a:txBody>
                    <a:bodyPr/>
                    <a:lstStyle/>
                    <a:p>
                      <a:pPr marL="0" indent="0">
                        <a:lnSpc>
                          <a:spcPts val="1700"/>
                        </a:lnSpc>
                        <a:buNone/>
                      </a:pPr>
                      <a:r>
                        <a:rPr lang="en-US" sz="1400" b="1" dirty="0">
                          <a:solidFill>
                            <a:srgbClr val="2F3A48"/>
                          </a:solidFill>
                          <a:latin typeface="Arial" pitchFamily="34" charset="0"/>
                          <a:ea typeface="Arial" pitchFamily="34" charset="-122"/>
                          <a:cs typeface="Arial" pitchFamily="34" charset="-120"/>
                        </a:rPr>
                        <a:t>Case</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1700"/>
                        </a:lnSpc>
                        <a:buNone/>
                      </a:pPr>
                      <a:r>
                        <a:rPr lang="en-US" sz="1400" b="1" dirty="0">
                          <a:solidFill>
                            <a:srgbClr val="2F3A48"/>
                          </a:solidFill>
                          <a:latin typeface="Arial" pitchFamily="34" charset="0"/>
                          <a:ea typeface="Arial" pitchFamily="34" charset="-122"/>
                          <a:cs typeface="Arial" pitchFamily="34" charset="-120"/>
                        </a:rPr>
                        <a:t>How it could starve</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1700"/>
                        </a:lnSpc>
                        <a:buNone/>
                      </a:pPr>
                      <a:r>
                        <a:rPr lang="en-US" sz="1400" b="1" dirty="0">
                          <a:solidFill>
                            <a:srgbClr val="2F3A48"/>
                          </a:solidFill>
                          <a:latin typeface="Arial" pitchFamily="34" charset="0"/>
                          <a:ea typeface="Arial" pitchFamily="34" charset="-122"/>
                          <a:cs typeface="Arial" pitchFamily="34" charset="-120"/>
                        </a:rPr>
                        <a:t>How the program avoids it</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r>
              <a:tr h="822960">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A party that keeps losing</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C++ semaphores wake waiters in no fixed order, so if each party waited in acquire() itself, newer parties could keep winning</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Only main waits for instances, and it sends parties in queue order: party p always enters before party p + 1</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822960">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A run that never ends</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Waiting parties need runs to end; a run with no time limit, or one that kept its instance after an error, could block them forever</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Clear times are capped at t2 ≤ 15 s when the config is read, and every run frees its instance, even after an error</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822960">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Players with no party</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With t = 6, h = 5, d = 17, one tank and two DPS can never complete a party, so in a queue they would wait forever</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700"/>
                        </a:lnSpc>
                        <a:buNone/>
                      </a:pPr>
                      <a:r>
                        <a:rPr lang="en-US" sz="1400" dirty="0">
                          <a:solidFill>
                            <a:srgbClr val="2F3A48"/>
                          </a:solidFill>
                          <a:latin typeface="Arial" pitchFamily="34" charset="0"/>
                          <a:ea typeface="Arial" pitchFamily="34" charset="-122"/>
                          <a:cs typeface="Arial" pitchFamily="34" charset="-120"/>
                        </a:rPr>
                        <a:t>Parties are matched once, at the start; leftovers are reported up front and in the summary, and the program ends</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4" name="Bound panel"/>
          <p:cNvSpPr/>
          <p:nvPr/>
        </p:nvSpPr>
        <p:spPr>
          <a:xfrm>
            <a:off x="822960" y="4663440"/>
            <a:ext cx="10556664" cy="1143000"/>
          </a:xfrm>
          <a:prstGeom prst="rect">
            <a:avLst/>
          </a:prstGeom>
          <a:solidFill>
            <a:srgbClr val="EEF2F8"/>
          </a:solidFill>
          <a:ln>
            <a:noFill/>
          </a:ln>
        </p:spPr>
        <p:txBody>
          <a:bodyPr rtlCol="0" anchor="ctr"/>
          <a:lstStyle/>
          <a:p>
            <a:endParaRPr lang="en-US"/>
          </a:p>
        </p:txBody>
      </p:sp>
      <p:sp>
        <p:nvSpPr>
          <p:cNvPr id="5" name="Bounded wait"/>
          <p:cNvSpPr txBox="1"/>
          <p:nvPr/>
        </p:nvSpPr>
        <p:spPr>
          <a:xfrm>
            <a:off x="1024128" y="4864608"/>
            <a:ext cx="10154328" cy="822960"/>
          </a:xfrm>
          <a:prstGeom prst="rect">
            <a:avLst/>
          </a:prstGeom>
          <a:noFill/>
          <a:ln>
            <a:noFill/>
          </a:ln>
        </p:spPr>
        <p:txBody>
          <a:bodyPr wrap="square" lIns="0" tIns="0" rIns="0" bIns="0" rtlCol="0" anchor="t">
            <a:noAutofit/>
          </a:bodyPr>
          <a:lstStyle/>
          <a:p>
            <a:pPr marL="0" indent="0" algn="l">
              <a:lnSpc>
                <a:spcPct val="100000"/>
              </a:lnSpc>
              <a:spcBef>
                <a:spcPts val="0"/>
              </a:spcBef>
              <a:spcAft>
                <a:spcPts val="600"/>
              </a:spcAft>
              <a:buNone/>
            </a:pPr>
            <a:r>
              <a:rPr lang="en-US" sz="1200" b="1" dirty="0">
                <a:solidFill>
                  <a:srgbClr val="5A6675"/>
                </a:solidFill>
                <a:latin typeface="Arial" pitchFamily="34" charset="0"/>
                <a:ea typeface="Arial" pitchFamily="34" charset="-122"/>
                <a:cs typeface="Arial" pitchFamily="34" charset="-120"/>
              </a:rPr>
              <a:t>Bounded wait</a:t>
            </a:r>
          </a:p>
          <a:p>
            <a:pPr marL="0" indent="0" algn="l">
              <a:lnSpc>
                <a:spcPct val="115000"/>
              </a:lnSpc>
              <a:spcBef>
                <a:spcPts val="0"/>
              </a:spcBef>
              <a:spcAft>
                <a:spcPts val="400"/>
              </a:spcAft>
              <a:buNone/>
            </a:pPr>
            <a:r>
              <a:rPr lang="en-US" sz="1400" dirty="0">
                <a:solidFill>
                  <a:srgbClr val="1B2430"/>
                </a:solidFill>
                <a:latin typeface="Arial" pitchFamily="34" charset="0"/>
                <a:ea typeface="Arial" pitchFamily="34" charset="-122"/>
                <a:cs typeface="Arial" pitchFamily="34" charset="-120"/>
              </a:rPr>
              <a:t>Every n parties ahead of a party add at most t2 seconds to its wait. With n = 3 and t2 = 5 s, party 7 always enters within about 10 s, whatever clear times are drawn.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2430"/>
                </a:solidFill>
                <a:latin typeface="Arial" pitchFamily="34" charset="0"/>
                <a:ea typeface="Arial" pitchFamily="34" charset="-122"/>
                <a:cs typeface="Arial" pitchFamily="34" charset="-120"/>
              </a:rPr>
              <a:t>Synchronization mechanisms used</a:t>
            </a:r>
            <a:endParaRPr lang="en-US" sz="2800" dirty="0">
              <a:solidFill>
                <a:srgbClr val="1B2430"/>
              </a:solidFill>
              <a:latin typeface="Arial" pitchFamily="34" charset="0"/>
              <a:ea typeface="Arial" pitchFamily="34" charset="-122"/>
              <a:cs typeface="Arial" pitchFamily="34" charset="-120"/>
            </a:endParaRPr>
          </a:p>
        </p:txBody>
      </p:sp>
      <p:sp>
        <p:nvSpPr>
          <p:cNvPr id="3" name="Mechanism panel 1"/>
          <p:cNvSpPr/>
          <p:nvPr/>
        </p:nvSpPr>
        <p:spPr>
          <a:xfrm>
            <a:off x="822960" y="1536192"/>
            <a:ext cx="5141172" cy="2103120"/>
          </a:xfrm>
          <a:prstGeom prst="rect">
            <a:avLst/>
          </a:prstGeom>
          <a:solidFill>
            <a:srgbClr val="EEF2F8"/>
          </a:solidFill>
          <a:ln>
            <a:noFill/>
          </a:ln>
        </p:spPr>
        <p:txBody>
          <a:bodyPr rtlCol="0" anchor="ctr"/>
          <a:lstStyle/>
          <a:p>
            <a:endParaRPr lang="en-US"/>
          </a:p>
        </p:txBody>
      </p:sp>
      <p:sp>
        <p:nvSpPr>
          <p:cNvPr id="4" name="Mechanism 1"/>
          <p:cNvSpPr txBox="1"/>
          <p:nvPr/>
        </p:nvSpPr>
        <p:spPr>
          <a:xfrm>
            <a:off x="1051560" y="1764792"/>
            <a:ext cx="4683972" cy="1645920"/>
          </a:xfrm>
          <a:prstGeom prst="rect">
            <a:avLst/>
          </a:prstGeom>
          <a:noFill/>
          <a:ln>
            <a:noFill/>
          </a:ln>
        </p:spPr>
        <p:txBody>
          <a:bodyPr wrap="square" lIns="0" tIns="0" rIns="0" bIns="0" rtlCol="0" anchor="t">
            <a:noAutofit/>
          </a:bodyPr>
          <a:lstStyle/>
          <a:p>
            <a:pPr marL="0" indent="0" algn="l">
              <a:lnSpc>
                <a:spcPct val="100000"/>
              </a:lnSpc>
              <a:spcBef>
                <a:spcPts val="0"/>
              </a:spcBef>
              <a:spcAft>
                <a:spcPts val="600"/>
              </a:spcAft>
              <a:buNone/>
            </a:pPr>
            <a:r>
              <a:rPr lang="en-US" sz="1200" b="1" dirty="0">
                <a:solidFill>
                  <a:srgbClr val="5A6675"/>
                </a:solidFill>
                <a:latin typeface="Arial" pitchFamily="34" charset="0"/>
                <a:ea typeface="Arial" pitchFamily="34" charset="-122"/>
                <a:cs typeface="Arial" pitchFamily="34" charset="-120"/>
              </a:rPr>
              <a:t>Caps active instances at n</a:t>
            </a:r>
          </a:p>
          <a:p>
            <a:pPr marL="0" indent="0" algn="l">
              <a:lnSpc>
                <a:spcPct val="100000"/>
              </a:lnSpc>
              <a:spcBef>
                <a:spcPts val="0"/>
              </a:spcBef>
              <a:spcAft>
                <a:spcPts val="600"/>
              </a:spcAft>
              <a:buNone/>
            </a:pPr>
            <a:r>
              <a:rPr lang="en-US" sz="2200" b="1" dirty="0">
                <a:solidFill>
                  <a:srgbClr val="156082"/>
                </a:solidFill>
                <a:latin typeface="Consolas" pitchFamily="49" charset="0"/>
                <a:ea typeface="Consolas" pitchFamily="49" charset="-122"/>
                <a:cs typeface="Consolas" pitchFamily="49" charset="-120"/>
              </a:rPr>
              <a:t>counting_semaphore</a:t>
            </a:r>
          </a:p>
          <a:p>
            <a:pPr marL="0" indent="0" algn="l">
              <a:lnSpc>
                <a:spcPct val="115000"/>
              </a:lnSpc>
              <a:spcBef>
                <a:spcPts val="0"/>
              </a:spcBef>
              <a:spcAft>
                <a:spcPts val="400"/>
              </a:spcAft>
              <a:buNone/>
            </a:pPr>
            <a:r>
              <a:rPr lang="en-US" sz="1400" dirty="0">
                <a:solidFill>
                  <a:srgbClr val="1B2430"/>
                </a:solidFill>
                <a:latin typeface="Arial" pitchFamily="34" charset="0"/>
                <a:ea typeface="Arial" pitchFamily="34" charset="-122"/>
                <a:cs typeface="Arial" pitchFamily="34" charset="-120"/>
              </a:rPr>
              <a:t>freeInstances starts with n permits. A party takes one before it enters; its thread gives it back when the dungeon is cleared.</a:t>
            </a:r>
          </a:p>
        </p:txBody>
      </p:sp>
      <p:sp>
        <p:nvSpPr>
          <p:cNvPr id="5" name="Mechanism panel 2"/>
          <p:cNvSpPr/>
          <p:nvPr/>
        </p:nvSpPr>
        <p:spPr>
          <a:xfrm>
            <a:off x="6238452" y="1536192"/>
            <a:ext cx="5141172" cy="2103120"/>
          </a:xfrm>
          <a:prstGeom prst="rect">
            <a:avLst/>
          </a:prstGeom>
          <a:solidFill>
            <a:srgbClr val="EEF2F8"/>
          </a:solidFill>
          <a:ln>
            <a:noFill/>
          </a:ln>
        </p:spPr>
        <p:txBody>
          <a:bodyPr rtlCol="0" anchor="ctr"/>
          <a:lstStyle/>
          <a:p>
            <a:endParaRPr lang="en-US"/>
          </a:p>
        </p:txBody>
      </p:sp>
      <p:sp>
        <p:nvSpPr>
          <p:cNvPr id="6" name="Mechanism 2"/>
          <p:cNvSpPr txBox="1"/>
          <p:nvPr/>
        </p:nvSpPr>
        <p:spPr>
          <a:xfrm>
            <a:off x="6467052" y="1764792"/>
            <a:ext cx="4683972" cy="1645920"/>
          </a:xfrm>
          <a:prstGeom prst="rect">
            <a:avLst/>
          </a:prstGeom>
          <a:noFill/>
          <a:ln>
            <a:noFill/>
          </a:ln>
        </p:spPr>
        <p:txBody>
          <a:bodyPr wrap="square" lIns="0" tIns="0" rIns="0" bIns="0" rtlCol="0" anchor="t">
            <a:noAutofit/>
          </a:bodyPr>
          <a:lstStyle/>
          <a:p>
            <a:pPr marL="0" indent="0" algn="l">
              <a:lnSpc>
                <a:spcPct val="100000"/>
              </a:lnSpc>
              <a:spcBef>
                <a:spcPts val="0"/>
              </a:spcBef>
              <a:spcAft>
                <a:spcPts val="600"/>
              </a:spcAft>
              <a:buNone/>
            </a:pPr>
            <a:r>
              <a:rPr lang="en-US" sz="1200" b="1" dirty="0">
                <a:solidFill>
                  <a:srgbClr val="5A6675"/>
                </a:solidFill>
                <a:latin typeface="Arial" pitchFamily="34" charset="0"/>
                <a:ea typeface="Arial" pitchFamily="34" charset="-122"/>
                <a:cs typeface="Arial" pitchFamily="34" charset="-120"/>
              </a:rPr>
              <a:t>Guards shared state and printing</a:t>
            </a:r>
          </a:p>
          <a:p>
            <a:pPr marL="0" indent="0" algn="l">
              <a:lnSpc>
                <a:spcPct val="100000"/>
              </a:lnSpc>
              <a:spcBef>
                <a:spcPts val="0"/>
              </a:spcBef>
              <a:spcAft>
                <a:spcPts val="600"/>
              </a:spcAft>
              <a:buNone/>
            </a:pPr>
            <a:r>
              <a:rPr lang="en-US" sz="2200" b="1" dirty="0">
                <a:solidFill>
                  <a:srgbClr val="156082"/>
                </a:solidFill>
                <a:latin typeface="Consolas" pitchFamily="49" charset="0"/>
                <a:ea typeface="Consolas" pitchFamily="49" charset="-122"/>
                <a:cs typeface="Consolas" pitchFamily="49" charset="-120"/>
              </a:rPr>
              <a:t>mutex + lock_guard</a:t>
            </a:r>
          </a:p>
          <a:p>
            <a:pPr marL="0" indent="0" algn="l">
              <a:lnSpc>
                <a:spcPct val="115000"/>
              </a:lnSpc>
              <a:spcBef>
                <a:spcPts val="0"/>
              </a:spcBef>
              <a:spcAft>
                <a:spcPts val="400"/>
              </a:spcAft>
              <a:buNone/>
            </a:pPr>
            <a:r>
              <a:rPr lang="en-US" sz="1400" dirty="0">
                <a:solidFill>
                  <a:srgbClr val="1B2430"/>
                </a:solidFill>
                <a:latin typeface="Arial" pitchFamily="34" charset="0"/>
                <a:ea typeface="Arial" pitchFamily="34" charset="-122"/>
                <a:cs typeface="Arial" pitchFamily="34" charset="-120"/>
              </a:rPr>
              <a:t>mtx protects each instance's status, the served counts and times, the saved error and the output. lock_guard unlocks even on an exception.</a:t>
            </a:r>
          </a:p>
        </p:txBody>
      </p:sp>
      <p:sp>
        <p:nvSpPr>
          <p:cNvPr id="7" name="Mechanism panel 3"/>
          <p:cNvSpPr/>
          <p:nvPr/>
        </p:nvSpPr>
        <p:spPr>
          <a:xfrm>
            <a:off x="822960" y="3913632"/>
            <a:ext cx="5141172" cy="2103120"/>
          </a:xfrm>
          <a:prstGeom prst="rect">
            <a:avLst/>
          </a:prstGeom>
          <a:solidFill>
            <a:srgbClr val="EEF2F8"/>
          </a:solidFill>
          <a:ln>
            <a:noFill/>
          </a:ln>
        </p:spPr>
        <p:txBody>
          <a:bodyPr rtlCol="0" anchor="ctr"/>
          <a:lstStyle/>
          <a:p>
            <a:endParaRPr lang="en-US"/>
          </a:p>
        </p:txBody>
      </p:sp>
      <p:sp>
        <p:nvSpPr>
          <p:cNvPr id="8" name="Mechanism 3"/>
          <p:cNvSpPr txBox="1"/>
          <p:nvPr/>
        </p:nvSpPr>
        <p:spPr>
          <a:xfrm>
            <a:off x="1051560" y="4142232"/>
            <a:ext cx="4683972" cy="1645920"/>
          </a:xfrm>
          <a:prstGeom prst="rect">
            <a:avLst/>
          </a:prstGeom>
          <a:noFill/>
          <a:ln>
            <a:noFill/>
          </a:ln>
        </p:spPr>
        <p:txBody>
          <a:bodyPr wrap="square" lIns="0" tIns="0" rIns="0" bIns="0" rtlCol="0" anchor="t">
            <a:noAutofit/>
          </a:bodyPr>
          <a:lstStyle/>
          <a:p>
            <a:pPr marL="0" indent="0" algn="l">
              <a:lnSpc>
                <a:spcPct val="100000"/>
              </a:lnSpc>
              <a:spcBef>
                <a:spcPts val="0"/>
              </a:spcBef>
              <a:spcAft>
                <a:spcPts val="600"/>
              </a:spcAft>
              <a:buNone/>
            </a:pPr>
            <a:r>
              <a:rPr lang="en-US" sz="1200" b="1" dirty="0">
                <a:solidFill>
                  <a:srgbClr val="5A6675"/>
                </a:solidFill>
                <a:latin typeface="Arial" pitchFamily="34" charset="0"/>
                <a:ea typeface="Arial" pitchFamily="34" charset="-122"/>
                <a:cs typeface="Arial" pitchFamily="34" charset="-120"/>
              </a:rPr>
              <a:t>One thread per dungeon run</a:t>
            </a:r>
          </a:p>
          <a:p>
            <a:pPr marL="0" indent="0" algn="l">
              <a:lnSpc>
                <a:spcPct val="100000"/>
              </a:lnSpc>
              <a:spcBef>
                <a:spcPts val="0"/>
              </a:spcBef>
              <a:spcAft>
                <a:spcPts val="600"/>
              </a:spcAft>
              <a:buNone/>
            </a:pPr>
            <a:r>
              <a:rPr lang="en-US" sz="2200" b="1" dirty="0">
                <a:solidFill>
                  <a:srgbClr val="156082"/>
                </a:solidFill>
                <a:latin typeface="Consolas" pitchFamily="49" charset="0"/>
                <a:ea typeface="Consolas" pitchFamily="49" charset="-122"/>
                <a:cs typeface="Consolas" pitchFamily="49" charset="-120"/>
              </a:rPr>
              <a:t>thread + join</a:t>
            </a:r>
          </a:p>
          <a:p>
            <a:pPr marL="0" indent="0" algn="l">
              <a:lnSpc>
                <a:spcPct val="115000"/>
              </a:lnSpc>
              <a:spcBef>
                <a:spcPts val="0"/>
              </a:spcBef>
              <a:spcAft>
                <a:spcPts val="400"/>
              </a:spcAft>
              <a:buNone/>
            </a:pPr>
            <a:r>
              <a:rPr lang="en-US" sz="1400" dirty="0">
                <a:solidFill>
                  <a:srgbClr val="1B2430"/>
                </a:solidFill>
                <a:latin typeface="Arial" pitchFamily="34" charset="0"/>
                <a:ea typeface="Arial" pitchFamily="34" charset="-122"/>
                <a:cs typeface="Arial" pitchFamily="34" charset="-120"/>
              </a:rPr>
              <a:t>Each party in a dungeon is a thread that sleeps for its clear time. Main joins an instance's old thread before reusing it, and joins all of them before the summary.</a:t>
            </a:r>
          </a:p>
        </p:txBody>
      </p:sp>
      <p:sp>
        <p:nvSpPr>
          <p:cNvPr id="9" name="Mechanism panel 4"/>
          <p:cNvSpPr/>
          <p:nvPr/>
        </p:nvSpPr>
        <p:spPr>
          <a:xfrm>
            <a:off x="6238452" y="3913632"/>
            <a:ext cx="5141172" cy="2103120"/>
          </a:xfrm>
          <a:prstGeom prst="rect">
            <a:avLst/>
          </a:prstGeom>
          <a:solidFill>
            <a:srgbClr val="EEF2F8"/>
          </a:solidFill>
          <a:ln>
            <a:noFill/>
          </a:ln>
        </p:spPr>
        <p:txBody>
          <a:bodyPr rtlCol="0" anchor="ctr"/>
          <a:lstStyle/>
          <a:p>
            <a:endParaRPr lang="en-US"/>
          </a:p>
        </p:txBody>
      </p:sp>
      <p:sp>
        <p:nvSpPr>
          <p:cNvPr id="10" name="Mechanism 4"/>
          <p:cNvSpPr txBox="1"/>
          <p:nvPr/>
        </p:nvSpPr>
        <p:spPr>
          <a:xfrm>
            <a:off x="6467052" y="4142232"/>
            <a:ext cx="4683972" cy="1645920"/>
          </a:xfrm>
          <a:prstGeom prst="rect">
            <a:avLst/>
          </a:prstGeom>
          <a:noFill/>
          <a:ln>
            <a:noFill/>
          </a:ln>
        </p:spPr>
        <p:txBody>
          <a:bodyPr wrap="square" lIns="0" tIns="0" rIns="0" bIns="0" rtlCol="0" anchor="t">
            <a:noAutofit/>
          </a:bodyPr>
          <a:lstStyle/>
          <a:p>
            <a:pPr marL="0" indent="0" algn="l">
              <a:lnSpc>
                <a:spcPct val="100000"/>
              </a:lnSpc>
              <a:spcBef>
                <a:spcPts val="0"/>
              </a:spcBef>
              <a:spcAft>
                <a:spcPts val="600"/>
              </a:spcAft>
              <a:buNone/>
            </a:pPr>
            <a:r>
              <a:rPr lang="en-US" sz="1200" b="1" dirty="0">
                <a:solidFill>
                  <a:srgbClr val="5A6675"/>
                </a:solidFill>
                <a:latin typeface="Arial" pitchFamily="34" charset="0"/>
                <a:ea typeface="Arial" pitchFamily="34" charset="-122"/>
                <a:cs typeface="Arial" pitchFamily="34" charset="-120"/>
              </a:rPr>
              <a:t>Rules against deadlock and starvation</a:t>
            </a:r>
          </a:p>
          <a:p>
            <a:pPr marL="0" indent="0" algn="l">
              <a:lnSpc>
                <a:spcPct val="100000"/>
              </a:lnSpc>
              <a:spcBef>
                <a:spcPts val="0"/>
              </a:spcBef>
              <a:spcAft>
                <a:spcPts val="600"/>
              </a:spcAft>
              <a:buNone/>
            </a:pPr>
            <a:r>
              <a:rPr lang="en-US" sz="2200" b="1" dirty="0">
                <a:solidFill>
                  <a:srgbClr val="156082"/>
                </a:solidFill>
                <a:latin typeface="Consolas" pitchFamily="49" charset="0"/>
                <a:ea typeface="Consolas" pitchFamily="49" charset="-122"/>
                <a:cs typeface="Consolas" pitchFamily="49" charset="-120"/>
              </a:rPr>
              <a:t>acquire() → lock_guard</a:t>
            </a:r>
          </a:p>
          <a:p>
            <a:pPr marL="0" indent="0" algn="l">
              <a:lnSpc>
                <a:spcPct val="115000"/>
              </a:lnSpc>
              <a:spcBef>
                <a:spcPts val="0"/>
              </a:spcBef>
              <a:spcAft>
                <a:spcPts val="400"/>
              </a:spcAft>
              <a:buNone/>
            </a:pPr>
            <a:r>
              <a:rPr lang="en-US" sz="1400" dirty="0">
                <a:solidFill>
                  <a:srgbClr val="1B2430"/>
                </a:solidFill>
                <a:latin typeface="Arial" pitchFamily="34" charset="0"/>
                <a:ea typeface="Arial" pitchFamily="34" charset="-122"/>
                <a:cs typeface="Arial" pitchFamily="34" charset="-120"/>
              </a:rPr>
              <a:t>Wait for an instance before locking. Never sleep or join while holding mtx. One thread sends the parties, in queue order.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2430"/>
                </a:solidFill>
                <a:latin typeface="Arial" pitchFamily="34" charset="0"/>
                <a:ea typeface="Arial" pitchFamily="34" charset="-122"/>
                <a:cs typeface="Arial" pitchFamily="34" charset="-120"/>
              </a:rPr>
              <a:t>Counting semaphore: implementation</a:t>
            </a:r>
            <a:endParaRPr lang="en-US" sz="2800" dirty="0">
              <a:solidFill>
                <a:srgbClr val="1B2430"/>
              </a:solidFill>
              <a:latin typeface="Arial" pitchFamily="34" charset="0"/>
              <a:ea typeface="Arial" pitchFamily="34" charset="-122"/>
              <a:cs typeface="Arial" pitchFamily="34" charset="-120"/>
            </a:endParaRPr>
          </a:p>
        </p:txBody>
      </p:sp>
      <p:sp>
        <p:nvSpPr>
          <p:cNvPr id="3" name="Text 1"/>
          <p:cNvSpPr txBox="1"/>
          <p:nvPr/>
        </p:nvSpPr>
        <p:spPr>
          <a:xfrm>
            <a:off x="875284" y="1526539"/>
            <a:ext cx="4343400" cy="4754880"/>
          </a:xfrm>
          <a:prstGeom prst="rect">
            <a:avLst/>
          </a:prstGeom>
          <a:noFill/>
          <a:ln>
            <a:noFill/>
          </a:ln>
        </p:spPr>
        <p:txBody>
          <a:bodyPr wrap="square" lIns="0" tIns="0" rIns="0" bIns="0" rtlCol="0" anchor="t">
            <a:normAutofit/>
          </a:bodyPr>
          <a:lstStyle/>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freeInstances counts the free instances; main gives it n permits once the instance lists exist</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Before a party enters, main takes a permit; with all n instances active, acquire() blocks until a run ends</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So no more than n parties are ever in a dungeon at once (requirement a)</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A run returns its permit when its party clears, even after an error, so no permit is ever lost</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If a party cannot start (e.g. no new thread could be created), undoEnter() frees its instance and returns the permit</a:t>
            </a:r>
          </a:p>
        </p:txBody>
      </p:sp>
      <p:sp>
        <p:nvSpPr>
          <p:cNvPr id="4" name="Code card"/>
          <p:cNvSpPr/>
          <p:nvPr/>
        </p:nvSpPr>
        <p:spPr>
          <a:xfrm>
            <a:off x="5504688" y="1526539"/>
            <a:ext cx="6191504" cy="4120896"/>
          </a:xfrm>
          <a:prstGeom prst="rect">
            <a:avLst/>
          </a:prstGeom>
          <a:solidFill>
            <a:srgbClr val="1B2430"/>
          </a:solidFill>
          <a:ln>
            <a:noFill/>
          </a:ln>
        </p:spPr>
        <p:txBody>
          <a:bodyPr rtlCol="0" anchor="ctr"/>
          <a:lstStyle/>
          <a:p>
            <a:endParaRPr lang="en-US"/>
          </a:p>
        </p:txBody>
      </p:sp>
      <p:sp>
        <p:nvSpPr>
          <p:cNvPr id="5" name="Code highlight 1"/>
          <p:cNvSpPr/>
          <p:nvPr/>
        </p:nvSpPr>
        <p:spPr>
          <a:xfrm>
            <a:off x="5559552" y="1872487"/>
            <a:ext cx="6081776" cy="152400"/>
          </a:xfrm>
          <a:prstGeom prst="rect">
            <a:avLst/>
          </a:prstGeom>
          <a:solidFill>
            <a:srgbClr val="2D3C52"/>
          </a:solidFill>
          <a:ln>
            <a:noFill/>
          </a:ln>
        </p:spPr>
        <p:txBody>
          <a:bodyPr rtlCol="0" anchor="ctr"/>
          <a:lstStyle/>
          <a:p>
            <a:endParaRPr lang="en-US"/>
          </a:p>
        </p:txBody>
      </p:sp>
      <p:sp>
        <p:nvSpPr>
          <p:cNvPr id="6" name="Code highlight 1"/>
          <p:cNvSpPr/>
          <p:nvPr/>
        </p:nvSpPr>
        <p:spPr>
          <a:xfrm>
            <a:off x="5559552" y="2291587"/>
            <a:ext cx="6081776" cy="152400"/>
          </a:xfrm>
          <a:prstGeom prst="rect">
            <a:avLst/>
          </a:prstGeom>
          <a:solidFill>
            <a:srgbClr val="2D3C52"/>
          </a:solidFill>
          <a:ln>
            <a:noFill/>
          </a:ln>
        </p:spPr>
        <p:txBody>
          <a:bodyPr rtlCol="0" anchor="ctr"/>
          <a:lstStyle/>
          <a:p>
            <a:endParaRPr lang="en-US"/>
          </a:p>
        </p:txBody>
      </p:sp>
      <p:sp>
        <p:nvSpPr>
          <p:cNvPr id="7" name="Code highlight 2"/>
          <p:cNvSpPr/>
          <p:nvPr/>
        </p:nvSpPr>
        <p:spPr>
          <a:xfrm>
            <a:off x="5559552" y="2710687"/>
            <a:ext cx="6081776" cy="152400"/>
          </a:xfrm>
          <a:prstGeom prst="rect">
            <a:avLst/>
          </a:prstGeom>
          <a:solidFill>
            <a:srgbClr val="2D3C52"/>
          </a:solidFill>
          <a:ln>
            <a:noFill/>
          </a:ln>
        </p:spPr>
        <p:txBody>
          <a:bodyPr rtlCol="0" anchor="ctr"/>
          <a:lstStyle/>
          <a:p>
            <a:endParaRPr lang="en-US"/>
          </a:p>
        </p:txBody>
      </p:sp>
      <p:sp>
        <p:nvSpPr>
          <p:cNvPr id="8" name="Code highlight 3"/>
          <p:cNvSpPr/>
          <p:nvPr/>
        </p:nvSpPr>
        <p:spPr>
          <a:xfrm>
            <a:off x="5559552" y="3421887"/>
            <a:ext cx="6081776" cy="152400"/>
          </a:xfrm>
          <a:prstGeom prst="rect">
            <a:avLst/>
          </a:prstGeom>
          <a:solidFill>
            <a:srgbClr val="2D3C52"/>
          </a:solidFill>
          <a:ln>
            <a:noFill/>
          </a:ln>
        </p:spPr>
        <p:txBody>
          <a:bodyPr rtlCol="0" anchor="ctr"/>
          <a:lstStyle/>
          <a:p>
            <a:endParaRPr lang="en-US"/>
          </a:p>
        </p:txBody>
      </p:sp>
      <p:sp>
        <p:nvSpPr>
          <p:cNvPr id="9" name="Code highlight 4"/>
          <p:cNvSpPr/>
          <p:nvPr/>
        </p:nvSpPr>
        <p:spPr>
          <a:xfrm>
            <a:off x="5559552" y="4552187"/>
            <a:ext cx="6081776" cy="152400"/>
          </a:xfrm>
          <a:prstGeom prst="rect">
            <a:avLst/>
          </a:prstGeom>
          <a:solidFill>
            <a:srgbClr val="2D3C52"/>
          </a:solidFill>
          <a:ln>
            <a:noFill/>
          </a:ln>
        </p:spPr>
        <p:txBody>
          <a:bodyPr rtlCol="0" anchor="ctr"/>
          <a:lstStyle/>
          <a:p>
            <a:endParaRPr lang="en-US"/>
          </a:p>
        </p:txBody>
      </p:sp>
      <p:sp>
        <p:nvSpPr>
          <p:cNvPr id="10" name="Code highlight 5"/>
          <p:cNvSpPr/>
          <p:nvPr/>
        </p:nvSpPr>
        <p:spPr>
          <a:xfrm>
            <a:off x="5559552" y="4971287"/>
            <a:ext cx="6081776" cy="508000"/>
          </a:xfrm>
          <a:prstGeom prst="rect">
            <a:avLst/>
          </a:prstGeom>
          <a:solidFill>
            <a:srgbClr val="2D3C52"/>
          </a:solidFill>
          <a:ln>
            <a:noFill/>
          </a:ln>
        </p:spPr>
        <p:txBody>
          <a:bodyPr rtlCol="0" anchor="ctr"/>
          <a:lstStyle/>
          <a:p>
            <a:endParaRPr lang="en-US"/>
          </a:p>
        </p:txBody>
      </p:sp>
      <p:sp>
        <p:nvSpPr>
          <p:cNvPr id="11" name="Code"/>
          <p:cNvSpPr txBox="1"/>
          <p:nvPr/>
        </p:nvSpPr>
        <p:spPr>
          <a:xfrm>
            <a:off x="5925312" y="1681987"/>
            <a:ext cx="5661152" cy="3810000"/>
          </a:xfrm>
          <a:prstGeom prst="rect">
            <a:avLst/>
          </a:prstGeom>
          <a:noFill/>
          <a:ln>
            <a:noFill/>
          </a:ln>
        </p:spPr>
        <p:txBody>
          <a:bodyPr wrap="none" lIns="0" tIns="0" rIns="0" bIns="0" rtlCol="0" anchor="t">
            <a:noAutofit/>
          </a:bodyPr>
          <a:lstStyle/>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global</a:t>
            </a:r>
          </a:p>
          <a:p>
            <a:pPr marL="0" indent="0" algn="l">
              <a:lnSpc>
                <a:spcPts val="1400"/>
              </a:lnSpc>
              <a:spcBef>
                <a:spcPts val="0"/>
              </a:spcBef>
              <a:spcAft>
                <a:spcPts val="0"/>
              </a:spcAft>
              <a:buNone/>
            </a:pPr>
            <a:r>
              <a:rPr lang="en-US" sz="1200" dirty="0">
                <a:solidFill>
                  <a:srgbClr val="7ED3C0"/>
                </a:solidFill>
                <a:latin typeface="Consolas" pitchFamily="49" charset="0"/>
                <a:ea typeface="Consolas" pitchFamily="49" charset="-122"/>
                <a:cs typeface="Consolas" pitchFamily="49" charset="-120"/>
              </a:rPr>
              <a:t>counting_semaphore</a:t>
            </a:r>
            <a:r>
              <a:rPr lang="en-US" sz="1200" dirty="0">
                <a:solidFill>
                  <a:srgbClr val="DCE3EE"/>
                </a:solidFill>
                <a:latin typeface="Consolas" pitchFamily="49" charset="0"/>
                <a:ea typeface="Consolas" pitchFamily="49" charset="-122"/>
                <a:cs typeface="Consolas" pitchFamily="49" charset="-120"/>
              </a:rPr>
              <a:t>&lt;&gt; freeInstances(</a:t>
            </a:r>
            <a:r>
              <a:rPr lang="en-US" sz="1200" dirty="0">
                <a:solidFill>
                  <a:srgbClr val="F4B26B"/>
                </a:solidFill>
                <a:latin typeface="Consolas" pitchFamily="49" charset="0"/>
                <a:ea typeface="Consolas" pitchFamily="49" charset="-122"/>
                <a:cs typeface="Consolas" pitchFamily="49" charset="-120"/>
              </a:rPr>
              <a:t>0</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main(): once the instance lists are allocated</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freeInstances.release(maxInstances);</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enterDungeon(): main thread, once per party</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freeInstances.acquire();</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7ED3C0"/>
                </a:solidFill>
                <a:latin typeface="Consolas" pitchFamily="49" charset="0"/>
                <a:ea typeface="Consolas" pitchFamily="49" charset="-122"/>
                <a:cs typeface="Consolas" pitchFamily="49" charset="-120"/>
              </a:rPr>
              <a:t>lock_guard</a:t>
            </a:r>
            <a:r>
              <a:rPr lang="en-US" sz="1200" dirty="0">
                <a:solidFill>
                  <a:srgbClr val="DCE3EE"/>
                </a:solidFill>
                <a:latin typeface="Consolas" pitchFamily="49" charset="0"/>
                <a:ea typeface="Consolas" pitchFamily="49" charset="-122"/>
                <a:cs typeface="Consolas" pitchFamily="49" charset="-120"/>
              </a:rPr>
              <a:t>&lt;</a:t>
            </a:r>
            <a:r>
              <a:rPr lang="en-US" sz="1200" dirty="0">
                <a:solidFill>
                  <a:srgbClr val="7ED3C0"/>
                </a:solidFill>
                <a:latin typeface="Consolas" pitchFamily="49" charset="0"/>
                <a:ea typeface="Consolas" pitchFamily="49" charset="-122"/>
                <a:cs typeface="Consolas" pitchFamily="49" charset="-120"/>
              </a:rPr>
              <a:t>mutex</a:t>
            </a:r>
            <a:r>
              <a:rPr lang="en-US" sz="1200" dirty="0">
                <a:solidFill>
                  <a:srgbClr val="DCE3EE"/>
                </a:solidFill>
                <a:latin typeface="Consolas" pitchFamily="49" charset="0"/>
                <a:ea typeface="Consolas" pitchFamily="49" charset="-122"/>
                <a:cs typeface="Consolas" pitchFamily="49" charset="-120"/>
              </a:rPr>
              <a:t>&gt; lock(mtx);</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instance = pickInstance();</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status[instance] = </a:t>
            </a:r>
            <a:r>
              <a:rPr lang="en-US" sz="1200" dirty="0">
                <a:solidFill>
                  <a:srgbClr val="B5DCA0"/>
                </a:solidFill>
                <a:latin typeface="Consolas" pitchFamily="49" charset="0"/>
                <a:ea typeface="Consolas" pitchFamily="49" charset="-122"/>
                <a:cs typeface="Consolas" pitchFamily="49" charset="-120"/>
              </a:rPr>
              <a:t>"active"</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runDungeon(): the party's thread</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this_thread::sleep_for(chrono::seconds(clearTime));</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give the instance back even after an error,</a:t>
            </a:r>
          </a:p>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otherwise enterDungeon could wait for it forever</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freeInstances.release();</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undoEnter(): the party never started</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status[instance] = </a:t>
            </a:r>
            <a:r>
              <a:rPr lang="en-US" sz="1200" dirty="0">
                <a:solidFill>
                  <a:srgbClr val="B5DCA0"/>
                </a:solidFill>
                <a:latin typeface="Consolas" pitchFamily="49" charset="0"/>
                <a:ea typeface="Consolas" pitchFamily="49" charset="-122"/>
                <a:cs typeface="Consolas" pitchFamily="49" charset="-120"/>
              </a:rPr>
              <a:t>"empty"</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freeInstances.release();</a:t>
            </a:r>
          </a:p>
        </p:txBody>
      </p:sp>
      <p:sp>
        <p:nvSpPr>
          <p:cNvPr id="12" name="Code badge 1"/>
          <p:cNvSpPr/>
          <p:nvPr/>
        </p:nvSpPr>
        <p:spPr>
          <a:xfrm>
            <a:off x="5623560" y="1868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1</a:t>
            </a:r>
          </a:p>
        </p:txBody>
      </p:sp>
      <p:sp>
        <p:nvSpPr>
          <p:cNvPr id="13" name="Code badge 1"/>
          <p:cNvSpPr/>
          <p:nvPr/>
        </p:nvSpPr>
        <p:spPr>
          <a:xfrm>
            <a:off x="5623560" y="22877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1</a:t>
            </a:r>
          </a:p>
        </p:txBody>
      </p:sp>
      <p:sp>
        <p:nvSpPr>
          <p:cNvPr id="14" name="Code badge 2"/>
          <p:cNvSpPr/>
          <p:nvPr/>
        </p:nvSpPr>
        <p:spPr>
          <a:xfrm>
            <a:off x="5623560" y="27068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2</a:t>
            </a:r>
          </a:p>
        </p:txBody>
      </p:sp>
      <p:sp>
        <p:nvSpPr>
          <p:cNvPr id="15" name="Code badge 3"/>
          <p:cNvSpPr/>
          <p:nvPr/>
        </p:nvSpPr>
        <p:spPr>
          <a:xfrm>
            <a:off x="5623560" y="34180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3</a:t>
            </a:r>
          </a:p>
        </p:txBody>
      </p:sp>
      <p:sp>
        <p:nvSpPr>
          <p:cNvPr id="16" name="Code badge 4"/>
          <p:cNvSpPr/>
          <p:nvPr/>
        </p:nvSpPr>
        <p:spPr>
          <a:xfrm>
            <a:off x="5623560" y="45483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4</a:t>
            </a:r>
          </a:p>
        </p:txBody>
      </p:sp>
      <p:sp>
        <p:nvSpPr>
          <p:cNvPr id="17" name="Code badge 5"/>
          <p:cNvSpPr/>
          <p:nvPr/>
        </p:nvSpPr>
        <p:spPr>
          <a:xfrm>
            <a:off x="5623560" y="49674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5</a:t>
            </a:r>
          </a:p>
        </p:txBody>
      </p:sp>
      <p:sp>
        <p:nvSpPr>
          <p:cNvPr id="18" name="Code caption"/>
          <p:cNvSpPr txBox="1"/>
          <p:nvPr/>
        </p:nvSpPr>
        <p:spPr>
          <a:xfrm>
            <a:off x="5504688" y="5720587"/>
            <a:ext cx="6191504" cy="603504"/>
          </a:xfrm>
          <a:prstGeom prst="rect">
            <a:avLst/>
          </a:prstGeom>
          <a:noFill/>
          <a:ln>
            <a:noFill/>
          </a:ln>
        </p:spPr>
        <p:txBody>
          <a:bodyPr wrap="square" lIns="0" tIns="0" rIns="0" bIns="0" rtlCol="0" anchor="t">
            <a:noAutofit/>
          </a:bodyPr>
          <a:lstStyle/>
          <a:p>
            <a:pPr algn="l"/>
            <a:r>
              <a:rPr lang="en-US" sz="1100" dirty="0">
                <a:solidFill>
                  <a:srgbClr val="5A6675"/>
                </a:solidFill>
                <a:latin typeface="Arial" pitchFamily="34" charset="0"/>
                <a:ea typeface="Arial" pitchFamily="34" charset="-122"/>
                <a:cs typeface="Arial" pitchFamily="34" charset="-120"/>
              </a:rPr>
              <a:t>Excerpts from the project source, abridged.</a:t>
            </a:r>
          </a:p>
          <a:p>
            <a:pPr algn="l"/>
            <a:r>
              <a:rPr lang="en-US" sz="1100" dirty="0">
                <a:solidFill>
                  <a:srgbClr val="5A6675"/>
                </a:solidFill>
                <a:latin typeface="Arial" pitchFamily="34" charset="0"/>
                <a:ea typeface="Arial" pitchFamily="34" charset="-122"/>
                <a:cs typeface="Arial" pitchFamily="34" charset="-120"/>
              </a:rPr>
              <a:t> </a:t>
            </a:r>
          </a:p>
          <a:p>
            <a:pPr algn="l"/>
            <a:r>
              <a:rPr lang="en-US" sz="1100" dirty="0">
                <a:solidFill>
                  <a:srgbClr val="5A6675"/>
                </a:solidFill>
                <a:latin typeface="Arial" pitchFamily="34" charset="0"/>
                <a:ea typeface="Arial" pitchFamily="34" charset="-122"/>
                <a:cs typeface="Arial" pitchFamily="34" charset="-120"/>
              </a:rPr>
              <a:t>Note: Claude was used in mapping the specific line of code per number to the bullet point.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2430"/>
                </a:solidFill>
                <a:latin typeface="Arial" pitchFamily="34" charset="0"/>
                <a:ea typeface="Arial" pitchFamily="34" charset="-122"/>
                <a:cs typeface="Arial" pitchFamily="34" charset="-120"/>
              </a:rPr>
              <a:t>Mutex and lock_guard: implementation</a:t>
            </a:r>
            <a:endParaRPr lang="en-US" sz="2800" dirty="0">
              <a:solidFill>
                <a:srgbClr val="1B2430"/>
              </a:solidFill>
              <a:latin typeface="Arial" pitchFamily="34" charset="0"/>
              <a:ea typeface="Arial" pitchFamily="34" charset="-122"/>
              <a:cs typeface="Arial" pitchFamily="34" charset="-120"/>
            </a:endParaRPr>
          </a:p>
        </p:txBody>
      </p:sp>
      <p:sp>
        <p:nvSpPr>
          <p:cNvPr id="3" name="Text 1"/>
          <p:cNvSpPr txBox="1"/>
          <p:nvPr/>
        </p:nvSpPr>
        <p:spPr>
          <a:xfrm>
            <a:off x="875284" y="1526539"/>
            <a:ext cx="4343400" cy="4754880"/>
          </a:xfrm>
          <a:prstGeom prst="rect">
            <a:avLst/>
          </a:prstGeom>
          <a:noFill/>
          <a:ln>
            <a:noFill/>
          </a:ln>
        </p:spPr>
        <p:txBody>
          <a:bodyPr wrap="square" lIns="0" tIns="0" rIns="0" bIns="0" rtlCol="0" anchor="t">
            <a:normAutofit/>
          </a:bodyPr>
          <a:lstStyle/>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One mutex, mtx, guards all shared state: status, parties served, time served and the saved error</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Each status change is printed under the same lock, so every printed list is a consistent snapshot</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A run sleeps before it locks, so the lock is held only for a few updates and one print</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Under the lock, pickInstance() takes the empty instance with the fewest parties served</a:t>
            </a:r>
          </a:p>
          <a:p>
            <a:pPr marL="320040" indent="-320040" algn="l">
              <a:lnSpc>
                <a:spcPts val="2200"/>
              </a:lnSpc>
              <a:spcBef>
                <a:spcPts val="0"/>
              </a:spcBef>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lock_guard unlocks even if something throws; a bare lock()/unlock() would stay locked forever</a:t>
            </a:r>
          </a:p>
        </p:txBody>
      </p:sp>
      <p:sp>
        <p:nvSpPr>
          <p:cNvPr id="4" name="Code card"/>
          <p:cNvSpPr/>
          <p:nvPr/>
        </p:nvSpPr>
        <p:spPr>
          <a:xfrm>
            <a:off x="5504688" y="1526539"/>
            <a:ext cx="6191504" cy="4235196"/>
          </a:xfrm>
          <a:prstGeom prst="rect">
            <a:avLst/>
          </a:prstGeom>
          <a:solidFill>
            <a:srgbClr val="1B2430"/>
          </a:solidFill>
          <a:ln>
            <a:noFill/>
          </a:ln>
        </p:spPr>
        <p:txBody>
          <a:bodyPr rtlCol="0" anchor="ctr"/>
          <a:lstStyle/>
          <a:p>
            <a:endParaRPr lang="en-US"/>
          </a:p>
        </p:txBody>
      </p:sp>
      <p:sp>
        <p:nvSpPr>
          <p:cNvPr id="5" name="Code highlight 1"/>
          <p:cNvSpPr/>
          <p:nvPr/>
        </p:nvSpPr>
        <p:spPr>
          <a:xfrm>
            <a:off x="5559552" y="1872487"/>
            <a:ext cx="6081776" cy="152400"/>
          </a:xfrm>
          <a:prstGeom prst="rect">
            <a:avLst/>
          </a:prstGeom>
          <a:solidFill>
            <a:srgbClr val="2D3C52"/>
          </a:solidFill>
          <a:ln>
            <a:noFill/>
          </a:ln>
        </p:spPr>
        <p:txBody>
          <a:bodyPr rtlCol="0" anchor="ctr"/>
          <a:lstStyle/>
          <a:p>
            <a:endParaRPr lang="en-US"/>
          </a:p>
        </p:txBody>
      </p:sp>
      <p:sp>
        <p:nvSpPr>
          <p:cNvPr id="6" name="Code highlight 3"/>
          <p:cNvSpPr/>
          <p:nvPr/>
        </p:nvSpPr>
        <p:spPr>
          <a:xfrm>
            <a:off x="5559552" y="2291587"/>
            <a:ext cx="6081776" cy="152400"/>
          </a:xfrm>
          <a:prstGeom prst="rect">
            <a:avLst/>
          </a:prstGeom>
          <a:solidFill>
            <a:srgbClr val="2D3C52"/>
          </a:solidFill>
          <a:ln>
            <a:noFill/>
          </a:ln>
        </p:spPr>
        <p:txBody>
          <a:bodyPr rtlCol="0" anchor="ctr"/>
          <a:lstStyle/>
          <a:p>
            <a:endParaRPr lang="en-US"/>
          </a:p>
        </p:txBody>
      </p:sp>
      <p:sp>
        <p:nvSpPr>
          <p:cNvPr id="7" name="Code highlight 5"/>
          <p:cNvSpPr/>
          <p:nvPr/>
        </p:nvSpPr>
        <p:spPr>
          <a:xfrm>
            <a:off x="5559552" y="2469387"/>
            <a:ext cx="6081776" cy="152400"/>
          </a:xfrm>
          <a:prstGeom prst="rect">
            <a:avLst/>
          </a:prstGeom>
          <a:solidFill>
            <a:srgbClr val="2D3C52"/>
          </a:solidFill>
          <a:ln>
            <a:noFill/>
          </a:ln>
        </p:spPr>
        <p:txBody>
          <a:bodyPr rtlCol="0" anchor="ctr"/>
          <a:lstStyle/>
          <a:p>
            <a:endParaRPr lang="en-US"/>
          </a:p>
        </p:txBody>
      </p:sp>
      <p:sp>
        <p:nvSpPr>
          <p:cNvPr id="8" name="Code highlight 1"/>
          <p:cNvSpPr/>
          <p:nvPr/>
        </p:nvSpPr>
        <p:spPr>
          <a:xfrm>
            <a:off x="5559552" y="2647187"/>
            <a:ext cx="6081776" cy="508000"/>
          </a:xfrm>
          <a:prstGeom prst="rect">
            <a:avLst/>
          </a:prstGeom>
          <a:solidFill>
            <a:srgbClr val="2D3C52"/>
          </a:solidFill>
          <a:ln>
            <a:noFill/>
          </a:ln>
        </p:spPr>
        <p:txBody>
          <a:bodyPr rtlCol="0" anchor="ctr"/>
          <a:lstStyle/>
          <a:p>
            <a:endParaRPr lang="en-US"/>
          </a:p>
        </p:txBody>
      </p:sp>
      <p:sp>
        <p:nvSpPr>
          <p:cNvPr id="9" name="Code highlight 2"/>
          <p:cNvSpPr/>
          <p:nvPr/>
        </p:nvSpPr>
        <p:spPr>
          <a:xfrm>
            <a:off x="5559552" y="3180587"/>
            <a:ext cx="6081776" cy="330200"/>
          </a:xfrm>
          <a:prstGeom prst="rect">
            <a:avLst/>
          </a:prstGeom>
          <a:solidFill>
            <a:srgbClr val="2D3C52"/>
          </a:solidFill>
          <a:ln>
            <a:noFill/>
          </a:ln>
        </p:spPr>
        <p:txBody>
          <a:bodyPr rtlCol="0" anchor="ctr"/>
          <a:lstStyle/>
          <a:p>
            <a:endParaRPr lang="en-US"/>
          </a:p>
        </p:txBody>
      </p:sp>
      <p:sp>
        <p:nvSpPr>
          <p:cNvPr id="10" name="Code highlight 2"/>
          <p:cNvSpPr/>
          <p:nvPr/>
        </p:nvSpPr>
        <p:spPr>
          <a:xfrm>
            <a:off x="5559552" y="3777487"/>
            <a:ext cx="6081776" cy="508000"/>
          </a:xfrm>
          <a:prstGeom prst="rect">
            <a:avLst/>
          </a:prstGeom>
          <a:solidFill>
            <a:srgbClr val="2D3C52"/>
          </a:solidFill>
          <a:ln>
            <a:noFill/>
          </a:ln>
        </p:spPr>
        <p:txBody>
          <a:bodyPr rtlCol="0" anchor="ctr"/>
          <a:lstStyle/>
          <a:p>
            <a:endParaRPr lang="en-US"/>
          </a:p>
        </p:txBody>
      </p:sp>
      <p:sp>
        <p:nvSpPr>
          <p:cNvPr id="11" name="Code highlight 4"/>
          <p:cNvSpPr/>
          <p:nvPr/>
        </p:nvSpPr>
        <p:spPr>
          <a:xfrm>
            <a:off x="5559552" y="4729987"/>
            <a:ext cx="6081776" cy="330200"/>
          </a:xfrm>
          <a:prstGeom prst="rect">
            <a:avLst/>
          </a:prstGeom>
          <a:solidFill>
            <a:srgbClr val="2D3C52"/>
          </a:solidFill>
          <a:ln>
            <a:noFill/>
          </a:ln>
        </p:spPr>
        <p:txBody>
          <a:bodyPr rtlCol="0" anchor="ctr"/>
          <a:lstStyle/>
          <a:p>
            <a:endParaRPr lang="en-US"/>
          </a:p>
        </p:txBody>
      </p:sp>
      <p:sp>
        <p:nvSpPr>
          <p:cNvPr id="12" name="Code"/>
          <p:cNvSpPr txBox="1"/>
          <p:nvPr/>
        </p:nvSpPr>
        <p:spPr>
          <a:xfrm>
            <a:off x="5925312" y="1681987"/>
            <a:ext cx="5661152" cy="3924300"/>
          </a:xfrm>
          <a:prstGeom prst="rect">
            <a:avLst/>
          </a:prstGeom>
          <a:noFill/>
          <a:ln>
            <a:noFill/>
          </a:ln>
        </p:spPr>
        <p:txBody>
          <a:bodyPr wrap="none" lIns="0" tIns="0" rIns="0" bIns="0" rtlCol="0" anchor="t">
            <a:noAutofit/>
          </a:bodyPr>
          <a:lstStyle/>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global</a:t>
            </a:r>
          </a:p>
          <a:p>
            <a:pPr marL="0" indent="0" algn="l">
              <a:lnSpc>
                <a:spcPts val="1400"/>
              </a:lnSpc>
              <a:spcBef>
                <a:spcPts val="0"/>
              </a:spcBef>
              <a:spcAft>
                <a:spcPts val="0"/>
              </a:spcAft>
              <a:buNone/>
            </a:pPr>
            <a:r>
              <a:rPr lang="en-US" sz="1200" dirty="0">
                <a:solidFill>
                  <a:srgbClr val="7ED3C0"/>
                </a:solidFill>
                <a:latin typeface="Consolas" pitchFamily="49" charset="0"/>
                <a:ea typeface="Consolas" pitchFamily="49" charset="-122"/>
                <a:cs typeface="Consolas" pitchFamily="49" charset="-120"/>
              </a:rPr>
              <a:t>mutex</a:t>
            </a:r>
            <a:r>
              <a:rPr lang="en-US" sz="1200" dirty="0">
                <a:solidFill>
                  <a:srgbClr val="DCE3EE"/>
                </a:solidFill>
                <a:latin typeface="Consolas" pitchFamily="49" charset="0"/>
                <a:ea typeface="Consolas" pitchFamily="49" charset="-122"/>
                <a:cs typeface="Consolas" pitchFamily="49" charset="-120"/>
              </a:rPr>
              <a:t> mtx;</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runDungeon(): the party's thread</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this_thread::sleep_for(chrono::seconds(clearTime));</a:t>
            </a:r>
          </a:p>
          <a:p>
            <a:pPr marL="0" indent="0" algn="l">
              <a:lnSpc>
                <a:spcPts val="1400"/>
              </a:lnSpc>
              <a:spcBef>
                <a:spcPts val="0"/>
              </a:spcBef>
              <a:spcAft>
                <a:spcPts val="0"/>
              </a:spcAft>
              <a:buNone/>
            </a:pPr>
            <a:r>
              <a:rPr lang="en-US" sz="1200" dirty="0">
                <a:solidFill>
                  <a:srgbClr val="7ED3C0"/>
                </a:solidFill>
                <a:latin typeface="Consolas" pitchFamily="49" charset="0"/>
                <a:ea typeface="Consolas" pitchFamily="49" charset="-122"/>
                <a:cs typeface="Consolas" pitchFamily="49" charset="-120"/>
              </a:rPr>
              <a:t>lock_guard</a:t>
            </a:r>
            <a:r>
              <a:rPr lang="en-US" sz="1200" dirty="0">
                <a:solidFill>
                  <a:srgbClr val="DCE3EE"/>
                </a:solidFill>
                <a:latin typeface="Consolas" pitchFamily="49" charset="0"/>
                <a:ea typeface="Consolas" pitchFamily="49" charset="-122"/>
                <a:cs typeface="Consolas" pitchFamily="49" charset="-120"/>
              </a:rPr>
              <a:t>&lt;</a:t>
            </a:r>
            <a:r>
              <a:rPr lang="en-US" sz="1200" dirty="0">
                <a:solidFill>
                  <a:srgbClr val="7ED3C0"/>
                </a:solidFill>
                <a:latin typeface="Consolas" pitchFamily="49" charset="0"/>
                <a:ea typeface="Consolas" pitchFamily="49" charset="-122"/>
                <a:cs typeface="Consolas" pitchFamily="49" charset="-120"/>
              </a:rPr>
              <a:t>mutex</a:t>
            </a:r>
            <a:r>
              <a:rPr lang="en-US" sz="1200" dirty="0">
                <a:solidFill>
                  <a:srgbClr val="DCE3EE"/>
                </a:solidFill>
                <a:latin typeface="Consolas" pitchFamily="49" charset="0"/>
                <a:ea typeface="Consolas" pitchFamily="49" charset="-122"/>
                <a:cs typeface="Consolas" pitchFamily="49" charset="-120"/>
              </a:rPr>
              <a:t>&gt; lock(mtx);</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status[instance] = </a:t>
            </a:r>
            <a:r>
              <a:rPr lang="en-US" sz="1200" dirty="0">
                <a:solidFill>
                  <a:srgbClr val="B5DCA0"/>
                </a:solidFill>
                <a:latin typeface="Consolas" pitchFamily="49" charset="0"/>
                <a:ea typeface="Consolas" pitchFamily="49" charset="-122"/>
                <a:cs typeface="Consolas" pitchFamily="49" charset="-120"/>
              </a:rPr>
              <a:t>"empty"</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partiesServed[instance]++;</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timeServed[instance] += clearTime;</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printEvent(</a:t>
            </a:r>
            <a:r>
              <a:rPr lang="en-US" sz="1200" dirty="0">
                <a:solidFill>
                  <a:srgbClr val="B5DCA0"/>
                </a:solidFill>
                <a:latin typeface="Consolas" pitchFamily="49" charset="0"/>
                <a:ea typeface="Consolas" pitchFamily="49" charset="-122"/>
                <a:cs typeface="Consolas" pitchFamily="49" charset="-120"/>
              </a:rPr>
              <a:t>"Party "</a:t>
            </a:r>
            <a:r>
              <a:rPr lang="en-US" sz="1200" dirty="0">
                <a:solidFill>
                  <a:srgbClr val="DCE3EE"/>
                </a:solidFill>
                <a:latin typeface="Consolas" pitchFamily="49" charset="0"/>
                <a:ea typeface="Consolas" pitchFamily="49" charset="-122"/>
                <a:cs typeface="Consolas" pitchFamily="49" charset="-120"/>
              </a:rPr>
              <a:t> + to_string(party) + </a:t>
            </a:r>
            <a:r>
              <a:rPr lang="en-US" sz="1200" dirty="0">
                <a:solidFill>
                  <a:srgbClr val="B5DCA0"/>
                </a:solidFill>
                <a:latin typeface="Consolas" pitchFamily="49" charset="0"/>
                <a:ea typeface="Consolas" pitchFamily="49" charset="-122"/>
                <a:cs typeface="Consolas" pitchFamily="49" charset="-120"/>
              </a:rPr>
              <a:t>" cleared Instance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 to_string(instance + </a:t>
            </a:r>
            <a:r>
              <a:rPr lang="en-US" sz="1200" dirty="0">
                <a:solidFill>
                  <a:srgbClr val="F4B26B"/>
                </a:solidFill>
                <a:latin typeface="Consolas" pitchFamily="49" charset="0"/>
                <a:ea typeface="Consolas" pitchFamily="49" charset="-122"/>
                <a:cs typeface="Consolas" pitchFamily="49" charset="-120"/>
              </a:rPr>
              <a:t>1</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printEvent(): only call this while holding mtx</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cout &lt;&lt; </a:t>
            </a:r>
            <a:r>
              <a:rPr lang="en-US" sz="1200" dirty="0">
                <a:solidFill>
                  <a:srgbClr val="B5DCA0"/>
                </a:solidFill>
                <a:latin typeface="Consolas" pitchFamily="49" charset="0"/>
                <a:ea typeface="Consolas" pitchFamily="49" charset="-122"/>
                <a:cs typeface="Consolas" pitchFamily="49" charset="-120"/>
              </a:rPr>
              <a:t>"["</a:t>
            </a:r>
            <a:r>
              <a:rPr lang="en-US" sz="1200" dirty="0">
                <a:solidFill>
                  <a:srgbClr val="DCE3EE"/>
                </a:solidFill>
                <a:latin typeface="Consolas" pitchFamily="49" charset="0"/>
                <a:ea typeface="Consolas" pitchFamily="49" charset="-122"/>
                <a:cs typeface="Consolas" pitchFamily="49" charset="-120"/>
              </a:rPr>
              <a:t> &lt;&lt; fixed &lt;&lt; setprecision(</a:t>
            </a:r>
            <a:r>
              <a:rPr lang="en-US" sz="1200" dirty="0">
                <a:solidFill>
                  <a:srgbClr val="F4B26B"/>
                </a:solidFill>
                <a:latin typeface="Consolas" pitchFamily="49" charset="0"/>
                <a:ea typeface="Consolas" pitchFamily="49" charset="-122"/>
                <a:cs typeface="Consolas" pitchFamily="49" charset="-120"/>
              </a:rPr>
              <a:t>1</a:t>
            </a:r>
            <a:r>
              <a:rPr lang="en-US" sz="1200" dirty="0">
                <a:solidFill>
                  <a:srgbClr val="DCE3EE"/>
                </a:solidFill>
                <a:latin typeface="Consolas" pitchFamily="49" charset="0"/>
                <a:ea typeface="Consolas" pitchFamily="49" charset="-122"/>
                <a:cs typeface="Consolas" pitchFamily="49" charset="-120"/>
              </a:rPr>
              <a:t>) &lt;&lt; elapsed() &lt;&lt; </a:t>
            </a:r>
            <a:r>
              <a:rPr lang="en-US" sz="1200" dirty="0">
                <a:solidFill>
                  <a:srgbClr val="B5DCA0"/>
                </a:solidFill>
                <a:latin typeface="Consolas" pitchFamily="49" charset="0"/>
                <a:ea typeface="Consolas" pitchFamily="49" charset="-122"/>
                <a:cs typeface="Consolas" pitchFamily="49" charset="-120"/>
              </a:rPr>
              <a:t>"s]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&lt;&lt; message &lt;&lt; </a:t>
            </a:r>
            <a:r>
              <a:rPr lang="en-US" sz="1200" dirty="0">
                <a:solidFill>
                  <a:srgbClr val="B5DCA0"/>
                </a:solidFill>
                <a:latin typeface="Consolas" pitchFamily="49" charset="0"/>
                <a:ea typeface="Consolas" pitchFamily="49" charset="-122"/>
                <a:cs typeface="Consolas" pitchFamily="49" charset="-120"/>
              </a:rPr>
              <a:t>"\n"</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printStatus();</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pickInstance(): the empty instance with the fewest parties</a:t>
            </a:r>
          </a:p>
          <a:p>
            <a:pPr marL="0" indent="0" algn="l">
              <a:lnSpc>
                <a:spcPts val="1400"/>
              </a:lnSpc>
              <a:spcBef>
                <a:spcPts val="0"/>
              </a:spcBef>
              <a:spcAft>
                <a:spcPts val="0"/>
              </a:spcAft>
              <a:buNone/>
            </a:pPr>
            <a:r>
              <a:rPr lang="en-US" sz="1200" dirty="0">
                <a:solidFill>
                  <a:srgbClr val="8EC1F5"/>
                </a:solidFill>
                <a:latin typeface="Consolas" pitchFamily="49" charset="0"/>
                <a:ea typeface="Consolas" pitchFamily="49" charset="-122"/>
                <a:cs typeface="Consolas" pitchFamily="49" charset="-120"/>
              </a:rPr>
              <a:t>for</a:t>
            </a: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int</a:t>
            </a:r>
            <a:r>
              <a:rPr lang="en-US" sz="1200" dirty="0">
                <a:solidFill>
                  <a:srgbClr val="DCE3EE"/>
                </a:solidFill>
                <a:latin typeface="Consolas" pitchFamily="49" charset="0"/>
                <a:ea typeface="Consolas" pitchFamily="49" charset="-122"/>
                <a:cs typeface="Consolas" pitchFamily="49" charset="-120"/>
              </a:rPr>
              <a:t> i = </a:t>
            </a:r>
            <a:r>
              <a:rPr lang="en-US" sz="1200" dirty="0">
                <a:solidFill>
                  <a:srgbClr val="F4B26B"/>
                </a:solidFill>
                <a:latin typeface="Consolas" pitchFamily="49" charset="0"/>
                <a:ea typeface="Consolas" pitchFamily="49" charset="-122"/>
                <a:cs typeface="Consolas" pitchFamily="49" charset="-120"/>
              </a:rPr>
              <a:t>0</a:t>
            </a:r>
            <a:r>
              <a:rPr lang="en-US" sz="1200" dirty="0">
                <a:solidFill>
                  <a:srgbClr val="DCE3EE"/>
                </a:solidFill>
                <a:latin typeface="Consolas" pitchFamily="49" charset="0"/>
                <a:ea typeface="Consolas" pitchFamily="49" charset="-122"/>
                <a:cs typeface="Consolas" pitchFamily="49" charset="-120"/>
              </a:rPr>
              <a:t>; i &lt; maxInstances; i++)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if</a:t>
            </a:r>
            <a:r>
              <a:rPr lang="en-US" sz="1200" dirty="0">
                <a:solidFill>
                  <a:srgbClr val="DCE3EE"/>
                </a:solidFill>
                <a:latin typeface="Consolas" pitchFamily="49" charset="0"/>
                <a:ea typeface="Consolas" pitchFamily="49" charset="-122"/>
                <a:cs typeface="Consolas" pitchFamily="49" charset="-120"/>
              </a:rPr>
              <a:t> (status[i] == </a:t>
            </a:r>
            <a:r>
              <a:rPr lang="en-US" sz="1200" dirty="0">
                <a:solidFill>
                  <a:srgbClr val="B5DCA0"/>
                </a:solidFill>
                <a:latin typeface="Consolas" pitchFamily="49" charset="0"/>
                <a:ea typeface="Consolas" pitchFamily="49" charset="-122"/>
                <a:cs typeface="Consolas" pitchFamily="49" charset="-120"/>
              </a:rPr>
              <a:t>"empty"</a:t>
            </a:r>
            <a:r>
              <a:rPr lang="en-US" sz="1200" dirty="0">
                <a:solidFill>
                  <a:srgbClr val="DCE3EE"/>
                </a:solidFill>
                <a:latin typeface="Consolas" pitchFamily="49" charset="0"/>
                <a:ea typeface="Consolas" pitchFamily="49" charset="-122"/>
                <a:cs typeface="Consolas" pitchFamily="49" charset="-120"/>
              </a:rPr>
              <a:t> &amp;&amp; (best == -</a:t>
            </a:r>
            <a:r>
              <a:rPr lang="en-US" sz="1200" dirty="0">
                <a:solidFill>
                  <a:srgbClr val="F4B26B"/>
                </a:solidFill>
                <a:latin typeface="Consolas" pitchFamily="49" charset="0"/>
                <a:ea typeface="Consolas" pitchFamily="49" charset="-122"/>
                <a:cs typeface="Consolas" pitchFamily="49" charset="-120"/>
              </a:rPr>
              <a:t>1</a:t>
            </a: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partiesServed[i] &lt; partiesServed[best]))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best = i;</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p:txBody>
      </p:sp>
      <p:sp>
        <p:nvSpPr>
          <p:cNvPr id="13" name="Code badge 1"/>
          <p:cNvSpPr/>
          <p:nvPr/>
        </p:nvSpPr>
        <p:spPr>
          <a:xfrm>
            <a:off x="5623560" y="1868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1</a:t>
            </a:r>
          </a:p>
        </p:txBody>
      </p:sp>
      <p:sp>
        <p:nvSpPr>
          <p:cNvPr id="14" name="Code badge 3"/>
          <p:cNvSpPr/>
          <p:nvPr/>
        </p:nvSpPr>
        <p:spPr>
          <a:xfrm>
            <a:off x="5623560" y="22877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3</a:t>
            </a:r>
          </a:p>
        </p:txBody>
      </p:sp>
      <p:sp>
        <p:nvSpPr>
          <p:cNvPr id="15" name="Code badge 5"/>
          <p:cNvSpPr/>
          <p:nvPr/>
        </p:nvSpPr>
        <p:spPr>
          <a:xfrm>
            <a:off x="5623560" y="24655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5</a:t>
            </a:r>
          </a:p>
        </p:txBody>
      </p:sp>
      <p:sp>
        <p:nvSpPr>
          <p:cNvPr id="16" name="Code badge 1"/>
          <p:cNvSpPr/>
          <p:nvPr/>
        </p:nvSpPr>
        <p:spPr>
          <a:xfrm>
            <a:off x="5623560" y="26433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1</a:t>
            </a:r>
          </a:p>
        </p:txBody>
      </p:sp>
      <p:sp>
        <p:nvSpPr>
          <p:cNvPr id="17" name="Code badge 2"/>
          <p:cNvSpPr/>
          <p:nvPr/>
        </p:nvSpPr>
        <p:spPr>
          <a:xfrm>
            <a:off x="5623560" y="31767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2</a:t>
            </a:r>
          </a:p>
        </p:txBody>
      </p:sp>
      <p:sp>
        <p:nvSpPr>
          <p:cNvPr id="18" name="Code badge 2"/>
          <p:cNvSpPr/>
          <p:nvPr/>
        </p:nvSpPr>
        <p:spPr>
          <a:xfrm>
            <a:off x="5623560" y="3773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2</a:t>
            </a:r>
          </a:p>
        </p:txBody>
      </p:sp>
      <p:sp>
        <p:nvSpPr>
          <p:cNvPr id="19" name="Code badge 4"/>
          <p:cNvSpPr/>
          <p:nvPr/>
        </p:nvSpPr>
        <p:spPr>
          <a:xfrm>
            <a:off x="5623560" y="47261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ea typeface="Arial" pitchFamily="34" charset="-122"/>
                <a:cs typeface="Arial" pitchFamily="34" charset="-120"/>
              </a:rPr>
              <a:t>4</a:t>
            </a:r>
          </a:p>
        </p:txBody>
      </p:sp>
      <p:sp>
        <p:nvSpPr>
          <p:cNvPr id="20" name="Code caption"/>
          <p:cNvSpPr txBox="1"/>
          <p:nvPr/>
        </p:nvSpPr>
        <p:spPr>
          <a:xfrm>
            <a:off x="5504688" y="5834887"/>
            <a:ext cx="6191504" cy="603504"/>
          </a:xfrm>
          <a:prstGeom prst="rect">
            <a:avLst/>
          </a:prstGeom>
          <a:noFill/>
          <a:ln>
            <a:noFill/>
          </a:ln>
        </p:spPr>
        <p:txBody>
          <a:bodyPr wrap="square" lIns="0" tIns="0" rIns="0" bIns="0" rtlCol="0" anchor="t">
            <a:noAutofit/>
          </a:bodyPr>
          <a:lstStyle/>
          <a:p>
            <a:pPr algn="l"/>
            <a:r>
              <a:rPr lang="en-US" sz="1100" dirty="0">
                <a:solidFill>
                  <a:srgbClr val="5A6675"/>
                </a:solidFill>
                <a:latin typeface="Arial" pitchFamily="34" charset="0"/>
                <a:ea typeface="Arial" pitchFamily="34" charset="-122"/>
                <a:cs typeface="Arial" pitchFamily="34" charset="-120"/>
              </a:rPr>
              <a:t>Excerpts from the project source, abridged.</a:t>
            </a:r>
          </a:p>
          <a:p>
            <a:pPr algn="l"/>
            <a:r>
              <a:rPr lang="en-US" sz="1100" dirty="0">
                <a:solidFill>
                  <a:srgbClr val="5A6675"/>
                </a:solidFill>
                <a:latin typeface="Arial" pitchFamily="34" charset="0"/>
                <a:ea typeface="Arial" pitchFamily="34" charset="-122"/>
                <a:cs typeface="Arial" pitchFamily="34" charset="-120"/>
              </a:rPr>
              <a:t> </a:t>
            </a:r>
          </a:p>
          <a:p>
            <a:pPr algn="l"/>
            <a:r>
              <a:rPr lang="en-US" sz="1100" dirty="0">
                <a:solidFill>
                  <a:srgbClr val="5A6675"/>
                </a:solidFill>
                <a:latin typeface="Arial" pitchFamily="34" charset="0"/>
                <a:ea typeface="Arial" pitchFamily="34" charset="-122"/>
                <a:cs typeface="Arial" pitchFamily="34" charset="-120"/>
              </a:rPr>
              <a:t>Note: Claude was used in mapping the specific line of code per number to the bullet 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2430"/>
                </a:solidFill>
                <a:latin typeface="Arial" pitchFamily="34" charset="0"/>
                <a:ea typeface="Arial" pitchFamily="34" charset="-122"/>
                <a:cs typeface="Arial" pitchFamily="34" charset="-120"/>
              </a:rPr>
              <a:t>Summary</a:t>
            </a:r>
            <a:endParaRPr lang="en-US" sz="2800" dirty="0">
              <a:solidFill>
                <a:srgbClr val="1B2430"/>
              </a:solidFill>
              <a:latin typeface="Arial" pitchFamily="34" charset="0"/>
              <a:ea typeface="Arial" pitchFamily="34" charset="-122"/>
              <a:cs typeface="Arial" pitchFamily="34" charset="-120"/>
            </a:endParaRPr>
          </a:p>
        </p:txBody>
      </p:sp>
      <p:graphicFrame>
        <p:nvGraphicFramePr>
          <p:cNvPr id="3" name="Table 0"/>
          <p:cNvGraphicFramePr>
            <a:graphicFrameLocks noGrp="1"/>
          </p:cNvGraphicFramePr>
          <p:nvPr/>
        </p:nvGraphicFramePr>
        <p:xfrm>
          <a:off x="822960" y="1536192"/>
          <a:ext cx="10556664" cy="3511296"/>
        </p:xfrm>
        <a:graphic>
          <a:graphicData uri="http://schemas.openxmlformats.org/drawingml/2006/table">
            <a:tbl>
              <a:tblPr/>
              <a:tblGrid>
                <a:gridCol w="2514600"/>
                <a:gridCol w="8042064"/>
              </a:tblGrid>
              <a:tr h="438912">
                <a:tc>
                  <a:txBody>
                    <a:bodyPr/>
                    <a:lstStyle/>
                    <a:p>
                      <a:pPr marL="0" indent="0">
                        <a:lnSpc>
                          <a:spcPts val="1900"/>
                        </a:lnSpc>
                        <a:buNone/>
                      </a:pPr>
                      <a:r>
                        <a:rPr lang="en-US" sz="1600" b="1" dirty="0">
                          <a:solidFill>
                            <a:srgbClr val="2F3A48"/>
                          </a:solidFill>
                          <a:latin typeface="Arial" pitchFamily="34" charset="0"/>
                          <a:ea typeface="Arial" pitchFamily="34" charset="-122"/>
                          <a:cs typeface="Arial" pitchFamily="34" charset="-120"/>
                        </a:rPr>
                        <a:t>Requirement</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1900"/>
                        </a:lnSpc>
                        <a:buNone/>
                      </a:pPr>
                      <a:r>
                        <a:rPr lang="en-US" sz="1600" b="1" dirty="0">
                          <a:solidFill>
                            <a:srgbClr val="2F3A48"/>
                          </a:solidFill>
                          <a:latin typeface="Arial" pitchFamily="34" charset="0"/>
                          <a:ea typeface="Arial" pitchFamily="34" charset="-122"/>
                          <a:cs typeface="Arial" pitchFamily="34" charset="-120"/>
                        </a:rPr>
                        <a:t>How the program meets it</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r>
              <a:tr h="438912">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(a) At most n instances</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A counting semaphore with n permits: acquire() to enter, release() after clearing</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438912">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(b) Party makeup</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min(t, h, d / 3) full parties of 1 tank, 1 healer, 3 DPS; leftover players are reported</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438912">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(c) No deadlock</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Instance before lock, never the reverse; only full parties; lock_guard; no lost permits</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438912">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(d) No starvation</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Parties enter in queue order from one thread; every run ends within t2 ≤ 15 s</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438912">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(e) Same arrival time</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Every party is formed at the start, before the first one enters</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438912">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(f) Random clear time</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Drawn at random from t1 to t2 per party; the config loader checks t1 ≤ t2 ≤ 15</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438912">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Output</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Every instance's status (active or empty) after each event; parties served and total time served per instance at the end</a:t>
                      </a: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249</TotalTime>
  <Application>Microsoft Office PowerPoint</Application>
  <PresentationFormat>Widescreen</PresentationFormat>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Consolas</vt:lpstr>
      <vt:lpstr>Office Theme</vt:lpstr>
      <vt:lpstr>Problem Set 2 - Group Synchronization</vt:lpstr>
      <vt:lpstr>LFG queue: implementation</vt:lpstr>
      <vt:lpstr>Possible deadlock: locking before waiting</vt:lpstr>
      <vt:lpstr>Possible deadlock: other ways to wait forever</vt:lpstr>
      <vt:lpstr>Possible starvation: every wait is bounded</vt:lpstr>
      <vt:lpstr>Synchronization mechanisms used</vt:lpstr>
      <vt:lpstr>Counting semaphore: implementation</vt:lpstr>
      <vt:lpstr>Mutex and lock_guard: implementation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Synchronization Analysis</dc:title>
  <dc:subject/>
  <dc:creator/>
  <cp:lastModifiedBy>Clarence Ang</cp:lastModifiedBy>
  <cp:revision>1</cp:revision>
  <dcterms:created xsi:type="dcterms:W3CDTF">2026-10-07T16:45:58Z</dcterms:created>
  <dcterms:modified xsi:type="dcterms:W3CDTF">2026-10-10T15:16:50Z</dcterms:modified>
</cp:coreProperties>
</file>