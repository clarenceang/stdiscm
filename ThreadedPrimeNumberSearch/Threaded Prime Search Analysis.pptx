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6"/>
  </p:notesMasterIdLst>
  <p:sldIdLst>
    <p:sldId id="266" r:id="rId2"/>
    <p:sldId id="258" r:id="rId3"/>
    <p:sldId id="259" r:id="rId4"/>
    <p:sldId id="267" r:id="rId5"/>
    <p:sldId id="268" r:id="rId6"/>
    <p:sldId id="271" r:id="rId7"/>
    <p:sldId id="272" r:id="rId8"/>
    <p:sldId id="273" r:id="rId9"/>
    <p:sldId id="274" r:id="rId10"/>
    <p:sldId id="275" r:id="rId11"/>
    <p:sldId id="261" r:id="rId12"/>
    <p:sldId id="270" r:id="rId13"/>
    <p:sldId id="269" r:id="rId14"/>
    <p:sldId id="265" r:id="rId1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10"/>
  </p:normalViewPr>
  <p:slideViewPr>
    <p:cSldViewPr snapToGrid="0" snapToObjects="1">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2F3A48"/>
                </a:solidFill>
                <a:latin typeface="Arial"/>
              </a:rPr>
              <a:t>Search time saved by doubling the thread count</a:t>
            </a:r>
          </a:p>
        </c:rich>
      </c:tx>
      <c:overlay val="0"/>
    </c:title>
    <c:autoTitleDeleted val="0"/>
    <c:plotArea>
      <c:layout/>
      <c:barChart>
        <c:barDir val="col"/>
        <c:grouping val="clustered"/>
        <c:varyColors val="1"/>
        <c:ser>
          <c:idx val="0"/>
          <c:order val="0"/>
          <c:tx>
            <c:strRef>
              <c:f>Sheet1!$B$1</c:f>
              <c:strCache>
                <c:ptCount val="1"/>
                <c:pt idx="0">
                  <c:v>Time saved (ms)</c:v>
                </c:pt>
              </c:strCache>
            </c:strRef>
          </c:tx>
          <c:spPr>
            <a:solidFill>
              <a:srgbClr val="156082"/>
            </a:solidFill>
          </c:spPr>
          <c:invertIfNegative val="1"/>
          <c:dLbls>
            <c:numFmt formatCode="0.00&quot; ms&quot;" sourceLinked="0"/>
            <c:spPr>
              <a:noFill/>
              <a:ln>
                <a:noFill/>
              </a:ln>
              <a:effectLst/>
            </c:spPr>
            <c:txPr>
              <a:bodyPr/>
              <a:lstStyle/>
              <a:p>
                <a:pPr>
                  <a:defRPr sz="1400" b="1">
                    <a:solidFill>
                      <a:srgbClr val="2F3A48"/>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 2</c:v>
                </c:pt>
                <c:pt idx="1">
                  <c:v>2 → 4</c:v>
                </c:pt>
                <c:pt idx="2">
                  <c:v>4 → 8</c:v>
                </c:pt>
                <c:pt idx="3">
                  <c:v>8 → 16</c:v>
                </c:pt>
              </c:strCache>
            </c:strRef>
          </c:cat>
          <c:val>
            <c:numRef>
              <c:f>Sheet1!$B$2:$B$5</c:f>
              <c:numCache>
                <c:formatCode>General</c:formatCode>
                <c:ptCount val="4"/>
                <c:pt idx="0">
                  <c:v>1.4219999999999999</c:v>
                </c:pt>
                <c:pt idx="1">
                  <c:v>1.1559999999999999</c:v>
                </c:pt>
                <c:pt idx="2">
                  <c:v>0.31900000000000001</c:v>
                </c:pt>
                <c:pt idx="3">
                  <c:v>0.153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FB9-4501-AD8F-78C1144A593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title>
          <c:tx>
            <c:rich>
              <a:bodyPr/>
              <a:lstStyle/>
              <a:p>
                <a:r>
                  <a:rPr lang="en-US" sz="1200" b="0">
                    <a:solidFill>
                      <a:srgbClr val="5A6675"/>
                    </a:solidFill>
                    <a:latin typeface="Arial"/>
                  </a:rPr>
                  <a:t>Threads doubled (from → to)</a:t>
                </a:r>
              </a:p>
            </c:rich>
          </c:tx>
          <c:overlay val="0"/>
        </c:title>
        <c:numFmt formatCode="General" sourceLinked="0"/>
        <c:majorTickMark val="out"/>
        <c:minorTickMark val="none"/>
        <c:tickLblPos val="nextTo"/>
        <c:spPr>
          <a:ln w="12700">
            <a:solidFill>
              <a:srgbClr val="B5BBC3"/>
            </a:solidFill>
          </a:ln>
        </c:spPr>
        <c:txPr>
          <a:bodyPr/>
          <a:lstStyle/>
          <a:p>
            <a:pPr>
              <a:defRPr sz="1200">
                <a:solidFill>
                  <a:srgbClr val="2F3A48"/>
                </a:solidFill>
              </a:defRPr>
            </a:pPr>
            <a:endParaRPr lang="en-US"/>
          </a:p>
        </c:txPr>
        <c:crossAx val="-2113994440"/>
        <c:crosses val="autoZero"/>
        <c:auto val="1"/>
        <c:lblAlgn val="ctr"/>
        <c:lblOffset val="100"/>
        <c:noMultiLvlLbl val="0"/>
      </c:catAx>
      <c:valAx>
        <c:axId val="-2113994440"/>
        <c:scaling>
          <c:orientation val="minMax"/>
          <c:max val="1.7"/>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2F3A4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400" b="1">
                <a:solidFill>
                  <a:srgbClr val="2F3A48"/>
                </a:solidFill>
                <a:latin typeface="Arial"/>
              </a:rPr>
              <a:t>Speedup vs. 1 thread (straight division)</a:t>
            </a:r>
          </a:p>
        </c:rich>
      </c:tx>
      <c:overlay val="0"/>
    </c:title>
    <c:autoTitleDeleted val="0"/>
    <c:plotArea>
      <c:layout/>
      <c:scatterChart>
        <c:scatterStyle val="smoothMarker"/>
        <c:varyColors val="0"/>
        <c:ser>
          <c:idx val="0"/>
          <c:order val="0"/>
          <c:tx>
            <c:strRef>
              <c:f>Sheet1!$B$1</c:f>
              <c:strCache>
                <c:ptCount val="1"/>
                <c:pt idx="0">
                  <c:v>Speedup</c:v>
                </c:pt>
              </c:strCache>
            </c:strRef>
          </c:tx>
          <c:spPr>
            <a:ln w="38100">
              <a:solidFill>
                <a:srgbClr val="156082"/>
              </a:solidFill>
            </a:ln>
          </c:spPr>
          <c:marker>
            <c:symbol val="circle"/>
            <c:size val="7"/>
            <c:spPr>
              <a:solidFill>
                <a:srgbClr val="156082"/>
              </a:solidFill>
              <a:ln>
                <a:solidFill>
                  <a:srgbClr val="FFFFFF"/>
                </a:solidFill>
              </a:ln>
            </c:spPr>
          </c:marker>
          <c:dLbls>
            <c:dLbl>
              <c:idx val="3"/>
              <c:tx>
                <c:rich>
                  <a:bodyPr/>
                  <a:lstStyle/>
                  <a:p>
                    <a:r>
                      <a:rPr lang="en-US" sz="1200" b="0">
                        <a:solidFill>
                          <a:srgbClr val="2F3A48"/>
                        </a:solidFill>
                        <a:latin typeface="Arial"/>
                      </a:rPr>
                      <a:t>2.0×</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B55-4AA9-B823-4CE2E74DAD03}"/>
                </c:ext>
              </c:extLst>
            </c:dLbl>
            <c:dLbl>
              <c:idx val="14"/>
              <c:tx>
                <c:rich>
                  <a:bodyPr/>
                  <a:lstStyle/>
                  <a:p>
                    <a:r>
                      <a:rPr lang="en-US" sz="1200" b="0">
                        <a:solidFill>
                          <a:srgbClr val="2F3A48"/>
                        </a:solidFill>
                        <a:latin typeface="Arial"/>
                      </a:rPr>
                      <a:t>1.6×</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B55-4AA9-B823-4CE2E74DAD03}"/>
                </c:ext>
              </c:extLst>
            </c:dLbl>
            <c:dLbl>
              <c:idx val="18"/>
              <c:tx>
                <c:rich>
                  <a:bodyPr/>
                  <a:lstStyle/>
                  <a:p>
                    <a:r>
                      <a:rPr lang="en-US" sz="1200" b="0">
                        <a:solidFill>
                          <a:srgbClr val="2F3A48"/>
                        </a:solidFill>
                        <a:latin typeface="Arial"/>
                      </a:rPr>
                      <a:t>0.15×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B55-4AA9-B823-4CE2E74DAD0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Sheet1!$A$2:$A$20</c:f>
              <c:numCache>
                <c:formatCode>General</c:formatCode>
                <c:ptCount val="19"/>
                <c:pt idx="0">
                  <c:v>1</c:v>
                </c:pt>
                <c:pt idx="1">
                  <c:v>2</c:v>
                </c:pt>
                <c:pt idx="2">
                  <c:v>3</c:v>
                </c:pt>
                <c:pt idx="3">
                  <c:v>4</c:v>
                </c:pt>
                <c:pt idx="4">
                  <c:v>6</c:v>
                </c:pt>
                <c:pt idx="5">
                  <c:v>8</c:v>
                </c:pt>
                <c:pt idx="6">
                  <c:v>10</c:v>
                </c:pt>
                <c:pt idx="7">
                  <c:v>12</c:v>
                </c:pt>
                <c:pt idx="8">
                  <c:v>14</c:v>
                </c:pt>
                <c:pt idx="9">
                  <c:v>16</c:v>
                </c:pt>
                <c:pt idx="10">
                  <c:v>20</c:v>
                </c:pt>
                <c:pt idx="11">
                  <c:v>24</c:v>
                </c:pt>
                <c:pt idx="12">
                  <c:v>32</c:v>
                </c:pt>
                <c:pt idx="13">
                  <c:v>48</c:v>
                </c:pt>
                <c:pt idx="14">
                  <c:v>64</c:v>
                </c:pt>
                <c:pt idx="15">
                  <c:v>128</c:v>
                </c:pt>
                <c:pt idx="16">
                  <c:v>256</c:v>
                </c:pt>
                <c:pt idx="17">
                  <c:v>512</c:v>
                </c:pt>
                <c:pt idx="18">
                  <c:v>1024</c:v>
                </c:pt>
              </c:numCache>
            </c:numRef>
          </c:xVal>
          <c:yVal>
            <c:numRef>
              <c:f>Sheet1!$B$2:$B$20</c:f>
              <c:numCache>
                <c:formatCode>General</c:formatCode>
                <c:ptCount val="19"/>
                <c:pt idx="0">
                  <c:v>1</c:v>
                </c:pt>
                <c:pt idx="1">
                  <c:v>1.393</c:v>
                </c:pt>
                <c:pt idx="2">
                  <c:v>1.7929999999999999</c:v>
                </c:pt>
                <c:pt idx="3">
                  <c:v>2.0470999999999999</c:v>
                </c:pt>
                <c:pt idx="4">
                  <c:v>2.3214999999999999</c:v>
                </c:pt>
                <c:pt idx="5">
                  <c:v>2.3517999999999999</c:v>
                </c:pt>
                <c:pt idx="6">
                  <c:v>2.3807</c:v>
                </c:pt>
                <c:pt idx="7">
                  <c:v>2.4609000000000001</c:v>
                </c:pt>
                <c:pt idx="8">
                  <c:v>2.5</c:v>
                </c:pt>
                <c:pt idx="9">
                  <c:v>2.5327000000000002</c:v>
                </c:pt>
                <c:pt idx="10">
                  <c:v>2.5674999999999999</c:v>
                </c:pt>
                <c:pt idx="11">
                  <c:v>2.4950000000000001</c:v>
                </c:pt>
                <c:pt idx="12">
                  <c:v>2.3035000000000001</c:v>
                </c:pt>
                <c:pt idx="13">
                  <c:v>1.9296</c:v>
                </c:pt>
                <c:pt idx="14">
                  <c:v>1.5690999999999999</c:v>
                </c:pt>
                <c:pt idx="15">
                  <c:v>0.96760000000000002</c:v>
                </c:pt>
                <c:pt idx="16">
                  <c:v>0.54300000000000004</c:v>
                </c:pt>
                <c:pt idx="17">
                  <c:v>0.29930000000000001</c:v>
                </c:pt>
                <c:pt idx="18">
                  <c:v>0.1535</c:v>
                </c:pt>
              </c:numCache>
            </c:numRef>
          </c:yVal>
          <c:smooth val="0"/>
          <c:extLst>
            <c:ext xmlns:c16="http://schemas.microsoft.com/office/drawing/2014/chart" uri="{C3380CC4-5D6E-409C-BE32-E72D297353CC}">
              <c16:uniqueId val="{00000003-6B55-4AA9-B823-4CE2E74DAD03}"/>
            </c:ext>
          </c:extLst>
        </c:ser>
        <c:ser>
          <c:idx val="1"/>
          <c:order val="1"/>
          <c:tx>
            <c:strRef>
              <c:f>Sheet1!$B$22</c:f>
              <c:strCache>
                <c:ptCount val="1"/>
                <c:pt idx="0">
                  <c:v>Optimum</c:v>
                </c:pt>
              </c:strCache>
            </c:strRef>
          </c:tx>
          <c:spPr>
            <a:ln>
              <a:noFill/>
            </a:ln>
          </c:spPr>
          <c:marker>
            <c:symbol val="circle"/>
            <c:size val="14"/>
            <c:spPr>
              <a:solidFill>
                <a:srgbClr val="C2410C"/>
              </a:solidFill>
              <a:ln>
                <a:solidFill>
                  <a:srgbClr val="FFFFFF"/>
                </a:solidFill>
              </a:ln>
            </c:spPr>
          </c:marker>
          <c:dLbls>
            <c:dLbl>
              <c:idx val="0"/>
              <c:tx>
                <c:rich>
                  <a:bodyPr/>
                  <a:lstStyle/>
                  <a:p>
                    <a:r>
                      <a:rPr lang="en-US" sz="1300" b="1">
                        <a:solidFill>
                          <a:srgbClr val="C2410C"/>
                        </a:solidFill>
                        <a:latin typeface="Arial"/>
                      </a:rPr>
                      <a:t>Peak: 20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B55-4AA9-B823-4CE2E74DAD0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Sheet1!$A$23:$A$23</c:f>
              <c:numCache>
                <c:formatCode>General</c:formatCode>
                <c:ptCount val="1"/>
                <c:pt idx="0">
                  <c:v>20</c:v>
                </c:pt>
              </c:numCache>
            </c:numRef>
          </c:xVal>
          <c:yVal>
            <c:numRef>
              <c:f>Sheet1!$B$23:$B$23</c:f>
              <c:numCache>
                <c:formatCode>General</c:formatCode>
                <c:ptCount val="1"/>
                <c:pt idx="0">
                  <c:v>2.5674999999999999</c:v>
                </c:pt>
              </c:numCache>
            </c:numRef>
          </c:yVal>
          <c:smooth val="0"/>
          <c:extLst>
            <c:ext xmlns:c16="http://schemas.microsoft.com/office/drawing/2014/chart" uri="{C3380CC4-5D6E-409C-BE32-E72D297353CC}">
              <c16:uniqueId val="{00000005-6B55-4AA9-B823-4CE2E74DAD03}"/>
            </c:ext>
          </c:extLst>
        </c:ser>
        <c:ser>
          <c:idx val="2"/>
          <c:order val="2"/>
          <c:tx>
            <c:strRef>
              <c:f>Sheet1!$B$25</c:f>
              <c:strCache>
                <c:ptCount val="1"/>
                <c:pt idx="0">
                  <c:v>1 thread</c:v>
                </c:pt>
              </c:strCache>
            </c:strRef>
          </c:tx>
          <c:spPr>
            <a:ln w="19050">
              <a:solidFill>
                <a:srgbClr val="8A93A0"/>
              </a:solidFill>
              <a:prstDash val="dash"/>
            </a:ln>
          </c:spPr>
          <c:marker>
            <c:symbol val="none"/>
          </c:marker>
          <c:dLbls>
            <c:dLbl>
              <c:idx val="1"/>
              <c:tx>
                <c:rich>
                  <a:bodyPr/>
                  <a:lstStyle/>
                  <a:p>
                    <a:r>
                      <a:rPr lang="en-US" sz="1200" b="0">
                        <a:solidFill>
                          <a:srgbClr val="5A6675"/>
                        </a:solidFill>
                        <a:latin typeface="Arial"/>
                      </a:rPr>
                      <a:t>1 thread = 1.0×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6B55-4AA9-B823-4CE2E74DAD0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Sheet1!$A$26:$A$27</c:f>
              <c:numCache>
                <c:formatCode>General</c:formatCode>
                <c:ptCount val="2"/>
                <c:pt idx="0">
                  <c:v>1</c:v>
                </c:pt>
                <c:pt idx="1">
                  <c:v>1024</c:v>
                </c:pt>
              </c:numCache>
            </c:numRef>
          </c:xVal>
          <c:yVal>
            <c:numRef>
              <c:f>Sheet1!$B$26:$B$27</c:f>
              <c:numCache>
                <c:formatCode>General</c:formatCode>
                <c:ptCount val="2"/>
                <c:pt idx="0">
                  <c:v>1</c:v>
                </c:pt>
                <c:pt idx="1">
                  <c:v>1</c:v>
                </c:pt>
              </c:numCache>
            </c:numRef>
          </c:yVal>
          <c:smooth val="0"/>
          <c:extLst>
            <c:ext xmlns:c16="http://schemas.microsoft.com/office/drawing/2014/chart" uri="{C3380CC4-5D6E-409C-BE32-E72D297353CC}">
              <c16:uniqueId val="{00000007-6B55-4AA9-B823-4CE2E74DAD03}"/>
            </c:ext>
          </c:extLst>
        </c:ser>
        <c:dLbls>
          <c:showLegendKey val="0"/>
          <c:showVal val="0"/>
          <c:showCatName val="0"/>
          <c:showSerName val="0"/>
          <c:showPercent val="0"/>
          <c:showBubbleSize val="0"/>
        </c:dLbls>
        <c:axId val="-2128940872"/>
        <c:axId val="-2129643912"/>
      </c:scatterChart>
      <c:valAx>
        <c:axId val="-2128940872"/>
        <c:scaling>
          <c:logBase val="2"/>
          <c:orientation val="minMax"/>
          <c:max val="1024"/>
          <c:min val="1"/>
        </c:scaling>
        <c:delete val="0"/>
        <c:axPos val="b"/>
        <c:title>
          <c:tx>
            <c:rich>
              <a:bodyPr/>
              <a:lstStyle/>
              <a:p>
                <a:r>
                  <a:rPr lang="en-US" sz="1200" b="0">
                    <a:solidFill>
                      <a:srgbClr val="5A6675"/>
                    </a:solidFill>
                    <a:latin typeface="Arial"/>
                  </a:rPr>
                  <a:t>Threads (x), log scale</a:t>
                </a:r>
              </a:p>
            </c:rich>
          </c:tx>
          <c:overlay val="0"/>
        </c:title>
        <c:numFmt formatCode="0" sourceLinked="0"/>
        <c:majorTickMark val="out"/>
        <c:minorTickMark val="none"/>
        <c:tickLblPos val="nextTo"/>
        <c:spPr>
          <a:ln w="12700">
            <a:solidFill>
              <a:srgbClr val="B5BBC3"/>
            </a:solidFill>
          </a:ln>
        </c:spPr>
        <c:txPr>
          <a:bodyPr/>
          <a:lstStyle/>
          <a:p>
            <a:pPr>
              <a:defRPr sz="1200">
                <a:solidFill>
                  <a:srgbClr val="2F3A48"/>
                </a:solidFill>
              </a:defRPr>
            </a:pPr>
            <a:endParaRPr lang="en-US"/>
          </a:p>
        </c:txPr>
        <c:crossAx val="-2129643912"/>
        <c:crosses val="autoZero"/>
        <c:crossBetween val="midCat"/>
        <c:majorUnit val="2"/>
      </c:valAx>
      <c:valAx>
        <c:axId val="-2129643912"/>
        <c:scaling>
          <c:orientation val="minMax"/>
          <c:max val="3"/>
          <c:min val="0"/>
        </c:scaling>
        <c:delete val="0"/>
        <c:axPos val="l"/>
        <c:majorGridlines>
          <c:spPr>
            <a:ln w="9525">
              <a:solidFill>
                <a:srgbClr val="C7C7C5"/>
              </a:solidFill>
            </a:ln>
          </c:spPr>
        </c:majorGridlines>
        <c:title>
          <c:tx>
            <c:rich>
              <a:bodyPr/>
              <a:lstStyle/>
              <a:p>
                <a:r>
                  <a:rPr lang="en-US" sz="1200" b="0">
                    <a:solidFill>
                      <a:srgbClr val="5A6675"/>
                    </a:solidFill>
                    <a:latin typeface="Arial"/>
                  </a:rPr>
                  <a:t>Speedup</a:t>
                </a:r>
              </a:p>
            </c:rich>
          </c:tx>
          <c:overlay val="0"/>
        </c:title>
        <c:numFmt formatCode="0.0&quot;×&quot;" sourceLinked="0"/>
        <c:majorTickMark val="out"/>
        <c:minorTickMark val="none"/>
        <c:tickLblPos val="nextTo"/>
        <c:spPr>
          <a:ln>
            <a:noFill/>
          </a:ln>
        </c:spPr>
        <c:txPr>
          <a:bodyPr/>
          <a:lstStyle/>
          <a:p>
            <a:pPr>
              <a:defRPr sz="1200">
                <a:solidFill>
                  <a:srgbClr val="2F3A48"/>
                </a:solidFill>
              </a:defRPr>
            </a:pPr>
            <a:endParaRPr lang="en-US"/>
          </a:p>
        </c:txPr>
        <c:crossAx val="-2128940872"/>
        <c:crosses val="autoZero"/>
        <c:crossBetween val="midCat"/>
        <c:majorUnit val="0.5"/>
      </c:valAx>
    </c:plotArea>
    <c:plotVisOnly val="1"/>
    <c:dispBlanksAs val="gap"/>
    <c:showDLblsOverMax val="0"/>
  </c:chart>
  <c:txPr>
    <a:bodyPr/>
    <a:lstStyle/>
    <a:p>
      <a:pPr>
        <a:defRPr sz="1200">
          <a:solidFill>
            <a:srgbClr val="2F3A48"/>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2F3A48"/>
                </a:solidFill>
                <a:latin typeface="Arial"/>
              </a:rPr>
              <a:t>Time to test one number, by thread count</a:t>
            </a:r>
          </a:p>
        </c:rich>
      </c:tx>
      <c:overlay val="0"/>
    </c:title>
    <c:autoTitleDeleted val="0"/>
    <c:plotArea>
      <c:layout/>
      <c:barChart>
        <c:barDir val="col"/>
        <c:grouping val="clustered"/>
        <c:varyColors val="1"/>
        <c:ser>
          <c:idx val="0"/>
          <c:order val="0"/>
          <c:tx>
            <c:strRef>
              <c:f>Sheet1!$B$1</c:f>
              <c:strCache>
                <c:ptCount val="1"/>
                <c:pt idx="0">
                  <c:v>Time per number (µs)</c:v>
                </c:pt>
              </c:strCache>
            </c:strRef>
          </c:tx>
          <c:spPr>
            <a:solidFill>
              <a:srgbClr val="156082"/>
            </a:solidFill>
          </c:spPr>
          <c:invertIfNegative val="1"/>
          <c:dLbls>
            <c:numFmt formatCode="0.0&quot; µs&quot;" sourceLinked="0"/>
            <c:spPr>
              <a:noFill/>
              <a:ln>
                <a:noFill/>
              </a:ln>
              <a:effectLst/>
            </c:spPr>
            <c:txPr>
              <a:bodyPr/>
              <a:lstStyle/>
              <a:p>
                <a:pPr>
                  <a:defRPr sz="1400" b="1">
                    <a:solidFill>
                      <a:srgbClr val="2F3A48"/>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c:v>
                </c:pt>
                <c:pt idx="1">
                  <c:v>2</c:v>
                </c:pt>
                <c:pt idx="2">
                  <c:v>4</c:v>
                </c:pt>
                <c:pt idx="3">
                  <c:v>8</c:v>
                </c:pt>
                <c:pt idx="4">
                  <c:v>16</c:v>
                </c:pt>
              </c:strCache>
            </c:strRef>
          </c:cat>
          <c:val>
            <c:numRef>
              <c:f>Sheet1!$B$2:$B$6</c:f>
              <c:numCache>
                <c:formatCode>General</c:formatCode>
                <c:ptCount val="5"/>
                <c:pt idx="0">
                  <c:v>7.9000000000000001E-2</c:v>
                </c:pt>
                <c:pt idx="1">
                  <c:v>0.85399999999999998</c:v>
                </c:pt>
                <c:pt idx="2">
                  <c:v>14.943</c:v>
                </c:pt>
                <c:pt idx="3">
                  <c:v>33.274999999999999</c:v>
                </c:pt>
                <c:pt idx="4">
                  <c:v>25.952999999999999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59F-4FCF-8C40-775767E797AD}"/>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title>
          <c:tx>
            <c:rich>
              <a:bodyPr/>
              <a:lstStyle/>
              <a:p>
                <a:r>
                  <a:rPr lang="en-US" sz="1200" b="0">
                    <a:solidFill>
                      <a:srgbClr val="5A6675"/>
                    </a:solidFill>
                    <a:latin typeface="Arial"/>
                  </a:rPr>
                  <a:t>Threads</a:t>
                </a:r>
              </a:p>
            </c:rich>
          </c:tx>
          <c:overlay val="0"/>
        </c:title>
        <c:numFmt formatCode="General" sourceLinked="0"/>
        <c:majorTickMark val="out"/>
        <c:minorTickMark val="none"/>
        <c:tickLblPos val="nextTo"/>
        <c:spPr>
          <a:ln w="12700">
            <a:solidFill>
              <a:srgbClr val="B5BBC3"/>
            </a:solidFill>
          </a:ln>
        </c:spPr>
        <c:txPr>
          <a:bodyPr/>
          <a:lstStyle/>
          <a:p>
            <a:pPr>
              <a:defRPr sz="1200">
                <a:solidFill>
                  <a:srgbClr val="2F3A48"/>
                </a:solidFill>
              </a:defRPr>
            </a:pPr>
            <a:endParaRPr lang="en-US"/>
          </a:p>
        </c:txPr>
        <c:crossAx val="-2113994440"/>
        <c:crosses val="autoZero"/>
        <c:auto val="1"/>
        <c:lblAlgn val="ctr"/>
        <c:lblOffset val="100"/>
        <c:noMultiLvlLbl val="0"/>
      </c:catAx>
      <c:valAx>
        <c:axId val="-2113994440"/>
        <c:scaling>
          <c:orientation val="minMax"/>
          <c:max val="4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2F3A48"/>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400" b="1">
                <a:solidFill>
                  <a:srgbClr val="2F3A48"/>
                </a:solidFill>
                <a:latin typeface="Arial"/>
              </a:rPr>
              <a:t>Search time vs. thread count (divisibility testing)</a:t>
            </a:r>
          </a:p>
        </c:rich>
      </c:tx>
      <c:overlay val="0"/>
    </c:title>
    <c:autoTitleDeleted val="0"/>
    <c:plotArea>
      <c:layout/>
      <c:scatterChart>
        <c:scatterStyle val="smoothMarker"/>
        <c:varyColors val="0"/>
        <c:ser>
          <c:idx val="0"/>
          <c:order val="0"/>
          <c:tx>
            <c:strRef>
              <c:f>Sheet1!$B$1</c:f>
              <c:strCache>
                <c:ptCount val="1"/>
                <c:pt idx="0">
                  <c:v>Search time (ms)</c:v>
                </c:pt>
              </c:strCache>
            </c:strRef>
          </c:tx>
          <c:spPr>
            <a:ln w="38100">
              <a:solidFill>
                <a:srgbClr val="156082"/>
              </a:solidFill>
            </a:ln>
          </c:spPr>
          <c:marker>
            <c:symbol val="circle"/>
            <c:size val="7"/>
            <c:spPr>
              <a:solidFill>
                <a:srgbClr val="156082"/>
              </a:solidFill>
              <a:ln>
                <a:solidFill>
                  <a:srgbClr val="FFFFFF"/>
                </a:solidFill>
              </a:ln>
            </c:spPr>
          </c:marker>
          <c:dLbls>
            <c:dLbl>
              <c:idx val="8"/>
              <c:tx>
                <c:rich>
                  <a:bodyPr/>
                  <a:lstStyle/>
                  <a:p>
                    <a:r>
                      <a:rPr lang="en-US" sz="1200" b="0">
                        <a:solidFill>
                          <a:srgbClr val="2F3A48"/>
                        </a:solidFill>
                        <a:latin typeface="Arial"/>
                      </a:rPr>
                      <a:t>4.7 s</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778-4C59-BDFE-713E4E2A0AA5}"/>
                </c:ext>
              </c:extLst>
            </c:dLbl>
            <c:dLbl>
              <c:idx val="11"/>
              <c:tx>
                <c:rich>
                  <a:bodyPr/>
                  <a:lstStyle/>
                  <a:p>
                    <a:r>
                      <a:rPr lang="en-US" sz="1200" b="0">
                        <a:solidFill>
                          <a:srgbClr val="2F3A48"/>
                        </a:solidFill>
                        <a:latin typeface="Arial"/>
                      </a:rPr>
                      <a:t>365 ms</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778-4C59-BDFE-713E4E2A0AA5}"/>
                </c:ext>
              </c:extLst>
            </c:dLbl>
            <c:dLbl>
              <c:idx val="19"/>
              <c:tx>
                <c:rich>
                  <a:bodyPr/>
                  <a:lstStyle/>
                  <a:p>
                    <a:r>
                      <a:rPr lang="en-US" sz="1200" b="0">
                        <a:solidFill>
                          <a:srgbClr val="2F3A48"/>
                        </a:solidFill>
                        <a:latin typeface="Arial"/>
                      </a:rPr>
                      <a:t>14.4 s</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778-4C59-BDFE-713E4E2A0AA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Sheet1!$A$2:$A$21</c:f>
              <c:numCache>
                <c:formatCode>General</c:formatCode>
                <c:ptCount val="20"/>
                <c:pt idx="0">
                  <c:v>1</c:v>
                </c:pt>
                <c:pt idx="1">
                  <c:v>2</c:v>
                </c:pt>
                <c:pt idx="2">
                  <c:v>3</c:v>
                </c:pt>
                <c:pt idx="3">
                  <c:v>4</c:v>
                </c:pt>
                <c:pt idx="4">
                  <c:v>5</c:v>
                </c:pt>
                <c:pt idx="5">
                  <c:v>6</c:v>
                </c:pt>
                <c:pt idx="6">
                  <c:v>8</c:v>
                </c:pt>
                <c:pt idx="7">
                  <c:v>10</c:v>
                </c:pt>
                <c:pt idx="8">
                  <c:v>12</c:v>
                </c:pt>
                <c:pt idx="9">
                  <c:v>14</c:v>
                </c:pt>
                <c:pt idx="10">
                  <c:v>16</c:v>
                </c:pt>
                <c:pt idx="11">
                  <c:v>20</c:v>
                </c:pt>
                <c:pt idx="12">
                  <c:v>24</c:v>
                </c:pt>
                <c:pt idx="13">
                  <c:v>32</c:v>
                </c:pt>
                <c:pt idx="14">
                  <c:v>48</c:v>
                </c:pt>
                <c:pt idx="15">
                  <c:v>64</c:v>
                </c:pt>
                <c:pt idx="16">
                  <c:v>128</c:v>
                </c:pt>
                <c:pt idx="17">
                  <c:v>256</c:v>
                </c:pt>
                <c:pt idx="18">
                  <c:v>512</c:v>
                </c:pt>
                <c:pt idx="19">
                  <c:v>1024</c:v>
                </c:pt>
              </c:numCache>
            </c:numRef>
          </c:xVal>
          <c:yVal>
            <c:numRef>
              <c:f>Sheet1!$B$2:$B$21</c:f>
              <c:numCache>
                <c:formatCode>General</c:formatCode>
                <c:ptCount val="20"/>
                <c:pt idx="0">
                  <c:v>7.9</c:v>
                </c:pt>
                <c:pt idx="1">
                  <c:v>85.4</c:v>
                </c:pt>
                <c:pt idx="2">
                  <c:v>696.5</c:v>
                </c:pt>
                <c:pt idx="3">
                  <c:v>1494.3</c:v>
                </c:pt>
                <c:pt idx="4">
                  <c:v>2221.1999999999998</c:v>
                </c:pt>
                <c:pt idx="5">
                  <c:v>2589</c:v>
                </c:pt>
                <c:pt idx="6">
                  <c:v>3327.4</c:v>
                </c:pt>
                <c:pt idx="7">
                  <c:v>4079.2</c:v>
                </c:pt>
                <c:pt idx="8">
                  <c:v>4665.6000000000004</c:v>
                </c:pt>
                <c:pt idx="9">
                  <c:v>4129.2</c:v>
                </c:pt>
                <c:pt idx="10">
                  <c:v>2595.3000000000002</c:v>
                </c:pt>
                <c:pt idx="11">
                  <c:v>364.9</c:v>
                </c:pt>
                <c:pt idx="12">
                  <c:v>381.7</c:v>
                </c:pt>
                <c:pt idx="13">
                  <c:v>496</c:v>
                </c:pt>
                <c:pt idx="14">
                  <c:v>731.6</c:v>
                </c:pt>
                <c:pt idx="15">
                  <c:v>970.9</c:v>
                </c:pt>
                <c:pt idx="16">
                  <c:v>1972.2</c:v>
                </c:pt>
                <c:pt idx="17">
                  <c:v>4456.8</c:v>
                </c:pt>
                <c:pt idx="18">
                  <c:v>7185.1</c:v>
                </c:pt>
                <c:pt idx="19">
                  <c:v>14401.3</c:v>
                </c:pt>
              </c:numCache>
            </c:numRef>
          </c:yVal>
          <c:smooth val="0"/>
          <c:extLst>
            <c:ext xmlns:c16="http://schemas.microsoft.com/office/drawing/2014/chart" uri="{C3380CC4-5D6E-409C-BE32-E72D297353CC}">
              <c16:uniqueId val="{00000003-8778-4C59-BDFE-713E4E2A0AA5}"/>
            </c:ext>
          </c:extLst>
        </c:ser>
        <c:ser>
          <c:idx val="1"/>
          <c:order val="1"/>
          <c:tx>
            <c:strRef>
              <c:f>Sheet1!$B$23</c:f>
              <c:strCache>
                <c:ptCount val="1"/>
                <c:pt idx="0">
                  <c:v>Best</c:v>
                </c:pt>
              </c:strCache>
            </c:strRef>
          </c:tx>
          <c:spPr>
            <a:ln>
              <a:noFill/>
            </a:ln>
          </c:spPr>
          <c:marker>
            <c:symbol val="circle"/>
            <c:size val="14"/>
            <c:spPr>
              <a:solidFill>
                <a:srgbClr val="C2410C"/>
              </a:solidFill>
              <a:ln>
                <a:solidFill>
                  <a:srgbClr val="FFFFFF"/>
                </a:solidFill>
              </a:ln>
            </c:spPr>
          </c:marker>
          <c:dLbls>
            <c:dLbl>
              <c:idx val="0"/>
              <c:layout>
                <c:manualLayout>
                  <c:x val="0"/>
                  <c:y val="-0.05"/>
                </c:manualLayout>
              </c:layout>
              <c:tx>
                <c:rich>
                  <a:bodyPr/>
                  <a:lstStyle/>
                  <a:p>
                    <a:r>
                      <a:rPr lang="en-US" sz="1300" b="1">
                        <a:solidFill>
                          <a:srgbClr val="C2410C"/>
                        </a:solidFill>
                        <a:latin typeface="Arial"/>
                      </a:rPr>
                      <a:t>Best: 1 thread</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778-4C59-BDFE-713E4E2A0AA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Sheet1!$A$24:$A$24</c:f>
              <c:numCache>
                <c:formatCode>General</c:formatCode>
                <c:ptCount val="1"/>
                <c:pt idx="0">
                  <c:v>1</c:v>
                </c:pt>
              </c:numCache>
            </c:numRef>
          </c:xVal>
          <c:yVal>
            <c:numRef>
              <c:f>Sheet1!$B$24:$B$24</c:f>
              <c:numCache>
                <c:formatCode>General</c:formatCode>
                <c:ptCount val="1"/>
                <c:pt idx="0">
                  <c:v>7.9</c:v>
                </c:pt>
              </c:numCache>
            </c:numRef>
          </c:yVal>
          <c:smooth val="0"/>
          <c:extLst>
            <c:ext xmlns:c16="http://schemas.microsoft.com/office/drawing/2014/chart" uri="{C3380CC4-5D6E-409C-BE32-E72D297353CC}">
              <c16:uniqueId val="{00000005-8778-4C59-BDFE-713E4E2A0AA5}"/>
            </c:ext>
          </c:extLst>
        </c:ser>
        <c:ser>
          <c:idx val="2"/>
          <c:order val="2"/>
          <c:tx>
            <c:strRef>
              <c:f>Sheet1!$B$26</c:f>
              <c:strCache>
                <c:ptCount val="1"/>
                <c:pt idx="0">
                  <c:v>1 thread</c:v>
                </c:pt>
              </c:strCache>
            </c:strRef>
          </c:tx>
          <c:spPr>
            <a:ln w="19050">
              <a:solidFill>
                <a:srgbClr val="8A93A0"/>
              </a:solidFill>
              <a:prstDash val="dash"/>
            </a:ln>
          </c:spPr>
          <c:marker>
            <c:symbol val="none"/>
          </c:marker>
          <c:dLbls>
            <c:dLbl>
              <c:idx val="1"/>
              <c:tx>
                <c:rich>
                  <a:bodyPr/>
                  <a:lstStyle/>
                  <a:p>
                    <a:r>
                      <a:rPr lang="en-US" sz="1200" b="0">
                        <a:solidFill>
                          <a:srgbClr val="5A6675"/>
                        </a:solidFill>
                        <a:latin typeface="Arial"/>
                      </a:rPr>
                      <a:t>1 thread: 7.9 ms</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778-4C59-BDFE-713E4E2A0AA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Sheet1!$A$27:$A$29</c:f>
              <c:numCache>
                <c:formatCode>General</c:formatCode>
                <c:ptCount val="3"/>
                <c:pt idx="0">
                  <c:v>1</c:v>
                </c:pt>
                <c:pt idx="1">
                  <c:v>512</c:v>
                </c:pt>
                <c:pt idx="2">
                  <c:v>1024</c:v>
                </c:pt>
              </c:numCache>
            </c:numRef>
          </c:xVal>
          <c:yVal>
            <c:numRef>
              <c:f>Sheet1!$B$27:$B$29</c:f>
              <c:numCache>
                <c:formatCode>General</c:formatCode>
                <c:ptCount val="3"/>
                <c:pt idx="0">
                  <c:v>7.9</c:v>
                </c:pt>
                <c:pt idx="1">
                  <c:v>7.9</c:v>
                </c:pt>
                <c:pt idx="2">
                  <c:v>7.9</c:v>
                </c:pt>
              </c:numCache>
            </c:numRef>
          </c:yVal>
          <c:smooth val="0"/>
          <c:extLst>
            <c:ext xmlns:c16="http://schemas.microsoft.com/office/drawing/2014/chart" uri="{C3380CC4-5D6E-409C-BE32-E72D297353CC}">
              <c16:uniqueId val="{00000007-8778-4C59-BDFE-713E4E2A0AA5}"/>
            </c:ext>
          </c:extLst>
        </c:ser>
        <c:dLbls>
          <c:showLegendKey val="0"/>
          <c:showVal val="0"/>
          <c:showCatName val="0"/>
          <c:showSerName val="0"/>
          <c:showPercent val="0"/>
          <c:showBubbleSize val="0"/>
        </c:dLbls>
        <c:axId val="-2128940872"/>
        <c:axId val="-2129643912"/>
      </c:scatterChart>
      <c:valAx>
        <c:axId val="-2128940872"/>
        <c:scaling>
          <c:logBase val="2"/>
          <c:orientation val="minMax"/>
          <c:max val="1024"/>
          <c:min val="1"/>
        </c:scaling>
        <c:delete val="0"/>
        <c:axPos val="b"/>
        <c:title>
          <c:tx>
            <c:rich>
              <a:bodyPr/>
              <a:lstStyle/>
              <a:p>
                <a:r>
                  <a:rPr lang="en-US" sz="1200" b="0">
                    <a:solidFill>
                      <a:srgbClr val="5A6675"/>
                    </a:solidFill>
                    <a:latin typeface="Arial"/>
                  </a:rPr>
                  <a:t>Threads (x), log scale</a:t>
                </a:r>
              </a:p>
            </c:rich>
          </c:tx>
          <c:overlay val="0"/>
        </c:title>
        <c:numFmt formatCode="0" sourceLinked="0"/>
        <c:majorTickMark val="out"/>
        <c:minorTickMark val="none"/>
        <c:tickLblPos val="nextTo"/>
        <c:spPr>
          <a:ln w="12700">
            <a:solidFill>
              <a:srgbClr val="B5BBC3"/>
            </a:solidFill>
          </a:ln>
        </c:spPr>
        <c:txPr>
          <a:bodyPr/>
          <a:lstStyle/>
          <a:p>
            <a:pPr>
              <a:defRPr sz="1200">
                <a:solidFill>
                  <a:srgbClr val="2F3A48"/>
                </a:solidFill>
              </a:defRPr>
            </a:pPr>
            <a:endParaRPr lang="en-US"/>
          </a:p>
        </c:txPr>
        <c:crossAx val="-2129643912"/>
        <c:crosses val="autoZero"/>
        <c:crossBetween val="midCat"/>
        <c:majorUnit val="2"/>
      </c:valAx>
      <c:valAx>
        <c:axId val="-2129643912"/>
        <c:scaling>
          <c:logBase val="10"/>
          <c:orientation val="minMax"/>
          <c:max val="100000"/>
          <c:min val="1"/>
        </c:scaling>
        <c:delete val="0"/>
        <c:axPos val="l"/>
        <c:majorGridlines>
          <c:spPr>
            <a:ln w="9525">
              <a:solidFill>
                <a:srgbClr val="C7C7C5"/>
              </a:solidFill>
            </a:ln>
          </c:spPr>
        </c:majorGridlines>
        <c:title>
          <c:tx>
            <c:rich>
              <a:bodyPr/>
              <a:lstStyle/>
              <a:p>
                <a:r>
                  <a:rPr lang="en-US" sz="1200" b="0">
                    <a:solidFill>
                      <a:srgbClr val="5A6675"/>
                    </a:solidFill>
                    <a:latin typeface="Arial"/>
                  </a:rPr>
                  <a:t>Search time (ms), log scale</a:t>
                </a:r>
              </a:p>
            </c:rich>
          </c:tx>
          <c:overlay val="0"/>
        </c:title>
        <c:numFmt formatCode="#,##0" sourceLinked="0"/>
        <c:majorTickMark val="out"/>
        <c:minorTickMark val="none"/>
        <c:tickLblPos val="nextTo"/>
        <c:spPr>
          <a:ln>
            <a:noFill/>
          </a:ln>
        </c:spPr>
        <c:txPr>
          <a:bodyPr/>
          <a:lstStyle/>
          <a:p>
            <a:pPr>
              <a:defRPr sz="1200">
                <a:solidFill>
                  <a:srgbClr val="2F3A48"/>
                </a:solidFill>
              </a:defRPr>
            </a:pPr>
            <a:endParaRPr lang="en-US"/>
          </a:p>
        </c:txPr>
        <c:crossAx val="-2128940872"/>
        <c:crosses val="autoZero"/>
        <c:crossBetween val="midCat"/>
      </c:valAx>
    </c:plotArea>
    <c:plotVisOnly val="1"/>
    <c:dispBlanksAs val="gap"/>
    <c:showDLblsOverMax val="0"/>
  </c:chart>
  <c:txPr>
    <a:bodyPr/>
    <a:lstStyle/>
    <a:p>
      <a:pPr>
        <a:defRPr sz="1200">
          <a:solidFill>
            <a:srgbClr val="2F3A4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9279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division is the simple approach: split the range once, then let every thread work alone. The only shared step is the join at the end. The start gate makes sure the timings are fair, because no thread begins until all of them exist.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parallelism is inside a single number. Every number is a round: the threads split its divisors, then wait at the barrier. That is a synchronization point for every number from 2 to y, which is the key cost to watch in the results.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6ACB2-675A-BDD9-0202-FBBE93486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CAB10-73B7-D4FC-1DBD-BA817AE1C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0C618-B6DA-9FEF-40D4-D7441852C739}"/>
              </a:ext>
            </a:extLst>
          </p:cNvPr>
          <p:cNvSpPr>
            <a:spLocks noGrp="1"/>
          </p:cNvSpPr>
          <p:nvPr>
            <p:ph type="body" idx="1"/>
          </p:nvPr>
        </p:nvSpPr>
        <p:spPr/>
        <p:txBody>
          <a:bodyPr/>
          <a:lstStyle/>
          <a:p>
            <a:r>
              <a:rPr lang="en-US" dirty="0"/>
              <a:t>Here the parallelism is inside a single number. Every number is a round: the threads split its divisors, then wait at the barrier. That is a synchronization point for every number from 2 to y, which is the key cost to watch in the results.</a:t>
            </a:r>
          </a:p>
        </p:txBody>
      </p:sp>
      <p:sp>
        <p:nvSpPr>
          <p:cNvPr id="4" name="Slide Number Placeholder 3">
            <a:extLst>
              <a:ext uri="{FF2B5EF4-FFF2-40B4-BE49-F238E27FC236}">
                <a16:creationId xmlns:a16="http://schemas.microsoft.com/office/drawing/2014/main" id="{A013E7DF-B1A1-41D8-1F51-4AC33603B4E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66726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F7D7E-D461-CDA3-89C4-B3DDA98A9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FE438-A142-98BE-BBD2-BBF4C5D86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2A663-874B-9E24-387D-F496490635D4}"/>
              </a:ext>
            </a:extLst>
          </p:cNvPr>
          <p:cNvSpPr>
            <a:spLocks noGrp="1"/>
          </p:cNvSpPr>
          <p:nvPr>
            <p:ph type="body" idx="1"/>
          </p:nvPr>
        </p:nvSpPr>
        <p:spPr/>
        <p:txBody>
          <a:bodyPr/>
          <a:lstStyle/>
          <a:p>
            <a:r>
              <a:rPr lang="en-US" dirty="0"/>
              <a:t>Here the parallelism is inside a single number. Every number is a round: the threads split its divisors, then wait at the barrier. That is a synchronization point for every number from 2 to y, which is the key cost to watch in the results.</a:t>
            </a:r>
          </a:p>
        </p:txBody>
      </p:sp>
      <p:sp>
        <p:nvSpPr>
          <p:cNvPr id="4" name="Slide Number Placeholder 3">
            <a:extLst>
              <a:ext uri="{FF2B5EF4-FFF2-40B4-BE49-F238E27FC236}">
                <a16:creationId xmlns:a16="http://schemas.microsoft.com/office/drawing/2014/main" id="{BF37E3CA-5494-2196-1B74-6AB3FC7379A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930055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time only, so printing is excluded; each value is the median of 15 runs at y = 100,000. Going from 1 to 16 threads cuts the search from about 5.1 ms to about 2.0 ms, a 2.5 times speedup. The gain is small because the whole search is only a few milliseconds of work: creating, starting and joining the threads alone takes about 0.7 ms with 1 thread and 1.2 ms with 16. The blocks also do unequal work, and 16 threads is more than the machine's 12 hardware threads (6 physical cores with 2 each), so going from 8 to 16 threads gains almost nothing.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threads at y = 100,000, median of 15 runs. Thread 1 has the most primes but finishes first, because small numbers are cheap to test. Thread 4 has the fewest primes and takes about 1.5 times as long; it was the slowest thread in 14 of the 15 runs. Average finish time is about 2.0 ms against 2.4 ms for the slowest thread, so roughly 16 percent of the available thread time is spent waiting at the join. Every finish time also includes the same start-up cost of under 1 ms, so the blocks differ in actual work by more than these times show.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time, search plus printing, with output redirected to a file; straight division, median of 15 runs at y = 100,000. Printing at the end gets faster with more threads because the search is lock-free; the roughly 4 ms print step is the only part that does not shrink. Printing immediately is already slower with one thread, because every prime is written and flushed on its own, and it gets slower again with more threads, staying around 36 ms, because the threads queue for the print lock.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time only, so printing is excluded; each value is the median of 15 runs at y = 100,000. With one thread the barrier never waits for anyone, so the whole search takes about 8 ms. With 4 threads it takes about 1.5 seconds, 190 times longer, and with 8 threads about 3.3 seconds, 423 times longer. Every number from 2 to y is one barrier round (99,999 of them), and each of those rounds gets slower as threads are added. 16 threads is more than the machine's 12 hardware threads (6 physical cores with 2 each): its median is 2.6 seconds, but the runs ranged from 0.8 to 3.4 seconds, so the drop from 8 to 16 threads is not a dependable improvement.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per number is the search time divided by the 99,999 numbers tested, so it is the average cost of one barrier round plus the divisor tests. On one thread it is 0.08 microseconds. At 2 threads it is 0.9, at 4 threads 14.9, at 8 threads 33.3 and at 16 threads 26.0 microseconds. Efficiency is the speedup divided by the thread count; here the speedup is below 1, so efficiency is a fraction of a percent. Splitting a number's divisors (at most 315 of them at y = 100,000) cannot pay for making every thread wait for all the others after every single number.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Median search time at each thread count: 15 runs each from 1 to 128 threads, 3 runs each for 256, 512 and 1,024. The best is 1 thread at 7.9 ms. The time climbs with every added thread up to 12, the number of hardware threads on this PC, where it reaches 4.7 s, 593 times the one-thread time. At 20 and 24 threads it drops to 365 ms and 382 ms, still 46 to 49 times slower than 1 thread, and then it climbs again, to 14.4 s at 1,024 threads. The barrier-only test from slide 13 follows the same pattern: 4.7 s at 12 threads and 354 ms at 24 threads, so this is the cost of the barrier and not of the divisor tests. Why 20 to 24 threads beat 12 to 16 was not investigated.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Straight division with printing at the end is the fastest variant and scales with the thread count, but only to 2.5 times at y = 100,000, because thread start-up and uneven blocks are a large share of a 5 ms search. Printing immediately trades speed for live output; with straight division it is slower at every thread count, already with one thread because every prime is written and flushed on its own, and more so with more threads because they queue for the print lock. Divisibility testing is fastest with one thread: 7.9 ms. Every thread added makes it slower, up to 593 times slower at 12 threads, because the program synchronizes all threads once per number, 99,999 times, and from 8 threads up the barrier alone takes about as long as the whole search (slide 13). Printing immediately is slower than printing at the end at every thread count. Divisibility testing would only pay off when each number is so large that testing it takes much longer than a barrier round; that was not measured here. Results are from one machine (6 cores, 12 threads) and one build, so exact timings will differ elsewhere, but the trends follow from the design.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75774-F061-3A5F-9B4D-5D6D829A8F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21D3B8-BC61-A991-412B-53A85040C4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B09BA5-8C07-C496-3712-61476B51C17A}"/>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FC4D782B-3ABB-10F9-20FD-F19FA4897B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DD5E85-86E2-A391-E8D8-1C222D4C730E}"/>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169490385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E472-2CBD-7EE4-9ED6-043AC1A66F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85D99C-EB84-E6D2-A891-400D204E0E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C6E8C1-0EAB-42FE-1D4B-0531FC4B5DF4}"/>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2DBD7CA4-A9FC-FBAB-3031-4A7437E4F0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A7350E-57AA-E1A0-9801-46DA37789E7E}"/>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94464813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8AFF1-CF03-CA89-3598-441CC2A63E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9275C9-4BF4-7AE3-E862-2B1CD37445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8EF447-7DBA-EB19-BEBF-8A7BD48F1D44}"/>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E9FA88C0-3E41-0317-68D8-02372A4516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432BB0-B741-D723-602F-57FFD2B9BCCC}"/>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21371998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D263-CA6D-63CE-8078-6411D8729D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5311A7-FEE0-8DFD-ADED-723B8EA415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91DC0C-2427-8288-FBC0-5FDF1968B5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841D07-FF9C-EA02-1380-CD08402F2DD8}"/>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6" name="Footer Placeholder 5">
            <a:extLst>
              <a:ext uri="{FF2B5EF4-FFF2-40B4-BE49-F238E27FC236}">
                <a16:creationId xmlns:a16="http://schemas.microsoft.com/office/drawing/2014/main" id="{949AFD7F-F13E-D2F0-9D7B-56B89C6742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1B0E61-71CC-C1F5-6177-36F7EB4A53FB}"/>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127989229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8C020-93E8-46B4-D393-C772A3415F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A1E0AB-2D73-A1EB-4424-38822459E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4CA54D-9465-1284-7A63-4BBE183E10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BCFAD2-1380-D36A-8C04-62BDC66DC1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DD1413-A574-6DD8-7CC4-4F707B5E59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8C9E8D-AD54-39CB-8476-28DBD85329B8}"/>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8" name="Footer Placeholder 7">
            <a:extLst>
              <a:ext uri="{FF2B5EF4-FFF2-40B4-BE49-F238E27FC236}">
                <a16:creationId xmlns:a16="http://schemas.microsoft.com/office/drawing/2014/main" id="{7477DD40-BF0F-0663-4307-71A99C43B3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B37AD6-63E6-A1A3-CABA-35F26E35317B}"/>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5257524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78EBE-17A3-FE5C-FB4B-7A69035EB7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C6674C-54CA-7C17-3C3E-9909B34ACC3E}"/>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4" name="Footer Placeholder 3">
            <a:extLst>
              <a:ext uri="{FF2B5EF4-FFF2-40B4-BE49-F238E27FC236}">
                <a16:creationId xmlns:a16="http://schemas.microsoft.com/office/drawing/2014/main" id="{57278639-FAB7-9A43-1D16-030867B5E0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8377F5-05D0-FFC5-0E1F-28EA350A6001}"/>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352340654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0CF3AD-FD36-6775-B298-8FCE6D8D9775}"/>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3" name="Footer Placeholder 2">
            <a:extLst>
              <a:ext uri="{FF2B5EF4-FFF2-40B4-BE49-F238E27FC236}">
                <a16:creationId xmlns:a16="http://schemas.microsoft.com/office/drawing/2014/main" id="{0C8CDCB9-90A5-D559-1311-D4E2BDD44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B5A220-22ED-ECEA-17FF-1DFA19059EB9}"/>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38959562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8B952-F025-E12D-B481-4CDE0DD8CB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04ED05-F30B-6DEF-7B35-82F84E0568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72CEE0-B104-6FD0-5F0C-641630F3CC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CCF6C1-0A23-01E4-FAEC-6BD54CE8F40E}"/>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6" name="Footer Placeholder 5">
            <a:extLst>
              <a:ext uri="{FF2B5EF4-FFF2-40B4-BE49-F238E27FC236}">
                <a16:creationId xmlns:a16="http://schemas.microsoft.com/office/drawing/2014/main" id="{3B78CC05-0573-935F-6EA2-05C6EA5199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9D88DD-2B80-C06E-BB19-D7FC62CAF70F}"/>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13190220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3C099-0063-1698-9CBF-14CA00567C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F20740-A4FC-DF92-95E4-26F492434FA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E4D609-8340-C950-E7DA-A79F318AED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23B5E2-7845-75DB-5BB6-C9FED77E79F1}"/>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6" name="Footer Placeholder 5">
            <a:extLst>
              <a:ext uri="{FF2B5EF4-FFF2-40B4-BE49-F238E27FC236}">
                <a16:creationId xmlns:a16="http://schemas.microsoft.com/office/drawing/2014/main" id="{7958DA40-6664-B0BE-4267-05D072094F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37487D-1F41-ADC0-F66E-D65BCB0299F5}"/>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414601314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3E5D4-505E-F6A1-70FC-CC53A9601C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F2E44F-6942-6675-7F76-1364F90879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C8E8A7-4CFD-35F1-F0F6-D074D3A4AF42}"/>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C6A3207D-16E2-218B-B606-0FCFCF576E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7E62ED-ADA4-3826-DCE0-2176D4E2F632}"/>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314487413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DE963A-078D-8F15-042A-A8723EA862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25120A-B9FA-B364-0E65-421B36A209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F582FE-3266-5E47-9387-E9580FA19587}"/>
              </a:ext>
            </a:extLst>
          </p:cNvPr>
          <p:cNvSpPr>
            <a:spLocks noGrp="1"/>
          </p:cNvSpPr>
          <p:nvPr>
            <p:ph type="dt" sz="half" idx="10"/>
          </p:nvPr>
        </p:nvSpPr>
        <p:spPr/>
        <p:txBody>
          <a:body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CA276A12-26D5-4BCE-B73A-D3C0805314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FEEE70-9973-0F40-7065-E15DB56769B0}"/>
              </a:ext>
            </a:extLst>
          </p:cNvPr>
          <p:cNvSpPr>
            <a:spLocks noGrp="1"/>
          </p:cNvSpPr>
          <p:nvPr>
            <p:ph type="sldNum" sz="quarter" idx="12"/>
          </p:nvPr>
        </p:nvSpPr>
        <p:spPr/>
        <p:txBody>
          <a:bodyPr/>
          <a:lstStyle/>
          <a:p>
            <a:fld id="{6A7B957E-62BD-4BE6-8AAE-F837B31C0530}" type="slidenum">
              <a:rPr lang="en-US" smtClean="0"/>
              <a:t>‹#›</a:t>
            </a:fld>
            <a:endParaRPr lang="en-US"/>
          </a:p>
        </p:txBody>
      </p:sp>
    </p:spTree>
    <p:extLst>
      <p:ext uri="{BB962C8B-B14F-4D97-AF65-F5344CB8AC3E}">
        <p14:creationId xmlns:p14="http://schemas.microsoft.com/office/powerpoint/2010/main" val="6341607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B2430"/>
                </a:solidFill>
                <a:latin typeface="Arial" pitchFamily="34" charset="0"/>
                <a:ea typeface="Arial" pitchFamily="34" charset="-122"/>
                <a:cs typeface="Arial"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526540"/>
            <a:ext cx="10566400" cy="4518660"/>
          </a:xfrm>
          <a:prstGeom prst="rect">
            <a:avLst/>
          </a:prstGeom>
          <a:noFill/>
          <a:ln/>
        </p:spPr>
        <p:txBody>
          <a:bodyPr wrap="square" lIns="0" tIns="0" rIns="0" bIns="0" rtlCol="0" anchor="t"/>
          <a:lstStyle>
            <a:lvl1pPr marL="0" indent="0" algn="l">
              <a:lnSpc>
                <a:spcPct val="140000"/>
              </a:lnSpc>
              <a:buNone/>
              <a:defRPr lang="en-US" sz="1600" dirty="0">
                <a:solidFill>
                  <a:srgbClr val="2F3A48"/>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34301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6ED31A-1BBE-1E05-AC26-D5EF92D6D5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000230-B745-4ACD-647F-5226DB732C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FEEC1-35E9-DBD6-1E1F-384AB7FBBD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340F95-D9B5-4D99-8C4F-262460B5889F}" type="datetimeFigureOut">
              <a:rPr lang="en-US" smtClean="0"/>
              <a:t>10/10/2026</a:t>
            </a:fld>
            <a:endParaRPr lang="en-US"/>
          </a:p>
        </p:txBody>
      </p:sp>
      <p:sp>
        <p:nvSpPr>
          <p:cNvPr id="5" name="Footer Placeholder 4">
            <a:extLst>
              <a:ext uri="{FF2B5EF4-FFF2-40B4-BE49-F238E27FC236}">
                <a16:creationId xmlns:a16="http://schemas.microsoft.com/office/drawing/2014/main" id="{A7E7C766-AA31-7A00-8C67-3E94AAE559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272AB0A-10EF-F06C-C84A-6E6C7952CE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7B957E-62BD-4BE6-8AAE-F837B31C0530}" type="slidenum">
              <a:rPr lang="en-US" smtClean="0"/>
              <a:t>‹#›</a:t>
            </a:fld>
            <a:endParaRPr lang="en-US"/>
          </a:p>
        </p:txBody>
      </p:sp>
    </p:spTree>
    <p:extLst>
      <p:ext uri="{BB962C8B-B14F-4D97-AF65-F5344CB8AC3E}">
        <p14:creationId xmlns:p14="http://schemas.microsoft.com/office/powerpoint/2010/main" val="207588225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8206-8219-549C-1D2B-332421C9D6F3}"/>
              </a:ext>
            </a:extLst>
          </p:cNvPr>
          <p:cNvSpPr>
            <a:spLocks noGrp="1"/>
          </p:cNvSpPr>
          <p:nvPr>
            <p:ph type="title"/>
          </p:nvPr>
        </p:nvSpPr>
        <p:spPr/>
        <p:txBody>
          <a:bodyPr>
            <a:normAutofit fontScale="90000"/>
          </a:bodyPr>
          <a:lstStyle/>
          <a:p>
            <a:r>
              <a:rPr lang="en-US" dirty="0"/>
              <a:t>Problem Set 1 - Threaded Prime Number Search</a:t>
            </a:r>
          </a:p>
        </p:txBody>
      </p:sp>
      <p:sp>
        <p:nvSpPr>
          <p:cNvPr id="3" name="Text Placeholder 2">
            <a:extLst>
              <a:ext uri="{FF2B5EF4-FFF2-40B4-BE49-F238E27FC236}">
                <a16:creationId xmlns:a16="http://schemas.microsoft.com/office/drawing/2014/main" id="{8DDF8F20-9563-82FF-84C6-455FA149C416}"/>
              </a:ext>
            </a:extLst>
          </p:cNvPr>
          <p:cNvSpPr>
            <a:spLocks noGrp="1"/>
          </p:cNvSpPr>
          <p:nvPr>
            <p:ph type="body" idx="101"/>
          </p:nvPr>
        </p:nvSpPr>
        <p:spPr/>
        <p:txBody>
          <a:bodyPr/>
          <a:lstStyle/>
          <a:p>
            <a:r>
              <a:rPr lang="en-US" dirty="0"/>
              <a:t>Clarence Ivan Ang</a:t>
            </a:r>
          </a:p>
        </p:txBody>
      </p:sp>
    </p:spTree>
    <p:extLst>
      <p:ext uri="{BB962C8B-B14F-4D97-AF65-F5344CB8AC3E}">
        <p14:creationId xmlns:p14="http://schemas.microsoft.com/office/powerpoint/2010/main" val="739012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Straight division: implementation</a:t>
            </a:r>
            <a:endParaRPr lang="en-US" sz="2800" dirty="0"/>
          </a:p>
        </p:txBody>
      </p:sp>
      <p:sp>
        <p:nvSpPr>
          <p:cNvPr id="3" name="Text 1"/>
          <p:cNvSpPr/>
          <p:nvPr/>
        </p:nvSpPr>
        <p:spPr>
          <a:xfrm>
            <a:off x="875284" y="1526539"/>
            <a:ext cx="4343400" cy="4754880"/>
          </a:xfrm>
          <a:prstGeom prst="rect">
            <a:avLst/>
          </a:prstGeom>
          <a:noFill/>
          <a:ln/>
        </p:spPr>
        <p:txBody>
          <a:bodyPr wrap="square" lIns="0" tIns="0" rIns="0" bIns="0" rtlCol="0" anchor="t">
            <a:normAutofit/>
          </a:bodyPr>
          <a:lstStyle/>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The range 1 to y is cut into x contiguous blocks</a:t>
            </a:r>
            <a:br>
              <a:rPr lang="en-US" sz="1600" dirty="0">
                <a:solidFill>
                  <a:srgbClr val="2F3A48"/>
                </a:solidFill>
                <a:latin typeface="Arial" pitchFamily="34" charset="0"/>
                <a:ea typeface="Arial" pitchFamily="34" charset="-122"/>
                <a:cs typeface="Arial" pitchFamily="34" charset="-120"/>
              </a:rPr>
            </a:br>
            <a:r>
              <a:rPr lang="en-US" sz="1600" dirty="0">
                <a:solidFill>
                  <a:srgbClr val="2F3A48"/>
                </a:solidFill>
                <a:latin typeface="Arial" pitchFamily="34" charset="0"/>
                <a:ea typeface="Arial" pitchFamily="34" charset="-122"/>
                <a:cs typeface="Arial" pitchFamily="34" charset="-120"/>
              </a:rPr>
              <a:t>(y = 100,000, x = 4: 1–25,000, 25,001–50,000, 50,001–75,000, 75,001–100,000)</a:t>
            </a:r>
            <a:endParaRPr lang="en-US" sz="1600" dirty="0"/>
          </a:p>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Each thread tests every number in its own block by trial division up to √n</a:t>
            </a:r>
            <a:endParaRPr lang="en-US" sz="1600" dirty="0"/>
          </a:p>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Threads never wait for each other until the final join</a:t>
            </a:r>
            <a:endParaRPr lang="en-US" sz="1600" dirty="0"/>
          </a:p>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Per-thread data sits on its own 64-byte cache line, so counting primes needs no lock and avoids false sharing</a:t>
            </a:r>
            <a:endParaRPr lang="en-US" sz="1600" dirty="0"/>
          </a:p>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All threads are created first, then released together from a start gate</a:t>
            </a:r>
            <a:endParaRPr lang="en-US" sz="1600" dirty="0"/>
          </a:p>
        </p:txBody>
      </p:sp>
      <p:sp>
        <p:nvSpPr>
          <p:cNvPr id="10" name="Code card"/>
          <p:cNvSpPr/>
          <p:nvPr/>
        </p:nvSpPr>
        <p:spPr>
          <a:xfrm>
            <a:off x="5504688" y="1526539"/>
            <a:ext cx="6191504" cy="4705096"/>
          </a:xfrm>
          <a:prstGeom prst="rect">
            <a:avLst/>
          </a:prstGeom>
          <a:solidFill>
            <a:srgbClr val="1B2430"/>
          </a:solidFill>
          <a:ln>
            <a:noFill/>
          </a:ln>
        </p:spPr>
        <p:txBody>
          <a:bodyPr rtlCol="0" anchor="ctr"/>
          <a:lstStyle/>
          <a:p>
            <a:endParaRPr lang="en-US"/>
          </a:p>
        </p:txBody>
      </p:sp>
      <p:sp>
        <p:nvSpPr>
          <p:cNvPr id="11" name="Code highlight 1"/>
          <p:cNvSpPr/>
          <p:nvPr/>
        </p:nvSpPr>
        <p:spPr>
          <a:xfrm>
            <a:off x="5559552" y="1872487"/>
            <a:ext cx="6081776" cy="152400"/>
          </a:xfrm>
          <a:prstGeom prst="rect">
            <a:avLst/>
          </a:prstGeom>
          <a:solidFill>
            <a:srgbClr val="2D3C52"/>
          </a:solidFill>
          <a:ln>
            <a:noFill/>
          </a:ln>
        </p:spPr>
        <p:txBody>
          <a:bodyPr rtlCol="0" anchor="ctr"/>
          <a:lstStyle/>
          <a:p>
            <a:endParaRPr lang="en-US"/>
          </a:p>
        </p:txBody>
      </p:sp>
      <p:sp>
        <p:nvSpPr>
          <p:cNvPr id="12" name="Code highlight 2"/>
          <p:cNvSpPr/>
          <p:nvPr/>
        </p:nvSpPr>
        <p:spPr>
          <a:xfrm>
            <a:off x="5559552" y="2761487"/>
            <a:ext cx="6081776" cy="152400"/>
          </a:xfrm>
          <a:prstGeom prst="rect">
            <a:avLst/>
          </a:prstGeom>
          <a:solidFill>
            <a:srgbClr val="2D3C52"/>
          </a:solidFill>
          <a:ln>
            <a:noFill/>
          </a:ln>
        </p:spPr>
        <p:txBody>
          <a:bodyPr rtlCol="0" anchor="ctr"/>
          <a:lstStyle/>
          <a:p>
            <a:endParaRPr lang="en-US"/>
          </a:p>
        </p:txBody>
      </p:sp>
      <p:sp>
        <p:nvSpPr>
          <p:cNvPr id="13" name="Code highlight 4"/>
          <p:cNvSpPr/>
          <p:nvPr/>
        </p:nvSpPr>
        <p:spPr>
          <a:xfrm>
            <a:off x="5559552" y="4069587"/>
            <a:ext cx="6081776" cy="685800"/>
          </a:xfrm>
          <a:prstGeom prst="rect">
            <a:avLst/>
          </a:prstGeom>
          <a:solidFill>
            <a:srgbClr val="2D3C52"/>
          </a:solidFill>
          <a:ln>
            <a:noFill/>
          </a:ln>
        </p:spPr>
        <p:txBody>
          <a:bodyPr rtlCol="0" anchor="ctr"/>
          <a:lstStyle/>
          <a:p>
            <a:endParaRPr lang="en-US"/>
          </a:p>
        </p:txBody>
      </p:sp>
      <p:sp>
        <p:nvSpPr>
          <p:cNvPr id="14" name="Code highlight 5"/>
          <p:cNvSpPr/>
          <p:nvPr/>
        </p:nvSpPr>
        <p:spPr>
          <a:xfrm>
            <a:off x="5559552" y="5022087"/>
            <a:ext cx="6081776" cy="685800"/>
          </a:xfrm>
          <a:prstGeom prst="rect">
            <a:avLst/>
          </a:prstGeom>
          <a:solidFill>
            <a:srgbClr val="2D3C52"/>
          </a:solidFill>
          <a:ln>
            <a:noFill/>
          </a:ln>
        </p:spPr>
        <p:txBody>
          <a:bodyPr rtlCol="0" anchor="ctr"/>
          <a:lstStyle/>
          <a:p>
            <a:endParaRPr lang="en-US"/>
          </a:p>
        </p:txBody>
      </p:sp>
      <p:sp>
        <p:nvSpPr>
          <p:cNvPr id="15" name="Code highlight 3"/>
          <p:cNvSpPr/>
          <p:nvPr/>
        </p:nvSpPr>
        <p:spPr>
          <a:xfrm>
            <a:off x="5559552" y="5911087"/>
            <a:ext cx="6081776" cy="152400"/>
          </a:xfrm>
          <a:prstGeom prst="rect">
            <a:avLst/>
          </a:prstGeom>
          <a:solidFill>
            <a:srgbClr val="2D3C52"/>
          </a:solidFill>
          <a:ln>
            <a:noFill/>
          </a:ln>
        </p:spPr>
        <p:txBody>
          <a:bodyPr rtlCol="0" anchor="ctr"/>
          <a:lstStyle/>
          <a:p>
            <a:endParaRPr lang="en-US"/>
          </a:p>
        </p:txBody>
      </p:sp>
      <p:sp>
        <p:nvSpPr>
          <p:cNvPr id="16" name="Code"/>
          <p:cNvSpPr txBox="1"/>
          <p:nvPr/>
        </p:nvSpPr>
        <p:spPr>
          <a:xfrm>
            <a:off x="5925312" y="1681987"/>
            <a:ext cx="5661152" cy="4394200"/>
          </a:xfrm>
          <a:prstGeom prst="rect">
            <a:avLst/>
          </a:prstGeom>
          <a:noFill/>
          <a:ln>
            <a:noFill/>
          </a:ln>
        </p:spPr>
        <p:txBody>
          <a:bodyPr wrap="none" lIns="0" tIns="0" rIns="0" bIns="0" rtlCol="0" anchor="t">
            <a:noAutofit/>
          </a:bodyPr>
          <a:lstStyle/>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straight_division.h</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blocks[i] = splitRange(</a:t>
            </a:r>
            <a:r>
              <a:rPr lang="en-US" sz="1200" dirty="0">
                <a:solidFill>
                  <a:srgbClr val="F4B26B"/>
                </a:solidFill>
                <a:latin typeface="Consolas" pitchFamily="49" charset="0"/>
                <a:ea typeface="Consolas" pitchFamily="49" charset="-122"/>
                <a:cs typeface="Consolas" pitchFamily="49" charset="-120"/>
              </a:rPr>
              <a:t>1</a:t>
            </a:r>
            <a:r>
              <a:rPr lang="en-US" sz="1200" dirty="0">
                <a:solidFill>
                  <a:srgbClr val="DCE3EE"/>
                </a:solidFill>
                <a:latin typeface="Consolas" pitchFamily="49" charset="0"/>
                <a:ea typeface="Consolas" pitchFamily="49" charset="-122"/>
                <a:cs typeface="Consolas" pitchFamily="49" charset="-120"/>
              </a:rPr>
              <a:t>, limit, numThreads, i);</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void</a:t>
            </a:r>
            <a:r>
              <a:rPr lang="en-US" sz="1200" dirty="0">
                <a:solidFill>
                  <a:srgbClr val="DCE3EE"/>
                </a:solidFill>
                <a:latin typeface="Consolas" pitchFamily="49" charset="0"/>
                <a:ea typeface="Consolas" pitchFamily="49" charset="-122"/>
                <a:cs typeface="Consolas" pitchFamily="49" charset="-120"/>
              </a:rPr>
              <a:t> searchBlock(</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 threadId)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Range</a:t>
            </a:r>
            <a:r>
              <a:rPr lang="en-US" sz="1200" dirty="0">
                <a:solidFill>
                  <a:srgbClr val="DCE3EE"/>
                </a:solidFill>
                <a:latin typeface="Consolas" pitchFamily="49" charset="0"/>
                <a:ea typeface="Consolas" pitchFamily="49" charset="-122"/>
                <a:cs typeface="Consolas" pitchFamily="49" charset="-120"/>
              </a:rPr>
              <a:t> block = blocks[threadId - </a:t>
            </a:r>
            <a:r>
              <a:rPr lang="en-US" sz="1200" dirty="0">
                <a:solidFill>
                  <a:srgbClr val="F4B26B"/>
                </a:solidFill>
                <a:latin typeface="Consolas" pitchFamily="49" charset="0"/>
                <a:ea typeface="Consolas" pitchFamily="49" charset="-122"/>
                <a:cs typeface="Consolas" pitchFamily="49" charset="-120"/>
              </a:rPr>
              <a:t>1</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uint64_t</a:t>
            </a:r>
            <a:r>
              <a:rPr lang="en-US" sz="1200" dirty="0">
                <a:solidFill>
                  <a:srgbClr val="DCE3EE"/>
                </a:solidFill>
                <a:latin typeface="Consolas" pitchFamily="49" charset="0"/>
                <a:ea typeface="Consolas" pitchFamily="49" charset="-122"/>
                <a:cs typeface="Consolas" pitchFamily="49" charset="-120"/>
              </a:rPr>
              <a:t> n = block.first;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while</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true</a:t>
            </a: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if</a:t>
            </a:r>
            <a:r>
              <a:rPr lang="en-US" sz="1200" dirty="0">
                <a:solidFill>
                  <a:srgbClr val="DCE3EE"/>
                </a:solidFill>
                <a:latin typeface="Consolas" pitchFamily="49" charset="0"/>
                <a:ea typeface="Consolas" pitchFamily="49" charset="-122"/>
                <a:cs typeface="Consolas" pitchFamily="49" charset="-120"/>
              </a:rPr>
              <a:t> (isPrime(n)) reportPrime(threadId, n);</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if</a:t>
            </a:r>
            <a:r>
              <a:rPr lang="en-US" sz="1200" dirty="0">
                <a:solidFill>
                  <a:srgbClr val="DCE3EE"/>
                </a:solidFill>
                <a:latin typeface="Consolas" pitchFamily="49" charset="0"/>
                <a:ea typeface="Consolas" pitchFamily="49" charset="-122"/>
                <a:cs typeface="Consolas" pitchFamily="49" charset="-120"/>
              </a:rPr>
              <a:t> (n == block.last) </a:t>
            </a:r>
            <a:r>
              <a:rPr lang="en-US" sz="1200" dirty="0">
                <a:solidFill>
                  <a:srgbClr val="8EC1F5"/>
                </a:solidFill>
                <a:latin typeface="Consolas" pitchFamily="49" charset="0"/>
                <a:ea typeface="Consolas" pitchFamily="49" charset="-122"/>
                <a:cs typeface="Consolas" pitchFamily="49" charset="-120"/>
              </a:rPr>
              <a:t>break</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n++;</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prime_output.h</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struct</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alignas</a:t>
            </a:r>
            <a:r>
              <a:rPr lang="en-US" sz="1200" dirty="0">
                <a:solidFill>
                  <a:srgbClr val="DCE3EE"/>
                </a:solidFill>
                <a:latin typeface="Consolas" pitchFamily="49" charset="0"/>
                <a:ea typeface="Consolas" pitchFamily="49" charset="-122"/>
                <a:cs typeface="Consolas" pitchFamily="49" charset="-120"/>
              </a:rPr>
              <a:t>(</a:t>
            </a:r>
            <a:r>
              <a:rPr lang="en-US" sz="1200" dirty="0">
                <a:solidFill>
                  <a:srgbClr val="F4B26B"/>
                </a:solidFill>
                <a:latin typeface="Consolas" pitchFamily="49" charset="0"/>
                <a:ea typeface="Consolas" pitchFamily="49" charset="-122"/>
                <a:cs typeface="Consolas" pitchFamily="49" charset="-120"/>
              </a:rPr>
              <a:t>64</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ThreadData</a:t>
            </a: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uint64_t</a:t>
            </a:r>
            <a:r>
              <a:rPr lang="en-US" sz="1200" dirty="0">
                <a:solidFill>
                  <a:srgbClr val="DCE3EE"/>
                </a:solidFill>
                <a:latin typeface="Consolas" pitchFamily="49" charset="0"/>
                <a:ea typeface="Consolas" pitchFamily="49" charset="-122"/>
                <a:cs typeface="Consolas" pitchFamily="49" charset="-120"/>
              </a:rPr>
              <a:t> primeCount = </a:t>
            </a:r>
            <a:r>
              <a:rPr lang="en-US" sz="1200" dirty="0">
                <a:solidFill>
                  <a:srgbClr val="F4B26B"/>
                </a:solidFill>
                <a:latin typeface="Consolas" pitchFamily="49" charset="0"/>
                <a:ea typeface="Consolas" pitchFamily="49" charset="-122"/>
                <a:cs typeface="Consolas" pitchFamily="49" charset="-120"/>
              </a:rPr>
              <a:t>0</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vector</a:t>
            </a:r>
            <a:r>
              <a:rPr lang="en-US" sz="1200" dirty="0">
                <a:solidFill>
                  <a:srgbClr val="DCE3EE"/>
                </a:solidFill>
                <a:latin typeface="Consolas" pitchFamily="49" charset="0"/>
                <a:ea typeface="Consolas" pitchFamily="49" charset="-122"/>
                <a:cs typeface="Consolas" pitchFamily="49" charset="-120"/>
              </a:rPr>
              <a:t>&lt;</a:t>
            </a:r>
            <a:r>
              <a:rPr lang="en-US" sz="1200" dirty="0">
                <a:solidFill>
                  <a:srgbClr val="7ED3C0"/>
                </a:solidFill>
                <a:latin typeface="Consolas" pitchFamily="49" charset="0"/>
                <a:ea typeface="Consolas" pitchFamily="49" charset="-122"/>
                <a:cs typeface="Consolas" pitchFamily="49" charset="-120"/>
              </a:rPr>
              <a:t>PrimeInfo</a:t>
            </a:r>
            <a:r>
              <a:rPr lang="en-US" sz="1200" dirty="0">
                <a:solidFill>
                  <a:srgbClr val="DCE3EE"/>
                </a:solidFill>
                <a:latin typeface="Consolas" pitchFamily="49" charset="0"/>
                <a:ea typeface="Consolas" pitchFamily="49" charset="-122"/>
                <a:cs typeface="Consolas" pitchFamily="49" charset="-120"/>
              </a:rPr>
              <a:t>&gt; primes;</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run_threads.h</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gateMutex.lock();</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gateState = </a:t>
            </a:r>
            <a:r>
              <a:rPr lang="en-US" sz="1200" dirty="0">
                <a:solidFill>
                  <a:srgbClr val="F4B26B"/>
                </a:solidFill>
                <a:latin typeface="Consolas" pitchFamily="49" charset="0"/>
                <a:ea typeface="Consolas" pitchFamily="49" charset="-122"/>
                <a:cs typeface="Consolas" pitchFamily="49" charset="-120"/>
              </a:rPr>
              <a:t>1</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gateMutex.unlock();</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gateChanged.notify_all();</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threads[i].join();</a:t>
            </a:r>
          </a:p>
        </p:txBody>
      </p:sp>
      <p:sp>
        <p:nvSpPr>
          <p:cNvPr id="17" name="Code badge 1"/>
          <p:cNvSpPr/>
          <p:nvPr/>
        </p:nvSpPr>
        <p:spPr>
          <a:xfrm>
            <a:off x="5623560" y="1868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1</a:t>
            </a:r>
          </a:p>
        </p:txBody>
      </p:sp>
      <p:sp>
        <p:nvSpPr>
          <p:cNvPr id="18" name="Code badge 2"/>
          <p:cNvSpPr/>
          <p:nvPr/>
        </p:nvSpPr>
        <p:spPr>
          <a:xfrm>
            <a:off x="5623560" y="2757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2</a:t>
            </a:r>
          </a:p>
        </p:txBody>
      </p:sp>
      <p:sp>
        <p:nvSpPr>
          <p:cNvPr id="19" name="Code badge 4"/>
          <p:cNvSpPr/>
          <p:nvPr/>
        </p:nvSpPr>
        <p:spPr>
          <a:xfrm>
            <a:off x="5623560" y="40657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4</a:t>
            </a:r>
          </a:p>
        </p:txBody>
      </p:sp>
      <p:sp>
        <p:nvSpPr>
          <p:cNvPr id="20" name="Code badge 5"/>
          <p:cNvSpPr/>
          <p:nvPr/>
        </p:nvSpPr>
        <p:spPr>
          <a:xfrm>
            <a:off x="5623560" y="50182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5</a:t>
            </a:r>
          </a:p>
        </p:txBody>
      </p:sp>
      <p:sp>
        <p:nvSpPr>
          <p:cNvPr id="21" name="Code badge 3"/>
          <p:cNvSpPr/>
          <p:nvPr/>
        </p:nvSpPr>
        <p:spPr>
          <a:xfrm>
            <a:off x="5623560" y="59072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3</a:t>
            </a:r>
          </a:p>
        </p:txBody>
      </p:sp>
      <p:sp>
        <p:nvSpPr>
          <p:cNvPr id="22" name="Code caption"/>
          <p:cNvSpPr txBox="1"/>
          <p:nvPr/>
        </p:nvSpPr>
        <p:spPr>
          <a:xfrm>
            <a:off x="5504688" y="6304787"/>
            <a:ext cx="6191504" cy="201168"/>
          </a:xfrm>
          <a:prstGeom prst="rect">
            <a:avLst/>
          </a:prstGeom>
          <a:noFill/>
          <a:ln>
            <a:noFill/>
          </a:ln>
        </p:spPr>
        <p:txBody>
          <a:bodyPr wrap="square" lIns="0" tIns="0" rIns="0" bIns="0" rtlCol="0" anchor="t">
            <a:noAutofit/>
          </a:bodyPr>
          <a:lstStyle/>
          <a:p>
            <a:pPr algn="l"/>
            <a:r>
              <a:rPr lang="en-US" sz="1100" dirty="0">
                <a:solidFill>
                  <a:srgbClr val="5A6675"/>
                </a:solidFill>
                <a:latin typeface="Arial" pitchFamily="34" charset="0"/>
                <a:cs typeface="Arial" pitchFamily="34" charset="-120"/>
              </a:rPr>
              <a:t>Excerpts from the project source, abridged.</a:t>
            </a:r>
          </a:p>
          <a:p>
            <a:pPr algn="l"/>
            <a:r>
              <a:rPr lang="en-US" sz="1100" dirty="0">
                <a:solidFill>
                  <a:srgbClr val="5A6675"/>
                </a:solidFill>
                <a:latin typeface="Arial" pitchFamily="34" charset="0"/>
                <a:cs typeface="Arial" pitchFamily="34" charset="-120"/>
              </a:rPr>
              <a:t> </a:t>
            </a:r>
          </a:p>
          <a:p>
            <a:pPr algn="l"/>
            <a:r>
              <a:rPr lang="en-US" sz="1100" dirty="0">
                <a:solidFill>
                  <a:srgbClr val="5A6675"/>
                </a:solidFill>
                <a:latin typeface="Arial" pitchFamily="34" charset="0"/>
                <a:cs typeface="Arial" pitchFamily="34" charset="-120"/>
              </a:rPr>
              <a:t>Note: Claude was used in mapping the specific line of code per number to the bullet point.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Divisibility testing: implementation</a:t>
            </a:r>
            <a:endParaRPr lang="en-US" sz="2800" dirty="0"/>
          </a:p>
        </p:txBody>
      </p:sp>
      <p:sp>
        <p:nvSpPr>
          <p:cNvPr id="3" name="Text 1"/>
          <p:cNvSpPr/>
          <p:nvPr/>
        </p:nvSpPr>
        <p:spPr>
          <a:xfrm>
            <a:off x="875284" y="1526539"/>
            <a:ext cx="4343400" cy="4754880"/>
          </a:xfrm>
          <a:prstGeom prst="rect">
            <a:avLst/>
          </a:prstGeom>
          <a:noFill/>
          <a:ln/>
        </p:spPr>
        <p:txBody>
          <a:bodyPr wrap="square" lIns="0" tIns="0" rIns="0" bIns="0" rtlCol="0" anchor="t">
            <a:normAutofit/>
          </a:bodyPr>
          <a:lstStyle/>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Numbers 2 to y are tested one at a time</a:t>
            </a:r>
            <a:endParaRPr lang="en-US" sz="1600" dirty="0"/>
          </a:p>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For each n, the divisors 2 to √n are split into x blocks, one per thread</a:t>
            </a:r>
            <a:endParaRPr lang="en-US" sz="1600" dirty="0"/>
          </a:p>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A shared atomic flag lets every thread stop early once any thread finds a divisor</a:t>
            </a:r>
            <a:endParaRPr lang="en-US" sz="1600" dirty="0"/>
          </a:p>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A std::barrier makes all threads finish n before n + 1 starts; its completion step decides whether n is prime and reports it</a:t>
            </a:r>
            <a:endParaRPr lang="en-US" sz="1600" dirty="0"/>
          </a:p>
          <a:p>
            <a:pPr marL="320040" indent="-320040" algn="l">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Threads are created once and reused, so the barrier runs y − 1 times</a:t>
            </a:r>
            <a:endParaRPr lang="en-US" sz="1600" dirty="0"/>
          </a:p>
        </p:txBody>
      </p:sp>
      <p:sp>
        <p:nvSpPr>
          <p:cNvPr id="10" name="Code card"/>
          <p:cNvSpPr/>
          <p:nvPr/>
        </p:nvSpPr>
        <p:spPr>
          <a:xfrm>
            <a:off x="5504688" y="1526539"/>
            <a:ext cx="6191504" cy="4285996"/>
          </a:xfrm>
          <a:prstGeom prst="rect">
            <a:avLst/>
          </a:prstGeom>
          <a:solidFill>
            <a:srgbClr val="1B2430"/>
          </a:solidFill>
          <a:ln>
            <a:noFill/>
          </a:ln>
        </p:spPr>
        <p:txBody>
          <a:bodyPr rtlCol="0" anchor="ctr"/>
          <a:lstStyle/>
          <a:p>
            <a:endParaRPr lang="en-US"/>
          </a:p>
        </p:txBody>
      </p:sp>
      <p:sp>
        <p:nvSpPr>
          <p:cNvPr id="11" name="Code highlight 1"/>
          <p:cNvSpPr/>
          <p:nvPr/>
        </p:nvSpPr>
        <p:spPr>
          <a:xfrm>
            <a:off x="5559552" y="1872487"/>
            <a:ext cx="6081776" cy="152400"/>
          </a:xfrm>
          <a:prstGeom prst="rect">
            <a:avLst/>
          </a:prstGeom>
          <a:solidFill>
            <a:srgbClr val="2D3C52"/>
          </a:solidFill>
          <a:ln>
            <a:noFill/>
          </a:ln>
        </p:spPr>
        <p:txBody>
          <a:bodyPr rtlCol="0" anchor="ctr"/>
          <a:lstStyle/>
          <a:p>
            <a:endParaRPr lang="en-US"/>
          </a:p>
        </p:txBody>
      </p:sp>
      <p:sp>
        <p:nvSpPr>
          <p:cNvPr id="12" name="Code highlight 1"/>
          <p:cNvSpPr/>
          <p:nvPr/>
        </p:nvSpPr>
        <p:spPr>
          <a:xfrm>
            <a:off x="5559552" y="2583687"/>
            <a:ext cx="6081776" cy="152400"/>
          </a:xfrm>
          <a:prstGeom prst="rect">
            <a:avLst/>
          </a:prstGeom>
          <a:solidFill>
            <a:srgbClr val="2D3C52"/>
          </a:solidFill>
          <a:ln>
            <a:noFill/>
          </a:ln>
        </p:spPr>
        <p:txBody>
          <a:bodyPr rtlCol="0" anchor="ctr"/>
          <a:lstStyle/>
          <a:p>
            <a:endParaRPr lang="en-US"/>
          </a:p>
        </p:txBody>
      </p:sp>
      <p:sp>
        <p:nvSpPr>
          <p:cNvPr id="13" name="Code highlight 5"/>
          <p:cNvSpPr/>
          <p:nvPr/>
        </p:nvSpPr>
        <p:spPr>
          <a:xfrm>
            <a:off x="5559552" y="2405887"/>
            <a:ext cx="6081776" cy="152400"/>
          </a:xfrm>
          <a:prstGeom prst="rect">
            <a:avLst/>
          </a:prstGeom>
          <a:solidFill>
            <a:srgbClr val="2D3C52"/>
          </a:solidFill>
          <a:ln>
            <a:noFill/>
          </a:ln>
        </p:spPr>
        <p:txBody>
          <a:bodyPr rtlCol="0" anchor="ctr"/>
          <a:lstStyle/>
          <a:p>
            <a:endParaRPr lang="en-US"/>
          </a:p>
        </p:txBody>
      </p:sp>
      <p:sp>
        <p:nvSpPr>
          <p:cNvPr id="14" name="Code highlight 2"/>
          <p:cNvSpPr/>
          <p:nvPr/>
        </p:nvSpPr>
        <p:spPr>
          <a:xfrm>
            <a:off x="5559552" y="2761487"/>
            <a:ext cx="6081776" cy="330200"/>
          </a:xfrm>
          <a:prstGeom prst="rect">
            <a:avLst/>
          </a:prstGeom>
          <a:solidFill>
            <a:srgbClr val="2D3C52"/>
          </a:solidFill>
          <a:ln>
            <a:noFill/>
          </a:ln>
        </p:spPr>
        <p:txBody>
          <a:bodyPr rtlCol="0" anchor="ctr"/>
          <a:lstStyle/>
          <a:p>
            <a:endParaRPr lang="en-US"/>
          </a:p>
        </p:txBody>
      </p:sp>
      <p:sp>
        <p:nvSpPr>
          <p:cNvPr id="15" name="Code highlight 3"/>
          <p:cNvSpPr/>
          <p:nvPr/>
        </p:nvSpPr>
        <p:spPr>
          <a:xfrm>
            <a:off x="5559552" y="3294887"/>
            <a:ext cx="6081776" cy="152400"/>
          </a:xfrm>
          <a:prstGeom prst="rect">
            <a:avLst/>
          </a:prstGeom>
          <a:solidFill>
            <a:srgbClr val="2D3C52"/>
          </a:solidFill>
          <a:ln>
            <a:noFill/>
          </a:ln>
        </p:spPr>
        <p:txBody>
          <a:bodyPr rtlCol="0" anchor="ctr"/>
          <a:lstStyle/>
          <a:p>
            <a:endParaRPr lang="en-US"/>
          </a:p>
        </p:txBody>
      </p:sp>
      <p:sp>
        <p:nvSpPr>
          <p:cNvPr id="16" name="Code highlight 3"/>
          <p:cNvSpPr/>
          <p:nvPr/>
        </p:nvSpPr>
        <p:spPr>
          <a:xfrm>
            <a:off x="5559552" y="3650487"/>
            <a:ext cx="6081776" cy="152400"/>
          </a:xfrm>
          <a:prstGeom prst="rect">
            <a:avLst/>
          </a:prstGeom>
          <a:solidFill>
            <a:srgbClr val="2D3C52"/>
          </a:solidFill>
          <a:ln>
            <a:noFill/>
          </a:ln>
        </p:spPr>
        <p:txBody>
          <a:bodyPr rtlCol="0" anchor="ctr"/>
          <a:lstStyle/>
          <a:p>
            <a:endParaRPr lang="en-US"/>
          </a:p>
        </p:txBody>
      </p:sp>
      <p:sp>
        <p:nvSpPr>
          <p:cNvPr id="17" name="Code highlight 4"/>
          <p:cNvSpPr/>
          <p:nvPr/>
        </p:nvSpPr>
        <p:spPr>
          <a:xfrm>
            <a:off x="5559552" y="4361687"/>
            <a:ext cx="6081776" cy="152400"/>
          </a:xfrm>
          <a:prstGeom prst="rect">
            <a:avLst/>
          </a:prstGeom>
          <a:solidFill>
            <a:srgbClr val="2D3C52"/>
          </a:solidFill>
          <a:ln>
            <a:noFill/>
          </a:ln>
        </p:spPr>
        <p:txBody>
          <a:bodyPr rtlCol="0" anchor="ctr"/>
          <a:lstStyle/>
          <a:p>
            <a:endParaRPr lang="en-US"/>
          </a:p>
        </p:txBody>
      </p:sp>
      <p:sp>
        <p:nvSpPr>
          <p:cNvPr id="18" name="Code highlight 4"/>
          <p:cNvSpPr/>
          <p:nvPr/>
        </p:nvSpPr>
        <p:spPr>
          <a:xfrm>
            <a:off x="5559552" y="5136387"/>
            <a:ext cx="6081776" cy="152400"/>
          </a:xfrm>
          <a:prstGeom prst="rect">
            <a:avLst/>
          </a:prstGeom>
          <a:solidFill>
            <a:srgbClr val="2D3C52"/>
          </a:solidFill>
          <a:ln>
            <a:noFill/>
          </a:ln>
        </p:spPr>
        <p:txBody>
          <a:bodyPr rtlCol="0" anchor="ctr"/>
          <a:lstStyle/>
          <a:p>
            <a:endParaRPr lang="en-US"/>
          </a:p>
        </p:txBody>
      </p:sp>
      <p:sp>
        <p:nvSpPr>
          <p:cNvPr id="19" name="Code"/>
          <p:cNvSpPr txBox="1"/>
          <p:nvPr/>
        </p:nvSpPr>
        <p:spPr>
          <a:xfrm>
            <a:off x="5925312" y="1681987"/>
            <a:ext cx="5661152" cy="3975100"/>
          </a:xfrm>
          <a:prstGeom prst="rect">
            <a:avLst/>
          </a:prstGeom>
          <a:noFill/>
          <a:ln>
            <a:noFill/>
          </a:ln>
        </p:spPr>
        <p:txBody>
          <a:bodyPr wrap="none" lIns="0" tIns="0" rIns="0" bIns="0" rtlCol="0" anchor="t">
            <a:noAutofit/>
          </a:bodyPr>
          <a:lstStyle/>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divisibility_testing.h</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uint64_t</a:t>
            </a:r>
            <a:r>
              <a:rPr lang="en-US" sz="1200" dirty="0">
                <a:solidFill>
                  <a:srgbClr val="DCE3EE"/>
                </a:solidFill>
                <a:latin typeface="Consolas" pitchFamily="49" charset="0"/>
                <a:ea typeface="Consolas" pitchFamily="49" charset="-122"/>
                <a:cs typeface="Consolas" pitchFamily="49" charset="-120"/>
              </a:rPr>
              <a:t> currentNumber = </a:t>
            </a:r>
            <a:r>
              <a:rPr lang="en-US" sz="1200" dirty="0">
                <a:solidFill>
                  <a:srgbClr val="F4B26B"/>
                </a:solidFill>
                <a:latin typeface="Consolas" pitchFamily="49" charset="0"/>
                <a:ea typeface="Consolas" pitchFamily="49" charset="-122"/>
                <a:cs typeface="Consolas" pitchFamily="49" charset="-120"/>
              </a:rPr>
              <a:t>2</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void</a:t>
            </a:r>
            <a:r>
              <a:rPr lang="en-US" sz="1200" dirty="0">
                <a:solidFill>
                  <a:srgbClr val="DCE3EE"/>
                </a:solidFill>
                <a:latin typeface="Consolas" pitchFamily="49" charset="0"/>
                <a:ea typeface="Consolas" pitchFamily="49" charset="-122"/>
                <a:cs typeface="Consolas" pitchFamily="49" charset="-120"/>
              </a:rPr>
              <a:t> testDivisors(</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 threadId)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myThreadId = threadId;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while</a:t>
            </a:r>
            <a:r>
              <a:rPr lang="en-US" sz="1200" dirty="0">
                <a:solidFill>
                  <a:srgbClr val="DCE3EE"/>
                </a:solidFill>
                <a:latin typeface="Consolas" pitchFamily="49" charset="0"/>
                <a:ea typeface="Consolas" pitchFamily="49" charset="-122"/>
                <a:cs typeface="Consolas" pitchFamily="49" charset="-120"/>
              </a:rPr>
              <a:t> (!searchDone)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uint64_t</a:t>
            </a:r>
            <a:r>
              <a:rPr lang="en-US" sz="1200" dirty="0">
                <a:solidFill>
                  <a:srgbClr val="DCE3EE"/>
                </a:solidFill>
                <a:latin typeface="Consolas" pitchFamily="49" charset="0"/>
                <a:ea typeface="Consolas" pitchFamily="49" charset="-122"/>
                <a:cs typeface="Consolas" pitchFamily="49" charset="-120"/>
              </a:rPr>
              <a:t> n = currentNumber;</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Range</a:t>
            </a:r>
            <a:r>
              <a:rPr lang="en-US" sz="1200" dirty="0">
                <a:solidFill>
                  <a:srgbClr val="DCE3EE"/>
                </a:solidFill>
                <a:latin typeface="Consolas" pitchFamily="49" charset="0"/>
                <a:ea typeface="Consolas" pitchFamily="49" charset="-122"/>
                <a:cs typeface="Consolas" pitchFamily="49" charset="-120"/>
              </a:rPr>
              <a:t> divisors = splitRange(</a:t>
            </a:r>
            <a:r>
              <a:rPr lang="en-US" sz="1200" dirty="0">
                <a:solidFill>
                  <a:srgbClr val="F4B26B"/>
                </a:solidFill>
                <a:latin typeface="Consolas" pitchFamily="49" charset="0"/>
                <a:ea typeface="Consolas" pitchFamily="49" charset="-122"/>
                <a:cs typeface="Consolas" pitchFamily="49" charset="-120"/>
              </a:rPr>
              <a:t>2</a:t>
            </a:r>
            <a:r>
              <a:rPr lang="en-US" sz="1200" dirty="0">
                <a:solidFill>
                  <a:srgbClr val="DCE3EE"/>
                </a:solidFill>
                <a:latin typeface="Consolas" pitchFamily="49" charset="0"/>
                <a:ea typeface="Consolas" pitchFamily="49" charset="-122"/>
                <a:cs typeface="Consolas" pitchFamily="49" charset="-120"/>
              </a:rPr>
              <a:t>, intSqrt(n),</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numThreads, threadId - </a:t>
            </a:r>
            <a:r>
              <a:rPr lang="en-US" sz="1200" dirty="0">
                <a:solidFill>
                  <a:srgbClr val="F4B26B"/>
                </a:solidFill>
                <a:latin typeface="Consolas" pitchFamily="49" charset="0"/>
                <a:ea typeface="Consolas" pitchFamily="49" charset="-122"/>
                <a:cs typeface="Consolas" pitchFamily="49" charset="-120"/>
              </a:rPr>
              <a:t>1</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for</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uint64_t</a:t>
            </a:r>
            <a:r>
              <a:rPr lang="en-US" sz="1200" dirty="0">
                <a:solidFill>
                  <a:srgbClr val="DCE3EE"/>
                </a:solidFill>
                <a:latin typeface="Consolas" pitchFamily="49" charset="0"/>
                <a:ea typeface="Consolas" pitchFamily="49" charset="-122"/>
                <a:cs typeface="Consolas" pitchFamily="49" charset="-120"/>
              </a:rPr>
              <a:t> d = divisors.first; d &lt;= divisors.last; d++)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if</a:t>
            </a:r>
            <a:r>
              <a:rPr lang="en-US" sz="1200" dirty="0">
                <a:solidFill>
                  <a:srgbClr val="DCE3EE"/>
                </a:solidFill>
                <a:latin typeface="Consolas" pitchFamily="49" charset="0"/>
                <a:ea typeface="Consolas" pitchFamily="49" charset="-122"/>
                <a:cs typeface="Consolas" pitchFamily="49" charset="-120"/>
              </a:rPr>
              <a:t> (divisorFound.load(memory_order_relaxed)) </a:t>
            </a:r>
            <a:r>
              <a:rPr lang="en-US" sz="1200" dirty="0">
                <a:solidFill>
                  <a:srgbClr val="8EC1F5"/>
                </a:solidFill>
                <a:latin typeface="Consolas" pitchFamily="49" charset="0"/>
                <a:ea typeface="Consolas" pitchFamily="49" charset="-122"/>
                <a:cs typeface="Consolas" pitchFamily="49" charset="-120"/>
              </a:rPr>
              <a:t>break</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if</a:t>
            </a:r>
            <a:r>
              <a:rPr lang="en-US" sz="1200" dirty="0">
                <a:solidFill>
                  <a:srgbClr val="DCE3EE"/>
                </a:solidFill>
                <a:latin typeface="Consolas" pitchFamily="49" charset="0"/>
                <a:ea typeface="Consolas" pitchFamily="49" charset="-122"/>
                <a:cs typeface="Consolas" pitchFamily="49" charset="-120"/>
              </a:rPr>
              <a:t> (n % d == </a:t>
            </a:r>
            <a:r>
              <a:rPr lang="en-US" sz="1200" dirty="0">
                <a:solidFill>
                  <a:srgbClr val="F4B26B"/>
                </a:solidFill>
                <a:latin typeface="Consolas" pitchFamily="49" charset="0"/>
                <a:ea typeface="Consolas" pitchFamily="49" charset="-122"/>
                <a:cs typeface="Consolas" pitchFamily="49" charset="-120"/>
              </a:rPr>
              <a:t>0</a:t>
            </a: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divisorFound.store(</a:t>
            </a:r>
            <a:r>
              <a:rPr lang="en-US" sz="1200" dirty="0">
                <a:solidFill>
                  <a:srgbClr val="8EC1F5"/>
                </a:solidFill>
                <a:latin typeface="Consolas" pitchFamily="49" charset="0"/>
                <a:ea typeface="Consolas" pitchFamily="49" charset="-122"/>
                <a:cs typeface="Consolas" pitchFamily="49" charset="-120"/>
              </a:rPr>
              <a:t>true</a:t>
            </a:r>
            <a:r>
              <a:rPr lang="en-US" sz="1200" dirty="0">
                <a:solidFill>
                  <a:srgbClr val="DCE3EE"/>
                </a:solidFill>
                <a:latin typeface="Consolas" pitchFamily="49" charset="0"/>
                <a:ea typeface="Consolas" pitchFamily="49" charset="-122"/>
                <a:cs typeface="Consolas" pitchFamily="49" charset="-120"/>
              </a:rPr>
              <a:t>, memory_order_relaxed);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break</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numberBarrier-&gt;arrive_and_wait();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500"/>
              </a:spcBef>
              <a:spcAft>
                <a:spcPts val="0"/>
              </a:spcAft>
              <a:buNone/>
            </a:pPr>
            <a:r>
              <a:rPr lang="en-US" sz="1200" dirty="0">
                <a:solidFill>
                  <a:srgbClr val="8EC1F5"/>
                </a:solidFill>
                <a:latin typeface="Consolas" pitchFamily="49" charset="0"/>
                <a:ea typeface="Consolas" pitchFamily="49" charset="-122"/>
                <a:cs typeface="Consolas" pitchFamily="49" charset="-120"/>
              </a:rPr>
              <a:t>void</a:t>
            </a:r>
            <a:r>
              <a:rPr lang="en-US" sz="1200" dirty="0">
                <a:solidFill>
                  <a:srgbClr val="DCE3EE"/>
                </a:solidFill>
                <a:latin typeface="Consolas" pitchFamily="49" charset="0"/>
                <a:ea typeface="Consolas" pitchFamily="49" charset="-122"/>
                <a:cs typeface="Consolas" pitchFamily="49" charset="-120"/>
              </a:rPr>
              <a:t> finishNumber() </a:t>
            </a:r>
            <a:r>
              <a:rPr lang="en-US" sz="1200" dirty="0">
                <a:solidFill>
                  <a:srgbClr val="8EC1F5"/>
                </a:solidFill>
                <a:latin typeface="Consolas" pitchFamily="49" charset="0"/>
                <a:ea typeface="Consolas" pitchFamily="49" charset="-122"/>
                <a:cs typeface="Consolas" pitchFamily="49" charset="-120"/>
              </a:rPr>
              <a:t>noexcept</a:t>
            </a:r>
            <a:r>
              <a:rPr lang="en-US" sz="1200" dirty="0">
                <a:solidFill>
                  <a:srgbClr val="DCE3EE"/>
                </a:solidFill>
                <a:latin typeface="Consolas" pitchFamily="49" charset="0"/>
                <a:ea typeface="Consolas" pitchFamily="49" charset="-122"/>
                <a:cs typeface="Consolas" pitchFamily="49" charset="-120"/>
              </a:rPr>
              <a:t> {  </a:t>
            </a:r>
            <a:r>
              <a:rPr lang="en-US" sz="1200" i="1" dirty="0">
                <a:solidFill>
                  <a:srgbClr val="A3B0C2"/>
                </a:solidFill>
                <a:latin typeface="Consolas" pitchFamily="49" charset="0"/>
                <a:ea typeface="Consolas" pitchFamily="49" charset="-122"/>
                <a:cs typeface="Consolas" pitchFamily="49" charset="-120"/>
              </a:rPr>
              <a:t>// the barrier's completion step</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if</a:t>
            </a:r>
            <a:r>
              <a:rPr lang="en-US" sz="1200" dirty="0">
                <a:solidFill>
                  <a:srgbClr val="DCE3EE"/>
                </a:solidFill>
                <a:latin typeface="Consolas" pitchFamily="49" charset="0"/>
                <a:ea typeface="Consolas" pitchFamily="49" charset="-122"/>
                <a:cs typeface="Consolas" pitchFamily="49" charset="-120"/>
              </a:rPr>
              <a:t> (!divisorFound) reportPrime(myThreadId, currentNumber);</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p:txBody>
      </p:sp>
      <p:sp>
        <p:nvSpPr>
          <p:cNvPr id="20" name="Code badge 1"/>
          <p:cNvSpPr/>
          <p:nvPr/>
        </p:nvSpPr>
        <p:spPr>
          <a:xfrm>
            <a:off x="5623560" y="1868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1</a:t>
            </a:r>
          </a:p>
        </p:txBody>
      </p:sp>
      <p:sp>
        <p:nvSpPr>
          <p:cNvPr id="21" name="Code badge 1"/>
          <p:cNvSpPr/>
          <p:nvPr/>
        </p:nvSpPr>
        <p:spPr>
          <a:xfrm>
            <a:off x="5623560" y="25798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1</a:t>
            </a:r>
          </a:p>
        </p:txBody>
      </p:sp>
      <p:sp>
        <p:nvSpPr>
          <p:cNvPr id="22" name="Code badge 5"/>
          <p:cNvSpPr/>
          <p:nvPr/>
        </p:nvSpPr>
        <p:spPr>
          <a:xfrm>
            <a:off x="5623560" y="24020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5</a:t>
            </a:r>
          </a:p>
        </p:txBody>
      </p:sp>
      <p:sp>
        <p:nvSpPr>
          <p:cNvPr id="23" name="Code badge 2"/>
          <p:cNvSpPr/>
          <p:nvPr/>
        </p:nvSpPr>
        <p:spPr>
          <a:xfrm>
            <a:off x="5623560" y="2757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2</a:t>
            </a:r>
          </a:p>
        </p:txBody>
      </p:sp>
      <p:sp>
        <p:nvSpPr>
          <p:cNvPr id="24" name="Code badge 3"/>
          <p:cNvSpPr/>
          <p:nvPr/>
        </p:nvSpPr>
        <p:spPr>
          <a:xfrm>
            <a:off x="5623560" y="32910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3</a:t>
            </a:r>
          </a:p>
        </p:txBody>
      </p:sp>
      <p:sp>
        <p:nvSpPr>
          <p:cNvPr id="25" name="Code badge 3"/>
          <p:cNvSpPr/>
          <p:nvPr/>
        </p:nvSpPr>
        <p:spPr>
          <a:xfrm>
            <a:off x="5623560" y="3646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3</a:t>
            </a:r>
          </a:p>
        </p:txBody>
      </p:sp>
      <p:sp>
        <p:nvSpPr>
          <p:cNvPr id="26" name="Code badge 4"/>
          <p:cNvSpPr/>
          <p:nvPr/>
        </p:nvSpPr>
        <p:spPr>
          <a:xfrm>
            <a:off x="5623560" y="43578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4</a:t>
            </a:r>
          </a:p>
        </p:txBody>
      </p:sp>
      <p:sp>
        <p:nvSpPr>
          <p:cNvPr id="27" name="Code badge 4"/>
          <p:cNvSpPr/>
          <p:nvPr/>
        </p:nvSpPr>
        <p:spPr>
          <a:xfrm>
            <a:off x="5623560" y="51325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4</a:t>
            </a:r>
          </a:p>
        </p:txBody>
      </p:sp>
      <p:sp>
        <p:nvSpPr>
          <p:cNvPr id="28" name="Code caption"/>
          <p:cNvSpPr txBox="1"/>
          <p:nvPr/>
        </p:nvSpPr>
        <p:spPr>
          <a:xfrm>
            <a:off x="5513566" y="5885687"/>
            <a:ext cx="6191504" cy="201168"/>
          </a:xfrm>
          <a:prstGeom prst="rect">
            <a:avLst/>
          </a:prstGeom>
          <a:noFill/>
          <a:ln>
            <a:noFill/>
          </a:ln>
        </p:spPr>
        <p:txBody>
          <a:bodyPr wrap="square" lIns="0" tIns="0" rIns="0" bIns="0" rtlCol="0" anchor="t">
            <a:noAutofit/>
          </a:bodyPr>
          <a:lstStyle/>
          <a:p>
            <a:pPr algn="l"/>
            <a:r>
              <a:rPr lang="en-US" sz="1100" dirty="0">
                <a:solidFill>
                  <a:srgbClr val="5A6675"/>
                </a:solidFill>
                <a:latin typeface="Arial" pitchFamily="34" charset="0"/>
                <a:cs typeface="Arial" pitchFamily="34" charset="-120"/>
              </a:rPr>
              <a:t>Excerpts from the project source, abridged</a:t>
            </a:r>
          </a:p>
          <a:p>
            <a:pPr algn="l"/>
            <a:endParaRPr lang="en-US" sz="1100" dirty="0">
              <a:solidFill>
                <a:srgbClr val="5A6675"/>
              </a:solidFill>
              <a:latin typeface="Arial" pitchFamily="34" charset="0"/>
              <a:cs typeface="Arial" pitchFamily="34" charset="-120"/>
            </a:endParaRPr>
          </a:p>
          <a:p>
            <a:r>
              <a:rPr lang="en-US" sz="1100" dirty="0">
                <a:solidFill>
                  <a:srgbClr val="5A6675"/>
                </a:solidFill>
                <a:latin typeface="Arial" pitchFamily="34" charset="0"/>
                <a:cs typeface="Arial" pitchFamily="34" charset="-120"/>
              </a:rPr>
              <a:t>Note: Claude was used in mapping the specific line of code per number to the bullet point.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0D33B886-156A-F930-8D8A-EC2B6C0655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813F3E6-2B65-D367-8C0E-776005858402}"/>
              </a:ext>
            </a:extLst>
          </p:cNvPr>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Immediate: implementation</a:t>
            </a:r>
            <a:endParaRPr lang="en-US" sz="2800" dirty="0"/>
          </a:p>
        </p:txBody>
      </p:sp>
      <p:sp>
        <p:nvSpPr>
          <p:cNvPr id="3" name="Text 1">
            <a:extLst>
              <a:ext uri="{FF2B5EF4-FFF2-40B4-BE49-F238E27FC236}">
                <a16:creationId xmlns:a16="http://schemas.microsoft.com/office/drawing/2014/main" id="{38B7568E-A412-B1D1-2A24-9C14B5EF5A28}"/>
              </a:ext>
            </a:extLst>
          </p:cNvPr>
          <p:cNvSpPr/>
          <p:nvPr/>
        </p:nvSpPr>
        <p:spPr>
          <a:xfrm>
            <a:off x="875284" y="1526539"/>
            <a:ext cx="4343400" cy="4754880"/>
          </a:xfrm>
          <a:prstGeom prst="rect">
            <a:avLst/>
          </a:prstGeom>
          <a:noFill/>
          <a:ln/>
        </p:spPr>
        <p:txBody>
          <a:bodyPr wrap="square" lIns="0" tIns="0" rIns="0" bIns="0" rtlCol="0" anchor="t">
            <a:normAutofit/>
          </a:bodyPr>
          <a:lstStyle/>
          <a:p>
            <a:pPr marL="320040" indent="-320040">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Builds the whole line, then writes and flushes it while holding one mutex</a:t>
            </a:r>
            <a:endParaRPr lang="en-US" sz="1600" dirty="0"/>
          </a:p>
          <a:p>
            <a:pPr marL="320040" indent="-320040">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Output is live; lines from different threads interleave but are never cut in half</a:t>
            </a:r>
            <a:endParaRPr lang="en-US" sz="1600" dirty="0"/>
          </a:p>
          <a:p>
            <a:pPr marL="320040" indent="-320040">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The timestamp is taken before waiting for the lock, so lines can appear slightly out of timestamp order</a:t>
            </a:r>
            <a:endParaRPr lang="en-US" sz="1600" dirty="0"/>
          </a:p>
        </p:txBody>
      </p:sp>
      <p:sp>
        <p:nvSpPr>
          <p:cNvPr id="10" name="Code card"/>
          <p:cNvSpPr/>
          <p:nvPr/>
        </p:nvSpPr>
        <p:spPr>
          <a:xfrm>
            <a:off x="5504688" y="1526539"/>
            <a:ext cx="6191504" cy="3511296"/>
          </a:xfrm>
          <a:prstGeom prst="rect">
            <a:avLst/>
          </a:prstGeom>
          <a:solidFill>
            <a:srgbClr val="1B2430"/>
          </a:solidFill>
          <a:ln>
            <a:noFill/>
          </a:ln>
        </p:spPr>
        <p:txBody>
          <a:bodyPr rtlCol="0" anchor="ctr"/>
          <a:lstStyle/>
          <a:p>
            <a:endParaRPr lang="en-US"/>
          </a:p>
        </p:txBody>
      </p:sp>
      <p:sp>
        <p:nvSpPr>
          <p:cNvPr id="11" name="Code highlight 3"/>
          <p:cNvSpPr/>
          <p:nvPr/>
        </p:nvSpPr>
        <p:spPr>
          <a:xfrm>
            <a:off x="5559552" y="3294887"/>
            <a:ext cx="6081776" cy="203200"/>
          </a:xfrm>
          <a:prstGeom prst="rect">
            <a:avLst/>
          </a:prstGeom>
          <a:solidFill>
            <a:srgbClr val="2D3C52"/>
          </a:solidFill>
          <a:ln>
            <a:noFill/>
          </a:ln>
        </p:spPr>
        <p:txBody>
          <a:bodyPr rtlCol="0" anchor="ctr"/>
          <a:lstStyle/>
          <a:p>
            <a:endParaRPr lang="en-US"/>
          </a:p>
        </p:txBody>
      </p:sp>
      <p:sp>
        <p:nvSpPr>
          <p:cNvPr id="12" name="Code highlight 1"/>
          <p:cNvSpPr/>
          <p:nvPr/>
        </p:nvSpPr>
        <p:spPr>
          <a:xfrm>
            <a:off x="5559552" y="3752087"/>
            <a:ext cx="6081776" cy="889000"/>
          </a:xfrm>
          <a:prstGeom prst="rect">
            <a:avLst/>
          </a:prstGeom>
          <a:solidFill>
            <a:srgbClr val="2D3C52"/>
          </a:solidFill>
          <a:ln>
            <a:noFill/>
          </a:ln>
        </p:spPr>
        <p:txBody>
          <a:bodyPr rtlCol="0" anchor="ctr"/>
          <a:lstStyle/>
          <a:p>
            <a:endParaRPr lang="en-US"/>
          </a:p>
        </p:txBody>
      </p:sp>
      <p:sp>
        <p:nvSpPr>
          <p:cNvPr id="13" name="Code highlight 2"/>
          <p:cNvSpPr/>
          <p:nvPr/>
        </p:nvSpPr>
        <p:spPr>
          <a:xfrm>
            <a:off x="5559552" y="4209287"/>
            <a:ext cx="6081776" cy="203200"/>
          </a:xfrm>
          <a:prstGeom prst="rect">
            <a:avLst/>
          </a:prstGeom>
          <a:solidFill>
            <a:srgbClr val="2D3C52"/>
          </a:solidFill>
          <a:ln>
            <a:noFill/>
          </a:ln>
        </p:spPr>
        <p:txBody>
          <a:bodyPr rtlCol="0" anchor="ctr"/>
          <a:lstStyle/>
          <a:p>
            <a:endParaRPr lang="en-US"/>
          </a:p>
        </p:txBody>
      </p:sp>
      <p:sp>
        <p:nvSpPr>
          <p:cNvPr id="14" name="Code"/>
          <p:cNvSpPr txBox="1"/>
          <p:nvPr/>
        </p:nvSpPr>
        <p:spPr>
          <a:xfrm>
            <a:off x="5925312" y="1681987"/>
            <a:ext cx="5661152" cy="3200400"/>
          </a:xfrm>
          <a:prstGeom prst="rect">
            <a:avLst/>
          </a:prstGeom>
          <a:noFill/>
          <a:ln>
            <a:noFill/>
          </a:ln>
        </p:spPr>
        <p:txBody>
          <a:bodyPr wrap="none" lIns="0" tIns="0" rIns="0" bIns="0" rtlCol="0" anchor="t">
            <a:noAutofit/>
          </a:bodyPr>
          <a:lstStyle/>
          <a:p>
            <a:pPr marL="0" indent="0" algn="l">
              <a:lnSpc>
                <a:spcPts val="1800"/>
              </a:lnSpc>
              <a:spcBef>
                <a:spcPts val="0"/>
              </a:spcBef>
              <a:spcAft>
                <a:spcPts val="0"/>
              </a:spcAft>
              <a:buNone/>
            </a:pPr>
            <a:r>
              <a:rPr lang="en-US" sz="1400" i="1" dirty="0">
                <a:solidFill>
                  <a:srgbClr val="A3B0C2"/>
                </a:solidFill>
                <a:latin typeface="Consolas" pitchFamily="49" charset="0"/>
                <a:ea typeface="Consolas" pitchFamily="49" charset="-122"/>
                <a:cs typeface="Consolas" pitchFamily="49" charset="-120"/>
              </a:rPr>
              <a:t>// prime_output.h</a:t>
            </a:r>
          </a:p>
          <a:p>
            <a:pPr marL="0" indent="0" algn="l">
              <a:lnSpc>
                <a:spcPts val="1800"/>
              </a:lnSpc>
              <a:spcBef>
                <a:spcPts val="0"/>
              </a:spcBef>
              <a:spcAft>
                <a:spcPts val="0"/>
              </a:spcAft>
              <a:buNone/>
            </a:pPr>
            <a:r>
              <a:rPr lang="en-US" sz="1400" dirty="0">
                <a:solidFill>
                  <a:srgbClr val="7ED3C0"/>
                </a:solidFill>
                <a:latin typeface="Consolas" pitchFamily="49" charset="0"/>
                <a:ea typeface="Consolas" pitchFamily="49" charset="-122"/>
                <a:cs typeface="Consolas" pitchFamily="49" charset="-120"/>
              </a:rPr>
              <a:t>mutex</a:t>
            </a:r>
            <a:r>
              <a:rPr lang="en-US" sz="1400" dirty="0">
                <a:solidFill>
                  <a:srgbClr val="DCE3EE"/>
                </a:solidFill>
                <a:latin typeface="Consolas" pitchFamily="49" charset="0"/>
                <a:ea typeface="Consolas" pitchFamily="49" charset="-122"/>
                <a:cs typeface="Consolas" pitchFamily="49" charset="-120"/>
              </a:rPr>
              <a:t> printMutex;</a:t>
            </a:r>
          </a:p>
          <a:p>
            <a:pPr marL="0" indent="0" algn="l">
              <a:lnSpc>
                <a:spcPts val="1800"/>
              </a:lnSpc>
              <a:spcBef>
                <a:spcPts val="0"/>
              </a:spcBef>
              <a:spcAft>
                <a:spcPts val="0"/>
              </a:spcAft>
              <a:buNone/>
            </a:pPr>
            <a:endParaRPr lang="en-US" sz="1400" dirty="0"/>
          </a:p>
          <a:p>
            <a:pPr marL="0" indent="0" algn="l">
              <a:lnSpc>
                <a:spcPts val="1800"/>
              </a:lnSpc>
              <a:spcBef>
                <a:spcPts val="0"/>
              </a:spcBef>
              <a:spcAft>
                <a:spcPts val="0"/>
              </a:spcAft>
              <a:buNone/>
            </a:pPr>
            <a:r>
              <a:rPr lang="en-US" sz="1400" dirty="0">
                <a:solidFill>
                  <a:srgbClr val="8EC1F5"/>
                </a:solidFill>
                <a:latin typeface="Consolas" pitchFamily="49" charset="0"/>
                <a:ea typeface="Consolas" pitchFamily="49" charset="-122"/>
                <a:cs typeface="Consolas" pitchFamily="49" charset="-120"/>
              </a:rPr>
              <a:t>void</a:t>
            </a:r>
            <a:r>
              <a:rPr lang="en-US" sz="1400" dirty="0">
                <a:solidFill>
                  <a:srgbClr val="DCE3EE"/>
                </a:solidFill>
                <a:latin typeface="Consolas" pitchFamily="49" charset="0"/>
                <a:ea typeface="Consolas" pitchFamily="49" charset="-122"/>
                <a:cs typeface="Consolas" pitchFamily="49" charset="-120"/>
              </a:rPr>
              <a:t> reportPrime(</a:t>
            </a:r>
            <a:r>
              <a:rPr lang="en-US" sz="1400" dirty="0">
                <a:solidFill>
                  <a:srgbClr val="7ED3C0"/>
                </a:solidFill>
                <a:latin typeface="Consolas" pitchFamily="49" charset="0"/>
                <a:ea typeface="Consolas" pitchFamily="49" charset="-122"/>
                <a:cs typeface="Consolas" pitchFamily="49" charset="-120"/>
              </a:rPr>
              <a:t>int</a:t>
            </a:r>
            <a:r>
              <a:rPr lang="en-US" sz="1400" dirty="0">
                <a:solidFill>
                  <a:srgbClr val="DCE3EE"/>
                </a:solidFill>
                <a:latin typeface="Consolas" pitchFamily="49" charset="0"/>
                <a:ea typeface="Consolas" pitchFamily="49" charset="-122"/>
                <a:cs typeface="Consolas" pitchFamily="49" charset="-120"/>
              </a:rPr>
              <a:t> threadId, </a:t>
            </a:r>
            <a:r>
              <a:rPr lang="en-US" sz="1400" dirty="0">
                <a:solidFill>
                  <a:srgbClr val="7ED3C0"/>
                </a:solidFill>
                <a:latin typeface="Consolas" pitchFamily="49" charset="0"/>
                <a:ea typeface="Consolas" pitchFamily="49" charset="-122"/>
                <a:cs typeface="Consolas" pitchFamily="49" charset="-120"/>
              </a:rPr>
              <a:t>uint64_t</a:t>
            </a:r>
            <a:r>
              <a:rPr lang="en-US" sz="1400" dirty="0">
                <a:solidFill>
                  <a:srgbClr val="DCE3EE"/>
                </a:solidFill>
                <a:latin typeface="Consolas" pitchFamily="49" charset="0"/>
                <a:ea typeface="Consolas" pitchFamily="49" charset="-122"/>
                <a:cs typeface="Consolas" pitchFamily="49" charset="-120"/>
              </a:rPr>
              <a:t> number) {</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  </a:t>
            </a:r>
            <a:r>
              <a:rPr lang="en-US" sz="1400" dirty="0">
                <a:solidFill>
                  <a:srgbClr val="7ED3C0"/>
                </a:solidFill>
                <a:latin typeface="Consolas" pitchFamily="49" charset="0"/>
                <a:ea typeface="Consolas" pitchFamily="49" charset="-122"/>
                <a:cs typeface="Consolas" pitchFamily="49" charset="-120"/>
              </a:rPr>
              <a:t>PrimeInfo</a:t>
            </a:r>
            <a:r>
              <a:rPr lang="en-US" sz="1400" dirty="0">
                <a:solidFill>
                  <a:srgbClr val="DCE3EE"/>
                </a:solidFill>
                <a:latin typeface="Consolas" pitchFamily="49" charset="0"/>
                <a:ea typeface="Consolas" pitchFamily="49" charset="-122"/>
                <a:cs typeface="Consolas" pitchFamily="49" charset="-120"/>
              </a:rPr>
              <a:t> prime;</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  prime.number = number;</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  prime.threadId = threadId;</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  prime.timeFound = chrono::system_clock::now();</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  ...</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  </a:t>
            </a:r>
            <a:r>
              <a:rPr lang="en-US" sz="1400" dirty="0">
                <a:solidFill>
                  <a:srgbClr val="7ED3C0"/>
                </a:solidFill>
                <a:latin typeface="Consolas" pitchFamily="49" charset="0"/>
                <a:ea typeface="Consolas" pitchFamily="49" charset="-122"/>
                <a:cs typeface="Consolas" pitchFamily="49" charset="-120"/>
              </a:rPr>
              <a:t>string</a:t>
            </a:r>
            <a:r>
              <a:rPr lang="en-US" sz="1400" dirty="0">
                <a:solidFill>
                  <a:srgbClr val="DCE3EE"/>
                </a:solidFill>
                <a:latin typeface="Consolas" pitchFamily="49" charset="0"/>
                <a:ea typeface="Consolas" pitchFamily="49" charset="-122"/>
                <a:cs typeface="Consolas" pitchFamily="49" charset="-120"/>
              </a:rPr>
              <a:t> line = primeLine(prime);</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  printMutex.lock();</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  cout &lt;&lt; line &lt;&lt; flush;</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  printMutex.unlock();</a:t>
            </a:r>
          </a:p>
          <a:p>
            <a:pPr marL="0" indent="0" algn="l">
              <a:lnSpc>
                <a:spcPts val="1800"/>
              </a:lnSpc>
              <a:spcBef>
                <a:spcPts val="0"/>
              </a:spcBef>
              <a:spcAft>
                <a:spcPts val="0"/>
              </a:spcAft>
              <a:buNone/>
            </a:pPr>
            <a:r>
              <a:rPr lang="en-US" sz="1400" dirty="0">
                <a:solidFill>
                  <a:srgbClr val="DCE3EE"/>
                </a:solidFill>
                <a:latin typeface="Consolas" pitchFamily="49" charset="0"/>
                <a:ea typeface="Consolas" pitchFamily="49" charset="-122"/>
                <a:cs typeface="Consolas" pitchFamily="49" charset="-120"/>
              </a:rPr>
              <a:t>}</a:t>
            </a:r>
          </a:p>
        </p:txBody>
      </p:sp>
      <p:sp>
        <p:nvSpPr>
          <p:cNvPr id="15" name="Code badge 3"/>
          <p:cNvSpPr/>
          <p:nvPr/>
        </p:nvSpPr>
        <p:spPr>
          <a:xfrm>
            <a:off x="5623560" y="3295903"/>
            <a:ext cx="201168" cy="201168"/>
          </a:xfrm>
          <a:prstGeom prst="ellipse">
            <a:avLst/>
          </a:prstGeom>
          <a:solidFill>
            <a:srgbClr val="C2410C"/>
          </a:solidFill>
          <a:ln>
            <a:noFill/>
          </a:ln>
        </p:spPr>
        <p:txBody>
          <a:bodyPr wrap="none" lIns="0" tIns="0" rIns="0" bIns="0" rtlCol="0" anchor="ctr"/>
          <a:lstStyle/>
          <a:p>
            <a:pPr algn="ctr"/>
            <a:r>
              <a:rPr lang="en-US" sz="1108" b="1" dirty="0">
                <a:solidFill>
                  <a:srgbClr val="FFFFFF"/>
                </a:solidFill>
                <a:latin typeface="Arial" pitchFamily="34" charset="0"/>
                <a:cs typeface="Arial" pitchFamily="34" charset="-120"/>
              </a:rPr>
              <a:t>3</a:t>
            </a:r>
          </a:p>
        </p:txBody>
      </p:sp>
      <p:sp>
        <p:nvSpPr>
          <p:cNvPr id="16" name="Code badge 1"/>
          <p:cNvSpPr/>
          <p:nvPr/>
        </p:nvSpPr>
        <p:spPr>
          <a:xfrm>
            <a:off x="5623560" y="3753103"/>
            <a:ext cx="201168" cy="201168"/>
          </a:xfrm>
          <a:prstGeom prst="ellipse">
            <a:avLst/>
          </a:prstGeom>
          <a:solidFill>
            <a:srgbClr val="C2410C"/>
          </a:solidFill>
          <a:ln>
            <a:noFill/>
          </a:ln>
        </p:spPr>
        <p:txBody>
          <a:bodyPr wrap="none" lIns="0" tIns="0" rIns="0" bIns="0" rtlCol="0" anchor="ctr"/>
          <a:lstStyle/>
          <a:p>
            <a:pPr algn="ctr"/>
            <a:r>
              <a:rPr lang="en-US" sz="1108" b="1" dirty="0">
                <a:solidFill>
                  <a:srgbClr val="FFFFFF"/>
                </a:solidFill>
                <a:latin typeface="Arial" pitchFamily="34" charset="0"/>
                <a:cs typeface="Arial" pitchFamily="34" charset="-120"/>
              </a:rPr>
              <a:t>1</a:t>
            </a:r>
          </a:p>
        </p:txBody>
      </p:sp>
      <p:sp>
        <p:nvSpPr>
          <p:cNvPr id="17" name="Code badge 2"/>
          <p:cNvSpPr/>
          <p:nvPr/>
        </p:nvSpPr>
        <p:spPr>
          <a:xfrm>
            <a:off x="5623560" y="4210303"/>
            <a:ext cx="201168" cy="201168"/>
          </a:xfrm>
          <a:prstGeom prst="ellipse">
            <a:avLst/>
          </a:prstGeom>
          <a:solidFill>
            <a:srgbClr val="C2410C"/>
          </a:solidFill>
          <a:ln>
            <a:noFill/>
          </a:ln>
        </p:spPr>
        <p:txBody>
          <a:bodyPr wrap="none" lIns="0" tIns="0" rIns="0" bIns="0" rtlCol="0" anchor="ctr"/>
          <a:lstStyle/>
          <a:p>
            <a:pPr algn="ctr"/>
            <a:r>
              <a:rPr lang="en-US" sz="1108" b="1" dirty="0">
                <a:solidFill>
                  <a:srgbClr val="FFFFFF"/>
                </a:solidFill>
                <a:latin typeface="Arial" pitchFamily="34" charset="0"/>
                <a:cs typeface="Arial" pitchFamily="34" charset="-120"/>
              </a:rPr>
              <a:t>2</a:t>
            </a:r>
          </a:p>
        </p:txBody>
      </p:sp>
      <p:sp>
        <p:nvSpPr>
          <p:cNvPr id="18" name="Code caption"/>
          <p:cNvSpPr txBox="1"/>
          <p:nvPr/>
        </p:nvSpPr>
        <p:spPr>
          <a:xfrm>
            <a:off x="5504688" y="5110987"/>
            <a:ext cx="6191504" cy="201168"/>
          </a:xfrm>
          <a:prstGeom prst="rect">
            <a:avLst/>
          </a:prstGeom>
          <a:noFill/>
          <a:ln>
            <a:noFill/>
          </a:ln>
        </p:spPr>
        <p:txBody>
          <a:bodyPr wrap="square" lIns="0" tIns="0" rIns="0" bIns="0" rtlCol="0" anchor="t">
            <a:noAutofit/>
          </a:bodyPr>
          <a:lstStyle/>
          <a:p>
            <a:pPr algn="l"/>
            <a:r>
              <a:rPr lang="en-US" sz="1100" dirty="0">
                <a:solidFill>
                  <a:srgbClr val="5A6675"/>
                </a:solidFill>
                <a:latin typeface="Arial" pitchFamily="34" charset="0"/>
                <a:cs typeface="Arial" pitchFamily="34" charset="-120"/>
              </a:rPr>
              <a:t>Excerpts from the project source, abridged</a:t>
            </a:r>
          </a:p>
          <a:p>
            <a:pPr algn="l"/>
            <a:endParaRPr lang="en-US" sz="1100" dirty="0">
              <a:solidFill>
                <a:srgbClr val="5A6675"/>
              </a:solidFill>
              <a:latin typeface="Arial" pitchFamily="34" charset="0"/>
              <a:cs typeface="Arial" pitchFamily="34" charset="-120"/>
            </a:endParaRPr>
          </a:p>
          <a:p>
            <a:r>
              <a:rPr lang="en-US" sz="1100" dirty="0">
                <a:solidFill>
                  <a:srgbClr val="5A6675"/>
                </a:solidFill>
                <a:latin typeface="Arial" pitchFamily="34" charset="0"/>
                <a:cs typeface="Arial" pitchFamily="34" charset="-120"/>
              </a:rPr>
              <a:t>Note: Claude was used in mapping the specific line of code per number to the bullet point.</a:t>
            </a:r>
          </a:p>
        </p:txBody>
      </p:sp>
    </p:spTree>
    <p:extLst>
      <p:ext uri="{BB962C8B-B14F-4D97-AF65-F5344CB8AC3E}">
        <p14:creationId xmlns:p14="http://schemas.microsoft.com/office/powerpoint/2010/main" val="4294642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5CE1CEC1-9350-EB53-90C6-F2EAFDB92F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9DEA515-DE89-1215-4B83-B3A63877A2D1}"/>
              </a:ext>
            </a:extLst>
          </p:cNvPr>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b="1" dirty="0"/>
              <a:t>Print at end</a:t>
            </a:r>
            <a:r>
              <a:rPr lang="en-US" sz="2800" b="1" i="0" dirty="0">
                <a:solidFill>
                  <a:srgbClr val="1B2430"/>
                </a:solidFill>
                <a:latin typeface="Arial" pitchFamily="34" charset="0"/>
                <a:ea typeface="Arial" pitchFamily="34" charset="-122"/>
                <a:cs typeface="Arial" pitchFamily="34" charset="-120"/>
              </a:rPr>
              <a:t>: implementation</a:t>
            </a:r>
            <a:endParaRPr lang="en-US" sz="2800" dirty="0"/>
          </a:p>
        </p:txBody>
      </p:sp>
      <p:sp>
        <p:nvSpPr>
          <p:cNvPr id="3" name="Text 1">
            <a:extLst>
              <a:ext uri="{FF2B5EF4-FFF2-40B4-BE49-F238E27FC236}">
                <a16:creationId xmlns:a16="http://schemas.microsoft.com/office/drawing/2014/main" id="{DE699A6D-8B16-D0B2-BE38-FCC177E08F6A}"/>
              </a:ext>
            </a:extLst>
          </p:cNvPr>
          <p:cNvSpPr/>
          <p:nvPr/>
        </p:nvSpPr>
        <p:spPr>
          <a:xfrm>
            <a:off x="875284" y="1526539"/>
            <a:ext cx="4343400" cy="4754880"/>
          </a:xfrm>
          <a:prstGeom prst="rect">
            <a:avLst/>
          </a:prstGeom>
          <a:noFill/>
          <a:ln/>
        </p:spPr>
        <p:txBody>
          <a:bodyPr wrap="square" lIns="0" tIns="0" rIns="0" bIns="0" rtlCol="0" anchor="t">
            <a:normAutofit/>
          </a:bodyPr>
          <a:lstStyle/>
          <a:p>
            <a:pPr marL="320040" indent="-320040">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Each thread records its primes in its own list, so no lock is used while searching</a:t>
            </a:r>
            <a:endParaRPr lang="en-US" sz="1600" dirty="0"/>
          </a:p>
          <a:p>
            <a:pPr marL="320040" indent="-320040">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After the join, the main thread merges the lists, sorts them and prints in ascending order</a:t>
            </a:r>
            <a:endParaRPr lang="en-US" sz="1600" dirty="0"/>
          </a:p>
          <a:p>
            <a:pPr marL="320040" indent="-320040">
              <a:lnSpc>
                <a:spcPts val="2200"/>
              </a:lnSpc>
              <a:spcAft>
                <a:spcPts val="600"/>
              </a:spcAft>
              <a:buClr>
                <a:srgbClr val="C2410C"/>
              </a:buClr>
              <a:buSzPct val="100000"/>
              <a:buFont typeface="Arial"/>
              <a:buAutoNum type="arabicPeriod"/>
            </a:pPr>
            <a:r>
              <a:rPr lang="en-US" sz="1600" dirty="0">
                <a:solidFill>
                  <a:srgbClr val="2F3A48"/>
                </a:solidFill>
                <a:latin typeface="Arial" pitchFamily="34" charset="0"/>
                <a:ea typeface="Arial" pitchFamily="34" charset="-122"/>
                <a:cs typeface="Arial" pitchFamily="34" charset="-120"/>
              </a:rPr>
              <a:t>Costs memory (about 24 bytes per prime), and printing is one sequential step</a:t>
            </a:r>
            <a:endParaRPr lang="en-US" sz="1600" dirty="0"/>
          </a:p>
        </p:txBody>
      </p:sp>
      <p:sp>
        <p:nvSpPr>
          <p:cNvPr id="10" name="Code card"/>
          <p:cNvSpPr/>
          <p:nvPr/>
        </p:nvSpPr>
        <p:spPr>
          <a:xfrm>
            <a:off x="5504688" y="1526539"/>
            <a:ext cx="6191504" cy="4527296"/>
          </a:xfrm>
          <a:prstGeom prst="rect">
            <a:avLst/>
          </a:prstGeom>
          <a:solidFill>
            <a:srgbClr val="1B2430"/>
          </a:solidFill>
          <a:ln>
            <a:noFill/>
          </a:ln>
        </p:spPr>
        <p:txBody>
          <a:bodyPr rtlCol="0" anchor="ctr"/>
          <a:lstStyle/>
          <a:p>
            <a:endParaRPr lang="en-US"/>
          </a:p>
        </p:txBody>
      </p:sp>
      <p:sp>
        <p:nvSpPr>
          <p:cNvPr id="11" name="Code highlight 3"/>
          <p:cNvSpPr/>
          <p:nvPr/>
        </p:nvSpPr>
        <p:spPr>
          <a:xfrm>
            <a:off x="5559552" y="1872487"/>
            <a:ext cx="6081776" cy="863600"/>
          </a:xfrm>
          <a:prstGeom prst="rect">
            <a:avLst/>
          </a:prstGeom>
          <a:solidFill>
            <a:srgbClr val="2D3C52"/>
          </a:solidFill>
          <a:ln>
            <a:noFill/>
          </a:ln>
        </p:spPr>
        <p:txBody>
          <a:bodyPr rtlCol="0" anchor="ctr"/>
          <a:lstStyle/>
          <a:p>
            <a:endParaRPr lang="en-US"/>
          </a:p>
        </p:txBody>
      </p:sp>
      <p:sp>
        <p:nvSpPr>
          <p:cNvPr id="12" name="Code highlight 1"/>
          <p:cNvSpPr/>
          <p:nvPr/>
        </p:nvSpPr>
        <p:spPr>
          <a:xfrm>
            <a:off x="5559552" y="3002787"/>
            <a:ext cx="6081776" cy="152400"/>
          </a:xfrm>
          <a:prstGeom prst="rect">
            <a:avLst/>
          </a:prstGeom>
          <a:solidFill>
            <a:srgbClr val="2D3C52"/>
          </a:solidFill>
          <a:ln>
            <a:noFill/>
          </a:ln>
        </p:spPr>
        <p:txBody>
          <a:bodyPr rtlCol="0" anchor="ctr"/>
          <a:lstStyle/>
          <a:p>
            <a:endParaRPr lang="en-US"/>
          </a:p>
        </p:txBody>
      </p:sp>
      <p:sp>
        <p:nvSpPr>
          <p:cNvPr id="13" name="Code highlight 1"/>
          <p:cNvSpPr/>
          <p:nvPr/>
        </p:nvSpPr>
        <p:spPr>
          <a:xfrm>
            <a:off x="5559552" y="3536187"/>
            <a:ext cx="6081776" cy="152400"/>
          </a:xfrm>
          <a:prstGeom prst="rect">
            <a:avLst/>
          </a:prstGeom>
          <a:solidFill>
            <a:srgbClr val="2D3C52"/>
          </a:solidFill>
          <a:ln>
            <a:noFill/>
          </a:ln>
        </p:spPr>
        <p:txBody>
          <a:bodyPr rtlCol="0" anchor="ctr"/>
          <a:lstStyle/>
          <a:p>
            <a:endParaRPr lang="en-US"/>
          </a:p>
        </p:txBody>
      </p:sp>
      <p:sp>
        <p:nvSpPr>
          <p:cNvPr id="14" name="Code highlight 2"/>
          <p:cNvSpPr/>
          <p:nvPr/>
        </p:nvSpPr>
        <p:spPr>
          <a:xfrm>
            <a:off x="5559552" y="4666487"/>
            <a:ext cx="6081776" cy="330200"/>
          </a:xfrm>
          <a:prstGeom prst="rect">
            <a:avLst/>
          </a:prstGeom>
          <a:solidFill>
            <a:srgbClr val="2D3C52"/>
          </a:solidFill>
          <a:ln>
            <a:noFill/>
          </a:ln>
        </p:spPr>
        <p:txBody>
          <a:bodyPr rtlCol="0" anchor="ctr"/>
          <a:lstStyle/>
          <a:p>
            <a:endParaRPr lang="en-US"/>
          </a:p>
        </p:txBody>
      </p:sp>
      <p:sp>
        <p:nvSpPr>
          <p:cNvPr id="15" name="Code highlight 2"/>
          <p:cNvSpPr/>
          <p:nvPr/>
        </p:nvSpPr>
        <p:spPr>
          <a:xfrm>
            <a:off x="5559552" y="5199887"/>
            <a:ext cx="6081776" cy="152400"/>
          </a:xfrm>
          <a:prstGeom prst="rect">
            <a:avLst/>
          </a:prstGeom>
          <a:solidFill>
            <a:srgbClr val="2D3C52"/>
          </a:solidFill>
          <a:ln>
            <a:noFill/>
          </a:ln>
        </p:spPr>
        <p:txBody>
          <a:bodyPr rtlCol="0" anchor="ctr"/>
          <a:lstStyle/>
          <a:p>
            <a:endParaRPr lang="en-US"/>
          </a:p>
        </p:txBody>
      </p:sp>
      <p:sp>
        <p:nvSpPr>
          <p:cNvPr id="16" name="Code highlight 3"/>
          <p:cNvSpPr/>
          <p:nvPr/>
        </p:nvSpPr>
        <p:spPr>
          <a:xfrm>
            <a:off x="5559552" y="5555487"/>
            <a:ext cx="6081776" cy="152400"/>
          </a:xfrm>
          <a:prstGeom prst="rect">
            <a:avLst/>
          </a:prstGeom>
          <a:solidFill>
            <a:srgbClr val="2D3C52"/>
          </a:solidFill>
          <a:ln>
            <a:noFill/>
          </a:ln>
        </p:spPr>
        <p:txBody>
          <a:bodyPr rtlCol="0" anchor="ctr"/>
          <a:lstStyle/>
          <a:p>
            <a:endParaRPr lang="en-US"/>
          </a:p>
        </p:txBody>
      </p:sp>
      <p:sp>
        <p:nvSpPr>
          <p:cNvPr id="17" name="Code"/>
          <p:cNvSpPr txBox="1"/>
          <p:nvPr/>
        </p:nvSpPr>
        <p:spPr>
          <a:xfrm>
            <a:off x="5925312" y="1681987"/>
            <a:ext cx="5661152" cy="4216400"/>
          </a:xfrm>
          <a:prstGeom prst="rect">
            <a:avLst/>
          </a:prstGeom>
          <a:noFill/>
          <a:ln>
            <a:noFill/>
          </a:ln>
        </p:spPr>
        <p:txBody>
          <a:bodyPr wrap="none" lIns="0" tIns="0" rIns="0" bIns="0" rtlCol="0" anchor="t">
            <a:noAutofit/>
          </a:bodyPr>
          <a:lstStyle/>
          <a:p>
            <a:pPr marL="0" indent="0" algn="l">
              <a:lnSpc>
                <a:spcPts val="1400"/>
              </a:lnSpc>
              <a:spcBef>
                <a:spcPts val="0"/>
              </a:spcBef>
              <a:spcAft>
                <a:spcPts val="0"/>
              </a:spcAft>
              <a:buNone/>
            </a:pPr>
            <a:r>
              <a:rPr lang="en-US" sz="1200" i="1" dirty="0">
                <a:solidFill>
                  <a:srgbClr val="A3B0C2"/>
                </a:solidFill>
                <a:latin typeface="Consolas" pitchFamily="49" charset="0"/>
                <a:ea typeface="Consolas" pitchFamily="49" charset="-122"/>
                <a:cs typeface="Consolas" pitchFamily="49" charset="-120"/>
              </a:rPr>
              <a:t>// prime_output.h</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struct</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PrimeInfo</a:t>
            </a:r>
            <a:r>
              <a:rPr lang="en-US" sz="1200" dirty="0">
                <a:solidFill>
                  <a:srgbClr val="DCE3EE"/>
                </a:solidFill>
                <a:latin typeface="Consolas" pitchFamily="49" charset="0"/>
                <a:ea typeface="Consolas" pitchFamily="49" charset="-122"/>
                <a:cs typeface="Consolas" pitchFamily="49" charset="-120"/>
              </a:rPr>
              <a:t>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uint64_t</a:t>
            </a:r>
            <a:r>
              <a:rPr lang="en-US" sz="1200" dirty="0">
                <a:solidFill>
                  <a:srgbClr val="DCE3EE"/>
                </a:solidFill>
                <a:latin typeface="Consolas" pitchFamily="49" charset="0"/>
                <a:ea typeface="Consolas" pitchFamily="49" charset="-122"/>
                <a:cs typeface="Consolas" pitchFamily="49" charset="-120"/>
              </a:rPr>
              <a:t> number;</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 threadId;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chrono::system_clock::time_point timeFound;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reportPrime(): runs in each thread</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ThreadData</a:t>
            </a:r>
            <a:r>
              <a:rPr lang="en-US" sz="1200" dirty="0">
                <a:solidFill>
                  <a:srgbClr val="DCE3EE"/>
                </a:solidFill>
                <a:latin typeface="Consolas" pitchFamily="49" charset="0"/>
                <a:ea typeface="Consolas" pitchFamily="49" charset="-122"/>
                <a:cs typeface="Consolas" pitchFamily="49" charset="-120"/>
              </a:rPr>
              <a:t>&amp; data = threadData[threadId - </a:t>
            </a:r>
            <a:r>
              <a:rPr lang="en-US" sz="1200" dirty="0">
                <a:solidFill>
                  <a:srgbClr val="F4B26B"/>
                </a:solidFill>
                <a:latin typeface="Consolas" pitchFamily="49" charset="0"/>
                <a:ea typeface="Consolas" pitchFamily="49" charset="-122"/>
                <a:cs typeface="Consolas" pitchFamily="49" charset="-120"/>
              </a:rPr>
              <a:t>1</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data.primeCount++;</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if</a:t>
            </a:r>
            <a:r>
              <a:rPr lang="en-US" sz="1200" dirty="0">
                <a:solidFill>
                  <a:srgbClr val="DCE3EE"/>
                </a:solidFill>
                <a:latin typeface="Consolas" pitchFamily="49" charset="0"/>
                <a:ea typeface="Consolas" pitchFamily="49" charset="-122"/>
                <a:cs typeface="Consolas" pitchFamily="49" charset="-120"/>
              </a:rPr>
              <a:t> (!printImmediately)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data.primes.push_back(prime);</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8EC1F5"/>
                </a:solidFill>
                <a:latin typeface="Consolas" pitchFamily="49" charset="0"/>
                <a:ea typeface="Consolas" pitchFamily="49" charset="-122"/>
                <a:cs typeface="Consolas" pitchFamily="49" charset="-120"/>
              </a:rPr>
              <a:t>return</a:t>
            </a: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500"/>
              </a:spcBef>
              <a:spcAft>
                <a:spcPts val="0"/>
              </a:spcAft>
              <a:buNone/>
            </a:pPr>
            <a:r>
              <a:rPr lang="en-US" sz="1200" i="1" dirty="0">
                <a:solidFill>
                  <a:srgbClr val="A3B0C2"/>
                </a:solidFill>
                <a:latin typeface="Consolas" pitchFamily="49" charset="0"/>
                <a:ea typeface="Consolas" pitchFamily="49" charset="-122"/>
                <a:cs typeface="Consolas" pitchFamily="49" charset="-120"/>
              </a:rPr>
              <a:t>// printAllPrimes(): after the join</a:t>
            </a:r>
          </a:p>
          <a:p>
            <a:pPr marL="0" indent="0" algn="l">
              <a:lnSpc>
                <a:spcPts val="1400"/>
              </a:lnSpc>
              <a:spcBef>
                <a:spcPts val="0"/>
              </a:spcBef>
              <a:spcAft>
                <a:spcPts val="0"/>
              </a:spcAft>
              <a:buNone/>
            </a:pPr>
            <a:r>
              <a:rPr lang="en-US" sz="1200" dirty="0">
                <a:solidFill>
                  <a:srgbClr val="7ED3C0"/>
                </a:solidFill>
                <a:latin typeface="Consolas" pitchFamily="49" charset="0"/>
                <a:ea typeface="Consolas" pitchFamily="49" charset="-122"/>
                <a:cs typeface="Consolas" pitchFamily="49" charset="-120"/>
              </a:rPr>
              <a:t>vector</a:t>
            </a:r>
            <a:r>
              <a:rPr lang="en-US" sz="1200" dirty="0">
                <a:solidFill>
                  <a:srgbClr val="DCE3EE"/>
                </a:solidFill>
                <a:latin typeface="Consolas" pitchFamily="49" charset="0"/>
                <a:ea typeface="Consolas" pitchFamily="49" charset="-122"/>
                <a:cs typeface="Consolas" pitchFamily="49" charset="-120"/>
              </a:rPr>
              <a:t>&lt;</a:t>
            </a:r>
            <a:r>
              <a:rPr lang="en-US" sz="1200" dirty="0">
                <a:solidFill>
                  <a:srgbClr val="7ED3C0"/>
                </a:solidFill>
                <a:latin typeface="Consolas" pitchFamily="49" charset="0"/>
                <a:ea typeface="Consolas" pitchFamily="49" charset="-122"/>
                <a:cs typeface="Consolas" pitchFamily="49" charset="-120"/>
              </a:rPr>
              <a:t>PrimeInfo</a:t>
            </a:r>
            <a:r>
              <a:rPr lang="en-US" sz="1200" dirty="0">
                <a:solidFill>
                  <a:srgbClr val="DCE3EE"/>
                </a:solidFill>
                <a:latin typeface="Consolas" pitchFamily="49" charset="0"/>
                <a:ea typeface="Consolas" pitchFamily="49" charset="-122"/>
                <a:cs typeface="Consolas" pitchFamily="49" charset="-120"/>
              </a:rPr>
              <a:t>&gt; all;</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for</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 i = </a:t>
            </a:r>
            <a:r>
              <a:rPr lang="en-US" sz="1200" dirty="0">
                <a:solidFill>
                  <a:srgbClr val="F4B26B"/>
                </a:solidFill>
                <a:latin typeface="Consolas" pitchFamily="49" charset="0"/>
                <a:ea typeface="Consolas" pitchFamily="49" charset="-122"/>
                <a:cs typeface="Consolas" pitchFamily="49" charset="-120"/>
              </a:rPr>
              <a:t>0</a:t>
            </a:r>
            <a:r>
              <a:rPr lang="en-US" sz="1200" dirty="0">
                <a:solidFill>
                  <a:srgbClr val="DCE3EE"/>
                </a:solidFill>
                <a:latin typeface="Consolas" pitchFamily="49" charset="0"/>
                <a:ea typeface="Consolas" pitchFamily="49" charset="-122"/>
                <a:cs typeface="Consolas" pitchFamily="49" charset="-120"/>
              </a:rPr>
              <a:t>; i &lt; (</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)threadData.size(); i++)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all.insert(all.end(), threadData[i].primes.begin(),</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threadData[i].primes.end());</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sort(all.begin(), all.end(), smallerNumber);</a:t>
            </a:r>
          </a:p>
          <a:p>
            <a:pPr marL="0" indent="0" algn="l">
              <a:lnSpc>
                <a:spcPts val="1400"/>
              </a:lnSpc>
              <a:spcBef>
                <a:spcPts val="0"/>
              </a:spcBef>
              <a:spcAft>
                <a:spcPts val="0"/>
              </a:spcAft>
              <a:buNone/>
            </a:pPr>
            <a:r>
              <a:rPr lang="en-US" sz="1200" dirty="0">
                <a:solidFill>
                  <a:srgbClr val="8EC1F5"/>
                </a:solidFill>
                <a:latin typeface="Consolas" pitchFamily="49" charset="0"/>
                <a:ea typeface="Consolas" pitchFamily="49" charset="-122"/>
                <a:cs typeface="Consolas" pitchFamily="49" charset="-120"/>
              </a:rPr>
              <a:t>for</a:t>
            </a:r>
            <a:r>
              <a:rPr lang="en-US" sz="1200" dirty="0">
                <a:solidFill>
                  <a:srgbClr val="DCE3EE"/>
                </a:solidFill>
                <a:latin typeface="Consolas" pitchFamily="49" charset="0"/>
                <a:ea typeface="Consolas" pitchFamily="49" charset="-122"/>
                <a:cs typeface="Consolas" pitchFamily="49" charset="-120"/>
              </a:rPr>
              <a:t> (</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 i = </a:t>
            </a:r>
            <a:r>
              <a:rPr lang="en-US" sz="1200" dirty="0">
                <a:solidFill>
                  <a:srgbClr val="F4B26B"/>
                </a:solidFill>
                <a:latin typeface="Consolas" pitchFamily="49" charset="0"/>
                <a:ea typeface="Consolas" pitchFamily="49" charset="-122"/>
                <a:cs typeface="Consolas" pitchFamily="49" charset="-120"/>
              </a:rPr>
              <a:t>0</a:t>
            </a:r>
            <a:r>
              <a:rPr lang="en-US" sz="1200" dirty="0">
                <a:solidFill>
                  <a:srgbClr val="DCE3EE"/>
                </a:solidFill>
                <a:latin typeface="Consolas" pitchFamily="49" charset="0"/>
                <a:ea typeface="Consolas" pitchFamily="49" charset="-122"/>
                <a:cs typeface="Consolas" pitchFamily="49" charset="-120"/>
              </a:rPr>
              <a:t>; i &lt; (</a:t>
            </a:r>
            <a:r>
              <a:rPr lang="en-US" sz="1200" dirty="0">
                <a:solidFill>
                  <a:srgbClr val="7ED3C0"/>
                </a:solidFill>
                <a:latin typeface="Consolas" pitchFamily="49" charset="0"/>
                <a:ea typeface="Consolas" pitchFamily="49" charset="-122"/>
                <a:cs typeface="Consolas" pitchFamily="49" charset="-120"/>
              </a:rPr>
              <a:t>int</a:t>
            </a:r>
            <a:r>
              <a:rPr lang="en-US" sz="1200" dirty="0">
                <a:solidFill>
                  <a:srgbClr val="DCE3EE"/>
                </a:solidFill>
                <a:latin typeface="Consolas" pitchFamily="49" charset="0"/>
                <a:ea typeface="Consolas" pitchFamily="49" charset="-122"/>
                <a:cs typeface="Consolas" pitchFamily="49" charset="-120"/>
              </a:rPr>
              <a:t>)all.size(); i++) {</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  cout &lt;&lt; primeLine(all[i]);</a:t>
            </a:r>
          </a:p>
          <a:p>
            <a:pPr marL="0" indent="0" algn="l">
              <a:lnSpc>
                <a:spcPts val="1400"/>
              </a:lnSpc>
              <a:spcBef>
                <a:spcPts val="0"/>
              </a:spcBef>
              <a:spcAft>
                <a:spcPts val="0"/>
              </a:spcAft>
              <a:buNone/>
            </a:pPr>
            <a:r>
              <a:rPr lang="en-US" sz="1200" dirty="0">
                <a:solidFill>
                  <a:srgbClr val="DCE3EE"/>
                </a:solidFill>
                <a:latin typeface="Consolas" pitchFamily="49" charset="0"/>
                <a:ea typeface="Consolas" pitchFamily="49" charset="-122"/>
                <a:cs typeface="Consolas" pitchFamily="49" charset="-120"/>
              </a:rPr>
              <a:t>}</a:t>
            </a:r>
          </a:p>
        </p:txBody>
      </p:sp>
      <p:sp>
        <p:nvSpPr>
          <p:cNvPr id="18" name="Code badge 3"/>
          <p:cNvSpPr/>
          <p:nvPr/>
        </p:nvSpPr>
        <p:spPr>
          <a:xfrm>
            <a:off x="5623560" y="1868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3</a:t>
            </a:r>
          </a:p>
        </p:txBody>
      </p:sp>
      <p:sp>
        <p:nvSpPr>
          <p:cNvPr id="19" name="Code badge 1"/>
          <p:cNvSpPr/>
          <p:nvPr/>
        </p:nvSpPr>
        <p:spPr>
          <a:xfrm>
            <a:off x="5623560" y="29989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1</a:t>
            </a:r>
          </a:p>
        </p:txBody>
      </p:sp>
      <p:sp>
        <p:nvSpPr>
          <p:cNvPr id="20" name="Code badge 1"/>
          <p:cNvSpPr/>
          <p:nvPr/>
        </p:nvSpPr>
        <p:spPr>
          <a:xfrm>
            <a:off x="5623560" y="35323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1</a:t>
            </a:r>
          </a:p>
        </p:txBody>
      </p:sp>
      <p:sp>
        <p:nvSpPr>
          <p:cNvPr id="21" name="Code badge 2"/>
          <p:cNvSpPr/>
          <p:nvPr/>
        </p:nvSpPr>
        <p:spPr>
          <a:xfrm>
            <a:off x="5623560" y="4662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2</a:t>
            </a:r>
          </a:p>
        </p:txBody>
      </p:sp>
      <p:sp>
        <p:nvSpPr>
          <p:cNvPr id="22" name="Code badge 2"/>
          <p:cNvSpPr/>
          <p:nvPr/>
        </p:nvSpPr>
        <p:spPr>
          <a:xfrm>
            <a:off x="5623560" y="51960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2</a:t>
            </a:r>
          </a:p>
        </p:txBody>
      </p:sp>
      <p:sp>
        <p:nvSpPr>
          <p:cNvPr id="23" name="Code badge 3"/>
          <p:cNvSpPr/>
          <p:nvPr/>
        </p:nvSpPr>
        <p:spPr>
          <a:xfrm>
            <a:off x="5623560" y="5551677"/>
            <a:ext cx="160020" cy="160020"/>
          </a:xfrm>
          <a:prstGeom prst="ellipse">
            <a:avLst/>
          </a:prstGeom>
          <a:solidFill>
            <a:srgbClr val="C2410C"/>
          </a:solidFill>
          <a:ln>
            <a:noFill/>
          </a:ln>
        </p:spPr>
        <p:txBody>
          <a:bodyPr wrap="none" lIns="0" tIns="0" rIns="0" bIns="0" rtlCol="0" anchor="ctr"/>
          <a:lstStyle/>
          <a:p>
            <a:pPr algn="ctr"/>
            <a:r>
              <a:rPr lang="en-US" sz="881" b="1" dirty="0">
                <a:solidFill>
                  <a:srgbClr val="FFFFFF"/>
                </a:solidFill>
                <a:latin typeface="Arial" pitchFamily="34" charset="0"/>
                <a:cs typeface="Arial" pitchFamily="34" charset="-120"/>
              </a:rPr>
              <a:t>3</a:t>
            </a:r>
          </a:p>
        </p:txBody>
      </p:sp>
      <p:sp>
        <p:nvSpPr>
          <p:cNvPr id="24" name="Code caption"/>
          <p:cNvSpPr txBox="1"/>
          <p:nvPr/>
        </p:nvSpPr>
        <p:spPr>
          <a:xfrm>
            <a:off x="5504688" y="6126987"/>
            <a:ext cx="6191504" cy="201168"/>
          </a:xfrm>
          <a:prstGeom prst="rect">
            <a:avLst/>
          </a:prstGeom>
          <a:noFill/>
          <a:ln>
            <a:noFill/>
          </a:ln>
        </p:spPr>
        <p:txBody>
          <a:bodyPr wrap="square" lIns="0" tIns="0" rIns="0" bIns="0" rtlCol="0" anchor="t">
            <a:noAutofit/>
          </a:bodyPr>
          <a:lstStyle/>
          <a:p>
            <a:pPr algn="l"/>
            <a:r>
              <a:rPr lang="en-US" sz="1100" dirty="0">
                <a:solidFill>
                  <a:srgbClr val="5A6675"/>
                </a:solidFill>
                <a:latin typeface="Arial" pitchFamily="34" charset="0"/>
                <a:cs typeface="Arial" pitchFamily="34" charset="-120"/>
              </a:rPr>
              <a:t>Excerpts from the project source, abridged</a:t>
            </a:r>
          </a:p>
          <a:p>
            <a:pPr algn="l"/>
            <a:endParaRPr lang="en-US" sz="1100" dirty="0">
              <a:solidFill>
                <a:srgbClr val="5A6675"/>
              </a:solidFill>
              <a:latin typeface="Arial" pitchFamily="34" charset="0"/>
              <a:cs typeface="Arial" pitchFamily="34" charset="-120"/>
            </a:endParaRPr>
          </a:p>
          <a:p>
            <a:r>
              <a:rPr lang="en-US" sz="1100" dirty="0">
                <a:solidFill>
                  <a:srgbClr val="5A6675"/>
                </a:solidFill>
                <a:latin typeface="Arial" pitchFamily="34" charset="0"/>
                <a:cs typeface="Arial" pitchFamily="34" charset="-120"/>
              </a:rPr>
              <a:t>Note: Claude was used in mapping the specific line of code per number to the bullet point.</a:t>
            </a:r>
          </a:p>
        </p:txBody>
      </p:sp>
    </p:spTree>
    <p:extLst>
      <p:ext uri="{BB962C8B-B14F-4D97-AF65-F5344CB8AC3E}">
        <p14:creationId xmlns:p14="http://schemas.microsoft.com/office/powerpoint/2010/main" val="2897123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Straight division: more threads, faster search</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537" y="1536276"/>
          <a:ext cx="10556663" cy="2182285"/>
        </p:xfrm>
        <a:graphic>
          <a:graphicData uri="http://schemas.openxmlformats.org/drawingml/2006/table">
            <a:tbl>
              <a:tblPr/>
              <a:tblGrid>
                <a:gridCol w="2639166">
                  <a:extLst>
                    <a:ext uri="{9D8B030D-6E8A-4147-A177-3AD203B41FA5}">
                      <a16:colId xmlns:a16="http://schemas.microsoft.com/office/drawing/2014/main" val="20000"/>
                    </a:ext>
                  </a:extLst>
                </a:gridCol>
                <a:gridCol w="4222665">
                  <a:extLst>
                    <a:ext uri="{9D8B030D-6E8A-4147-A177-3AD203B41FA5}">
                      <a16:colId xmlns:a16="http://schemas.microsoft.com/office/drawing/2014/main" val="20001"/>
                    </a:ext>
                  </a:extLst>
                </a:gridCol>
                <a:gridCol w="3694832">
                  <a:extLst>
                    <a:ext uri="{9D8B030D-6E8A-4147-A177-3AD203B41FA5}">
                      <a16:colId xmlns:a16="http://schemas.microsoft.com/office/drawing/2014/main" val="20002"/>
                    </a:ext>
                  </a:extLst>
                </a:gridCol>
              </a:tblGrid>
              <a:tr h="436457">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Threads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Search time</a:t>
                      </a:r>
                      <a:endParaRPr lang="en-US" sz="1600" dirty="0">
                        <a:latin typeface="Arial" charset="0"/>
                        <a:ea typeface="Arial" charset="0"/>
                        <a:cs typeface="Arial" charset="0"/>
                      </a:endParaRPr>
                    </a:p>
                  </a:txBody>
                  <a:tcPr marL="71120" marR="71120" marT="71120" marB="7112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Speedup</a:t>
                      </a:r>
                      <a:endParaRPr lang="en-US" sz="1600" dirty="0">
                        <a:latin typeface="Arial" charset="0"/>
                        <a:ea typeface="Arial" charset="0"/>
                        <a:cs typeface="Arial" charset="0"/>
                      </a:endParaRPr>
                    </a:p>
                  </a:txBody>
                  <a:tcPr marL="71120" marR="71120" marT="71120" marB="7112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extLst>
                  <a:ext uri="{0D108BD9-81ED-4DB2-BD59-A6C34878D82A}">
                    <a16:rowId xmlns:a16="http://schemas.microsoft.com/office/drawing/2014/main" val="10000"/>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5.1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1"/>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2.4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2.1×</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2"/>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8</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2.1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2.4×</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3"/>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16</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2.0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2.5×</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Config Panel"/>
          <p:cNvSpPr/>
          <p:nvPr/>
        </p:nvSpPr>
        <p:spPr>
          <a:xfrm>
            <a:off x="822537" y="3992881"/>
            <a:ext cx="10556663" cy="1888236"/>
          </a:xfrm>
          <a:prstGeom prst="rect">
            <a:avLst/>
          </a:prstGeom>
          <a:solidFill>
            <a:srgbClr val="EEF2F8"/>
          </a:solidFill>
          <a:ln>
            <a:noFill/>
          </a:ln>
        </p:spPr>
        <p:txBody>
          <a:bodyPr rtlCol="0" anchor="ctr"/>
          <a:lstStyle/>
          <a:p>
            <a:endParaRPr lang="en-US" dirty="0"/>
          </a:p>
        </p:txBody>
      </p:sp>
      <p:sp>
        <p:nvSpPr>
          <p:cNvPr id="5" name="Config Used"/>
          <p:cNvSpPr txBox="1"/>
          <p:nvPr/>
        </p:nvSpPr>
        <p:spPr>
          <a:xfrm>
            <a:off x="1023705" y="4194049"/>
            <a:ext cx="3931920" cy="1485900"/>
          </a:xfrm>
          <a:prstGeom prst="rect">
            <a:avLst/>
          </a:prstGeom>
          <a:noFill/>
        </p:spPr>
        <p:txBody>
          <a:bodyPr wrap="square" lIns="0" tIns="0" rIns="0" bIns="0" rtlCol="0" anchor="t">
            <a:noAutofit/>
          </a:bodyPr>
          <a:lstStyle/>
          <a:p>
            <a:pPr marL="0" indent="0">
              <a:lnSpc>
                <a:spcPct val="100000"/>
              </a:lnSpc>
              <a:spcBef>
                <a:spcPts val="0"/>
              </a:spcBef>
              <a:spcAft>
                <a:spcPts val="600"/>
              </a:spcAft>
              <a:buNone/>
            </a:pPr>
            <a:r>
              <a:rPr lang="en-US" sz="1200" b="1" dirty="0">
                <a:solidFill>
                  <a:srgbClr val="5A6675"/>
                </a:solidFill>
                <a:latin typeface="Arial" panose="020B0604020202020204" pitchFamily="34" charset="0"/>
                <a:cs typeface="Arial" pitchFamily="34" charset="0"/>
              </a:rPr>
              <a:t>Config used (config.txt)</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x=1, 4, 8 or 16</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y=100000</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print=end</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division=straight</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max_threads=1024</a:t>
            </a:r>
          </a:p>
        </p:txBody>
      </p:sp>
      <p:sp>
        <p:nvSpPr>
          <p:cNvPr id="6" name="Measurement"/>
          <p:cNvSpPr txBox="1"/>
          <p:nvPr/>
        </p:nvSpPr>
        <p:spPr>
          <a:xfrm>
            <a:off x="5229945" y="4194049"/>
            <a:ext cx="5948087" cy="1485900"/>
          </a:xfrm>
          <a:prstGeom prst="rect">
            <a:avLst/>
          </a:prstGeom>
          <a:noFill/>
        </p:spPr>
        <p:txBody>
          <a:bodyPr wrap="square" lIns="0" tIns="0" rIns="0" bIns="0" rtlCol="0" anchor="t">
            <a:noAutofit/>
          </a:bodyPr>
          <a:lstStyle/>
          <a:p>
            <a:pPr marL="0" indent="0">
              <a:lnSpc>
                <a:spcPct val="100000"/>
              </a:lnSpc>
              <a:spcBef>
                <a:spcPts val="0"/>
              </a:spcBef>
              <a:spcAft>
                <a:spcPts val="600"/>
              </a:spcAft>
              <a:buNone/>
            </a:pPr>
            <a:r>
              <a:rPr lang="en-US" sz="1200" b="1" dirty="0">
                <a:solidFill>
                  <a:srgbClr val="5A6675"/>
                </a:solidFill>
                <a:latin typeface="Arial" pitchFamily="34" charset="0"/>
                <a:cs typeface="Arial" pitchFamily="34" charset="0"/>
              </a:rPr>
              <a:t>Measured</a:t>
            </a:r>
          </a:p>
          <a:p>
            <a:pPr marL="0" indent="0">
              <a:lnSpc>
                <a:spcPct val="115000"/>
              </a:lnSpc>
              <a:spcBef>
                <a:spcPts val="0"/>
              </a:spcBef>
              <a:spcAft>
                <a:spcPts val="0"/>
              </a:spcAft>
              <a:buNone/>
            </a:pPr>
            <a:r>
              <a:rPr lang="en-US" sz="1400" dirty="0">
                <a:solidFill>
                  <a:srgbClr val="1B2430"/>
                </a:solidFill>
                <a:latin typeface="Arial" pitchFamily="34" charset="0"/>
                <a:cs typeface="Arial" pitchFamily="34" charset="0"/>
              </a:rPr>
              <a:t>Search time only (printing excluded)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Straight division: extra threads help less and less</a:t>
            </a:r>
            <a:endParaRPr lang="en-US" sz="2800" dirty="0"/>
          </a:p>
        </p:txBody>
      </p:sp>
      <p:graphicFrame>
        <p:nvGraphicFramePr>
          <p:cNvPr id="3" name="Time saved per doubling" descr="Column chart of search time saved each time the thread count doubles: 1 to 2 threads saves 1.42 ms, 2 to 4 threads saves 1.16 ms, 4 to 8 threads saves 0.32 ms, 8 to 16 threads saves 0.15 ms."/>
          <p:cNvGraphicFramePr>
            <a:graphicFrameLocks noGrp="1"/>
          </p:cNvGraphicFramePr>
          <p:nvPr/>
        </p:nvGraphicFramePr>
        <p:xfrm>
          <a:off x="822537" y="1536192"/>
          <a:ext cx="6309360" cy="4160520"/>
        </p:xfrm>
        <a:graphic>
          <a:graphicData uri="http://schemas.openxmlformats.org/drawingml/2006/chart">
            <c:chart xmlns:c="http://schemas.openxmlformats.org/drawingml/2006/chart" xmlns:r="http://schemas.openxmlformats.org/officeDocument/2006/relationships" r:id="rId2"/>
          </a:graphicData>
        </a:graphic>
      </p:graphicFrame>
      <p:sp>
        <p:nvSpPr>
          <p:cNvPr id="4" name="Config Panel"/>
          <p:cNvSpPr/>
          <p:nvPr/>
        </p:nvSpPr>
        <p:spPr>
          <a:xfrm>
            <a:off x="7406217" y="1536192"/>
            <a:ext cx="3972984" cy="4160520"/>
          </a:xfrm>
          <a:prstGeom prst="rect">
            <a:avLst/>
          </a:prstGeom>
          <a:solidFill>
            <a:srgbClr val="EEF2F8"/>
          </a:solidFill>
          <a:ln>
            <a:noFill/>
          </a:ln>
        </p:spPr>
        <p:txBody>
          <a:bodyPr rtlCol="0" anchor="ctr"/>
          <a:lstStyle/>
          <a:p>
            <a:endParaRPr lang="en-US" dirty="0"/>
          </a:p>
        </p:txBody>
      </p:sp>
      <p:sp>
        <p:nvSpPr>
          <p:cNvPr id="5" name="Stat"/>
          <p:cNvSpPr txBox="1"/>
          <p:nvPr/>
        </p:nvSpPr>
        <p:spPr>
          <a:xfrm>
            <a:off x="7634817" y="1764792"/>
            <a:ext cx="3515784" cy="1371600"/>
          </a:xfrm>
          <a:prstGeom prst="rect">
            <a:avLst/>
          </a:prstGeom>
          <a:noFill/>
        </p:spPr>
        <p:txBody>
          <a:bodyPr wrap="square" lIns="0" tIns="0" rIns="0" bIns="0" anchor="t">
            <a:spAutoFit/>
          </a:bodyPr>
          <a:lstStyle/>
          <a:p>
            <a:pPr algn="l">
              <a:lnSpc>
                <a:spcPct val="100000"/>
              </a:lnSpc>
              <a:spcBef>
                <a:spcPts val="0"/>
              </a:spcBef>
              <a:spcAft>
                <a:spcPts val="200"/>
              </a:spcAft>
            </a:pPr>
            <a:r>
              <a:rPr sz="1200" b="1">
                <a:solidFill>
                  <a:srgbClr val="5A6675"/>
                </a:solidFill>
                <a:latin typeface="Arial"/>
              </a:rPr>
              <a:t>1 → 16 threads</a:t>
            </a:r>
          </a:p>
          <a:p>
            <a:pPr algn="l">
              <a:lnSpc>
                <a:spcPct val="100000"/>
              </a:lnSpc>
              <a:spcBef>
                <a:spcPts val="0"/>
              </a:spcBef>
              <a:spcAft>
                <a:spcPts val="200"/>
              </a:spcAft>
            </a:pPr>
            <a:r>
              <a:rPr sz="3600" b="1">
                <a:solidFill>
                  <a:srgbClr val="156082"/>
                </a:solidFill>
                <a:latin typeface="Arial"/>
              </a:rPr>
              <a:t>2.5×</a:t>
            </a:r>
          </a:p>
          <a:p>
            <a:pPr algn="l">
              <a:lnSpc>
                <a:spcPct val="115000"/>
              </a:lnSpc>
              <a:spcBef>
                <a:spcPts val="0"/>
              </a:spcBef>
              <a:spcAft>
                <a:spcPts val="0"/>
              </a:spcAft>
            </a:pPr>
            <a:r>
              <a:rPr sz="1400" b="0">
                <a:solidFill>
                  <a:srgbClr val="1B2430"/>
                </a:solidFill>
                <a:latin typeface="Arial"/>
              </a:rPr>
              <a:t>faster, with 16 times the threads</a:t>
            </a:r>
          </a:p>
        </p:txBody>
      </p:sp>
      <p:sp>
        <p:nvSpPr>
          <p:cNvPr id="6" name="Efficiency"/>
          <p:cNvSpPr txBox="1"/>
          <p:nvPr/>
        </p:nvSpPr>
        <p:spPr>
          <a:xfrm>
            <a:off x="7634817" y="3319272"/>
            <a:ext cx="3515784" cy="2103120"/>
          </a:xfrm>
          <a:prstGeom prst="rect">
            <a:avLst/>
          </a:prstGeom>
          <a:noFill/>
        </p:spPr>
        <p:txBody>
          <a:bodyPr wrap="square" lIns="0" tIns="0" rIns="0" bIns="0" anchor="t">
            <a:spAutoFit/>
          </a:bodyPr>
          <a:lstStyle/>
          <a:p>
            <a:pPr algn="l">
              <a:lnSpc>
                <a:spcPct val="100000"/>
              </a:lnSpc>
              <a:spcBef>
                <a:spcPts val="0"/>
              </a:spcBef>
              <a:spcAft>
                <a:spcPts val="400"/>
              </a:spcAft>
            </a:pPr>
            <a:r>
              <a:rPr sz="1200" b="1" dirty="0">
                <a:solidFill>
                  <a:srgbClr val="5A6675"/>
                </a:solidFill>
                <a:latin typeface="Arial"/>
              </a:rPr>
              <a:t>Efficiency (speedup ÷ threads)</a:t>
            </a:r>
          </a:p>
          <a:p>
            <a:pPr algn="l">
              <a:lnSpc>
                <a:spcPct val="115000"/>
              </a:lnSpc>
              <a:spcBef>
                <a:spcPts val="0"/>
              </a:spcBef>
              <a:spcAft>
                <a:spcPts val="200"/>
              </a:spcAft>
            </a:pPr>
            <a:r>
              <a:rPr sz="1400" b="0" dirty="0">
                <a:solidFill>
                  <a:srgbClr val="1B2430"/>
                </a:solidFill>
                <a:latin typeface="Arial"/>
              </a:rPr>
              <a:t>4 threads: 51%</a:t>
            </a:r>
          </a:p>
          <a:p>
            <a:pPr algn="l">
              <a:lnSpc>
                <a:spcPct val="115000"/>
              </a:lnSpc>
              <a:spcBef>
                <a:spcPts val="0"/>
              </a:spcBef>
              <a:spcAft>
                <a:spcPts val="200"/>
              </a:spcAft>
            </a:pPr>
            <a:r>
              <a:rPr sz="1400" b="0" dirty="0">
                <a:solidFill>
                  <a:srgbClr val="1B2430"/>
                </a:solidFill>
                <a:latin typeface="Arial"/>
              </a:rPr>
              <a:t>8 threads: 29%</a:t>
            </a:r>
          </a:p>
          <a:p>
            <a:pPr algn="l">
              <a:lnSpc>
                <a:spcPct val="115000"/>
              </a:lnSpc>
              <a:spcBef>
                <a:spcPts val="0"/>
              </a:spcBef>
              <a:spcAft>
                <a:spcPts val="800"/>
              </a:spcAft>
            </a:pPr>
            <a:r>
              <a:rPr sz="1400" b="0" dirty="0">
                <a:solidFill>
                  <a:srgbClr val="1B2430"/>
                </a:solidFill>
                <a:latin typeface="Arial"/>
              </a:rPr>
              <a:t>16 threads: 16%</a:t>
            </a:r>
          </a:p>
          <a:p>
            <a:pPr algn="l">
              <a:lnSpc>
                <a:spcPct val="115000"/>
              </a:lnSpc>
              <a:spcBef>
                <a:spcPts val="0"/>
              </a:spcBef>
              <a:spcAft>
                <a:spcPts val="0"/>
              </a:spcAft>
            </a:pPr>
            <a:r>
              <a:rPr sz="1400" b="0" dirty="0">
                <a:solidFill>
                  <a:srgbClr val="1B2430"/>
                </a:solidFill>
                <a:latin typeface="Arial"/>
              </a:rPr>
              <a:t>The whole search is only about 5 </a:t>
            </a:r>
            <a:r>
              <a:rPr sz="1400" b="0" dirty="0" err="1">
                <a:solidFill>
                  <a:srgbClr val="1B2430"/>
                </a:solidFill>
                <a:latin typeface="Arial"/>
              </a:rPr>
              <a:t>ms</a:t>
            </a:r>
            <a:r>
              <a:rPr sz="1400" b="0" dirty="0">
                <a:solidFill>
                  <a:srgbClr val="1B2430"/>
                </a:solidFill>
                <a:latin typeface="Arial"/>
              </a:rPr>
              <a:t>, and the slowest block sets the finish time</a:t>
            </a:r>
          </a:p>
        </p:txBody>
      </p:sp>
      <p:sp>
        <p:nvSpPr>
          <p:cNvPr id="7" name="Config and Measurement"/>
          <p:cNvSpPr txBox="1"/>
          <p:nvPr/>
        </p:nvSpPr>
        <p:spPr>
          <a:xfrm>
            <a:off x="822537" y="5861304"/>
            <a:ext cx="10556664" cy="900246"/>
          </a:xfrm>
          <a:prstGeom prst="rect">
            <a:avLst/>
          </a:prstGeom>
          <a:noFill/>
        </p:spPr>
        <p:txBody>
          <a:bodyPr wrap="square" lIns="0" tIns="0" rIns="0" bIns="0" anchor="t">
            <a:spAutoFit/>
          </a:bodyPr>
          <a:lstStyle/>
          <a:p>
            <a:pPr algn="l">
              <a:lnSpc>
                <a:spcPct val="100000"/>
              </a:lnSpc>
              <a:spcBef>
                <a:spcPts val="0"/>
              </a:spcBef>
              <a:spcAft>
                <a:spcPts val="300"/>
              </a:spcAft>
            </a:pPr>
            <a:r>
              <a:rPr sz="1200" b="1" dirty="0">
                <a:solidFill>
                  <a:srgbClr val="5A6675"/>
                </a:solidFill>
                <a:latin typeface="Arial"/>
              </a:rPr>
              <a:t>Config used: </a:t>
            </a:r>
            <a:r>
              <a:rPr sz="1200" b="0" dirty="0">
                <a:solidFill>
                  <a:srgbClr val="5A6675"/>
                </a:solidFill>
                <a:latin typeface="Arial"/>
              </a:rPr>
              <a:t>x=1, 2, 4, 8 or 16, y=100000, print=end, division=straight, </a:t>
            </a:r>
            <a:r>
              <a:rPr sz="1200" b="0" dirty="0" err="1">
                <a:solidFill>
                  <a:srgbClr val="5A6675"/>
                </a:solidFill>
                <a:latin typeface="Arial"/>
              </a:rPr>
              <a:t>max_threads</a:t>
            </a:r>
            <a:r>
              <a:rPr sz="1200" b="0" dirty="0">
                <a:solidFill>
                  <a:srgbClr val="5A6675"/>
                </a:solidFill>
                <a:latin typeface="Arial"/>
              </a:rPr>
              <a:t>=1024</a:t>
            </a:r>
          </a:p>
          <a:p>
            <a:pPr algn="l">
              <a:lnSpc>
                <a:spcPct val="100000"/>
              </a:lnSpc>
              <a:spcBef>
                <a:spcPts val="0"/>
              </a:spcBef>
              <a:spcAft>
                <a:spcPts val="0"/>
              </a:spcAft>
            </a:pPr>
            <a:r>
              <a:rPr sz="1200" b="1" dirty="0">
                <a:solidFill>
                  <a:srgbClr val="5A6675"/>
                </a:solidFill>
                <a:latin typeface="Arial"/>
              </a:rPr>
              <a:t>Measured: </a:t>
            </a:r>
            <a:r>
              <a:rPr sz="1200" b="0" dirty="0">
                <a:solidFill>
                  <a:srgbClr val="5A6675"/>
                </a:solidFill>
                <a:latin typeface="Arial"/>
              </a:rPr>
              <a:t>search time only (printing excluded)</a:t>
            </a:r>
            <a:endParaRPr lang="en-US" sz="1200" b="0" dirty="0">
              <a:solidFill>
                <a:srgbClr val="5A6675"/>
              </a:solidFill>
              <a:latin typeface="Arial"/>
            </a:endParaRPr>
          </a:p>
          <a:p>
            <a:pPr algn="l">
              <a:lnSpc>
                <a:spcPct val="100000"/>
              </a:lnSpc>
              <a:spcBef>
                <a:spcPts val="0"/>
              </a:spcBef>
              <a:spcAft>
                <a:spcPts val="0"/>
              </a:spcAft>
            </a:pPr>
            <a:endParaRPr lang="en-US" sz="1200" dirty="0">
              <a:solidFill>
                <a:srgbClr val="5A6675"/>
              </a:solidFill>
              <a:latin typeface="Arial"/>
            </a:endParaRPr>
          </a:p>
          <a:p>
            <a:r>
              <a:rPr lang="en-US" sz="800" dirty="0">
                <a:solidFill>
                  <a:srgbClr val="5A6675"/>
                </a:solidFill>
                <a:latin typeface="Arial"/>
              </a:rPr>
              <a:t>This graph was generated with AI assistance with Claude. (I am not good at making good looking graphs.)</a:t>
            </a:r>
          </a:p>
          <a:p>
            <a:pPr algn="l">
              <a:lnSpc>
                <a:spcPct val="100000"/>
              </a:lnSpc>
              <a:spcBef>
                <a:spcPts val="0"/>
              </a:spcBef>
              <a:spcAft>
                <a:spcPts val="0"/>
              </a:spcAft>
            </a:pPr>
            <a:endParaRPr sz="1200" b="0" dirty="0">
              <a:solidFill>
                <a:srgbClr val="5A6675"/>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Straight division: later blocks take longer</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537" y="1536276"/>
          <a:ext cx="10556664" cy="2182285"/>
        </p:xfrm>
        <a:graphic>
          <a:graphicData uri="http://schemas.openxmlformats.org/drawingml/2006/table">
            <a:tbl>
              <a:tblPr/>
              <a:tblGrid>
                <a:gridCol w="1583500">
                  <a:extLst>
                    <a:ext uri="{9D8B030D-6E8A-4147-A177-3AD203B41FA5}">
                      <a16:colId xmlns:a16="http://schemas.microsoft.com/office/drawing/2014/main" val="20000"/>
                    </a:ext>
                  </a:extLst>
                </a:gridCol>
                <a:gridCol w="3694832">
                  <a:extLst>
                    <a:ext uri="{9D8B030D-6E8A-4147-A177-3AD203B41FA5}">
                      <a16:colId xmlns:a16="http://schemas.microsoft.com/office/drawing/2014/main" val="20001"/>
                    </a:ext>
                  </a:extLst>
                </a:gridCol>
                <a:gridCol w="2639166">
                  <a:extLst>
                    <a:ext uri="{9D8B030D-6E8A-4147-A177-3AD203B41FA5}">
                      <a16:colId xmlns:a16="http://schemas.microsoft.com/office/drawing/2014/main" val="20002"/>
                    </a:ext>
                  </a:extLst>
                </a:gridCol>
                <a:gridCol w="2639166">
                  <a:extLst>
                    <a:ext uri="{9D8B030D-6E8A-4147-A177-3AD203B41FA5}">
                      <a16:colId xmlns:a16="http://schemas.microsoft.com/office/drawing/2014/main" val="20003"/>
                    </a:ext>
                  </a:extLst>
                </a:gridCol>
              </a:tblGrid>
              <a:tr h="436457">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Thread</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Block</a:t>
                      </a:r>
                      <a:endParaRPr lang="en-US" sz="1600" dirty="0">
                        <a:latin typeface="Arial" charset="0"/>
                        <a:ea typeface="Arial" charset="0"/>
                        <a:cs typeface="Arial" charset="0"/>
                      </a:endParaRPr>
                    </a:p>
                  </a:txBody>
                  <a:tcPr marL="71120" marR="71120" marT="71120" marB="7112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Primes</a:t>
                      </a:r>
                      <a:endParaRPr lang="en-US" sz="1600" dirty="0">
                        <a:latin typeface="Arial" charset="0"/>
                        <a:ea typeface="Arial" charset="0"/>
                        <a:cs typeface="Arial" charset="0"/>
                      </a:endParaRPr>
                    </a:p>
                  </a:txBody>
                  <a:tcPr marL="71120" marR="71120" marT="71120" marB="7112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Finished after</a:t>
                      </a:r>
                      <a:endParaRPr lang="en-US" sz="1600" dirty="0">
                        <a:latin typeface="Arial" charset="0"/>
                        <a:ea typeface="Arial" charset="0"/>
                        <a:cs typeface="Arial" charset="0"/>
                      </a:endParaRPr>
                    </a:p>
                  </a:txBody>
                  <a:tcPr marL="71120" marR="71120" marT="71120" marB="7112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extLst>
                  <a:ext uri="{0D108BD9-81ED-4DB2-BD59-A6C34878D82A}">
                    <a16:rowId xmlns:a16="http://schemas.microsoft.com/office/drawing/2014/main" val="10000"/>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 – 25,000</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2,762</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1.6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1"/>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25,001 – 50,000</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2,371</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1.9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2"/>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3</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50,001 – 75,000</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2,260</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2.2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3"/>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75,001 – 100,000</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2,199</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2.4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Config Panel"/>
          <p:cNvSpPr/>
          <p:nvPr/>
        </p:nvSpPr>
        <p:spPr>
          <a:xfrm>
            <a:off x="822537" y="3992881"/>
            <a:ext cx="10556664" cy="1888236"/>
          </a:xfrm>
          <a:prstGeom prst="rect">
            <a:avLst/>
          </a:prstGeom>
          <a:solidFill>
            <a:srgbClr val="EEF2F8"/>
          </a:solidFill>
          <a:ln>
            <a:noFill/>
          </a:ln>
        </p:spPr>
        <p:txBody>
          <a:bodyPr rtlCol="0" anchor="ctr"/>
          <a:lstStyle/>
          <a:p>
            <a:endParaRPr lang="en-US" dirty="0"/>
          </a:p>
        </p:txBody>
      </p:sp>
      <p:sp>
        <p:nvSpPr>
          <p:cNvPr id="5" name="Config Used"/>
          <p:cNvSpPr txBox="1"/>
          <p:nvPr/>
        </p:nvSpPr>
        <p:spPr>
          <a:xfrm>
            <a:off x="1023705" y="4194049"/>
            <a:ext cx="3931920" cy="1485900"/>
          </a:xfrm>
          <a:prstGeom prst="rect">
            <a:avLst/>
          </a:prstGeom>
          <a:noFill/>
        </p:spPr>
        <p:txBody>
          <a:bodyPr wrap="square" lIns="0" tIns="0" rIns="0" bIns="0" rtlCol="0" anchor="t">
            <a:noAutofit/>
          </a:bodyPr>
          <a:lstStyle/>
          <a:p>
            <a:pPr marL="0" indent="0">
              <a:lnSpc>
                <a:spcPct val="100000"/>
              </a:lnSpc>
              <a:spcBef>
                <a:spcPts val="0"/>
              </a:spcBef>
              <a:spcAft>
                <a:spcPts val="600"/>
              </a:spcAft>
              <a:buNone/>
            </a:pPr>
            <a:r>
              <a:rPr lang="en-US" sz="1200" b="1" dirty="0">
                <a:solidFill>
                  <a:srgbClr val="5A6675"/>
                </a:solidFill>
                <a:latin typeface="Arial" panose="020B0604020202020204" pitchFamily="34" charset="0"/>
                <a:cs typeface="Arial" pitchFamily="34" charset="0"/>
              </a:rPr>
              <a:t>Config used (config.txt)</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x=4</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y=100000</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print=end</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division=straight</a:t>
            </a:r>
          </a:p>
          <a:p>
            <a:pPr marL="0" indent="0">
              <a:lnSpc>
                <a:spcPct val="115000"/>
              </a:lnSpc>
              <a:spcBef>
                <a:spcPts val="0"/>
              </a:spcBef>
              <a:spcAft>
                <a:spcPts val="0"/>
              </a:spcAft>
              <a:buNone/>
            </a:pPr>
            <a:r>
              <a:rPr lang="en-US" sz="1400" dirty="0" err="1">
                <a:solidFill>
                  <a:srgbClr val="1B2430"/>
                </a:solidFill>
                <a:latin typeface="Arial" panose="020B0604020202020204" pitchFamily="34" charset="0"/>
                <a:cs typeface="Arial" panose="020B0604020202020204" pitchFamily="34" charset="0"/>
              </a:rPr>
              <a:t>max_threads</a:t>
            </a:r>
            <a:r>
              <a:rPr lang="en-US" sz="1400" dirty="0">
                <a:solidFill>
                  <a:srgbClr val="1B2430"/>
                </a:solidFill>
                <a:latin typeface="Arial" panose="020B0604020202020204" pitchFamily="34" charset="0"/>
                <a:cs typeface="Arial" panose="020B0604020202020204" pitchFamily="34" charset="0"/>
              </a:rPr>
              <a:t>=1024</a:t>
            </a:r>
          </a:p>
        </p:txBody>
      </p:sp>
      <p:sp>
        <p:nvSpPr>
          <p:cNvPr id="6" name="Measurement"/>
          <p:cNvSpPr txBox="1"/>
          <p:nvPr/>
        </p:nvSpPr>
        <p:spPr>
          <a:xfrm>
            <a:off x="5229945" y="4194049"/>
            <a:ext cx="5948088" cy="1485900"/>
          </a:xfrm>
          <a:prstGeom prst="rect">
            <a:avLst/>
          </a:prstGeom>
          <a:noFill/>
        </p:spPr>
        <p:txBody>
          <a:bodyPr wrap="square" lIns="0" tIns="0" rIns="0" bIns="0" rtlCol="0" anchor="t">
            <a:noAutofit/>
          </a:bodyPr>
          <a:lstStyle/>
          <a:p>
            <a:pPr marL="0" indent="0">
              <a:lnSpc>
                <a:spcPct val="100000"/>
              </a:lnSpc>
              <a:spcBef>
                <a:spcPts val="0"/>
              </a:spcBef>
              <a:spcAft>
                <a:spcPts val="600"/>
              </a:spcAft>
              <a:buNone/>
            </a:pPr>
            <a:r>
              <a:rPr lang="en-US" sz="1200" b="1" dirty="0">
                <a:solidFill>
                  <a:srgbClr val="5A6675"/>
                </a:solidFill>
                <a:latin typeface="Arial" pitchFamily="34" charset="0"/>
                <a:cs typeface="Arial" pitchFamily="34" charset="0"/>
              </a:rPr>
              <a:t>Measured</a:t>
            </a:r>
          </a:p>
          <a:p>
            <a:pPr marL="0" indent="0">
              <a:lnSpc>
                <a:spcPct val="115000"/>
              </a:lnSpc>
              <a:spcBef>
                <a:spcPts val="0"/>
              </a:spcBef>
              <a:spcAft>
                <a:spcPts val="0"/>
              </a:spcAft>
              <a:buNone/>
            </a:pPr>
            <a:r>
              <a:rPr lang="en-US" sz="1400" dirty="0">
                <a:solidFill>
                  <a:srgbClr val="1B2430"/>
                </a:solidFill>
                <a:latin typeface="Arial" pitchFamily="34" charset="0"/>
                <a:cs typeface="Arial" pitchFamily="34" charset="0"/>
              </a:rPr>
              <a:t>Time from the start until each thread finished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Straight division: optimum thread count, 12–24 threads</a:t>
            </a:r>
            <a:endParaRPr lang="en-US" sz="2800" dirty="0"/>
          </a:p>
        </p:txBody>
      </p:sp>
      <p:graphicFrame>
        <p:nvGraphicFramePr>
          <p:cNvPr id="3" name="Speedup bell curve" descr="Bell-shaped curve of straight-division speedup against thread count on a log scale. Speedup rises from 1.0x at 1 thread to a peak of 2.6x at 20 threads, then falls below 1.0x beyond about 128 threads, reaching 0.15x at 1024 threads."/>
          <p:cNvGraphicFramePr>
            <a:graphicFrameLocks noGrp="1"/>
          </p:cNvGraphicFramePr>
          <p:nvPr/>
        </p:nvGraphicFramePr>
        <p:xfrm>
          <a:off x="822537" y="1536192"/>
          <a:ext cx="6309360" cy="4160520"/>
        </p:xfrm>
        <a:graphic>
          <a:graphicData uri="http://schemas.openxmlformats.org/drawingml/2006/chart">
            <c:chart xmlns:c="http://schemas.openxmlformats.org/drawingml/2006/chart" xmlns:r="http://schemas.openxmlformats.org/officeDocument/2006/relationships" r:id="rId2"/>
          </a:graphicData>
        </a:graphic>
      </p:graphicFrame>
      <p:sp>
        <p:nvSpPr>
          <p:cNvPr id="4" name="Config Panel"/>
          <p:cNvSpPr/>
          <p:nvPr/>
        </p:nvSpPr>
        <p:spPr>
          <a:xfrm>
            <a:off x="7406217" y="1536192"/>
            <a:ext cx="3972984" cy="4160520"/>
          </a:xfrm>
          <a:prstGeom prst="rect">
            <a:avLst/>
          </a:prstGeom>
          <a:solidFill>
            <a:srgbClr val="EEF2F8"/>
          </a:solidFill>
          <a:ln>
            <a:noFill/>
          </a:ln>
        </p:spPr>
        <p:txBody>
          <a:bodyPr rtlCol="0" anchor="ctr"/>
          <a:lstStyle/>
          <a:p>
            <a:endParaRPr lang="en-US" dirty="0"/>
          </a:p>
        </p:txBody>
      </p:sp>
      <p:sp>
        <p:nvSpPr>
          <p:cNvPr id="5" name="Stat"/>
          <p:cNvSpPr txBox="1"/>
          <p:nvPr/>
        </p:nvSpPr>
        <p:spPr>
          <a:xfrm>
            <a:off x="7634817" y="1764792"/>
            <a:ext cx="3515784" cy="1371600"/>
          </a:xfrm>
          <a:prstGeom prst="rect">
            <a:avLst/>
          </a:prstGeom>
          <a:noFill/>
        </p:spPr>
        <p:txBody>
          <a:bodyPr wrap="square" lIns="0" tIns="0" rIns="0" bIns="0" anchor="t">
            <a:spAutoFit/>
          </a:bodyPr>
          <a:lstStyle/>
          <a:p>
            <a:pPr algn="l">
              <a:lnSpc>
                <a:spcPct val="100000"/>
              </a:lnSpc>
              <a:spcBef>
                <a:spcPts val="0"/>
              </a:spcBef>
              <a:spcAft>
                <a:spcPts val="200"/>
              </a:spcAft>
            </a:pPr>
            <a:r>
              <a:rPr sz="1200" b="1">
                <a:solidFill>
                  <a:srgbClr val="5A6675"/>
                </a:solidFill>
                <a:latin typeface="Arial"/>
              </a:rPr>
              <a:t>Optimum for straight division</a:t>
            </a:r>
          </a:p>
          <a:p>
            <a:pPr algn="l">
              <a:lnSpc>
                <a:spcPct val="100000"/>
              </a:lnSpc>
              <a:spcBef>
                <a:spcPts val="0"/>
              </a:spcBef>
              <a:spcAft>
                <a:spcPts val="200"/>
              </a:spcAft>
            </a:pPr>
            <a:r>
              <a:rPr sz="3600" b="1">
                <a:solidFill>
                  <a:srgbClr val="C2410C"/>
                </a:solidFill>
                <a:latin typeface="Arial"/>
              </a:rPr>
              <a:t>12–24 threads</a:t>
            </a:r>
          </a:p>
          <a:p>
            <a:pPr algn="l">
              <a:lnSpc>
                <a:spcPct val="115000"/>
              </a:lnSpc>
              <a:spcBef>
                <a:spcPts val="0"/>
              </a:spcBef>
              <a:spcAft>
                <a:spcPts val="0"/>
              </a:spcAft>
            </a:pPr>
            <a:r>
              <a:rPr sz="1400" b="0">
                <a:solidFill>
                  <a:srgbClr val="1B2430"/>
                </a:solidFill>
                <a:latin typeface="Arial"/>
              </a:rPr>
              <a:t>Peak at 20: 2.6× faster than 1 thread. Every count from 12 to 24 is within 5% of it. This PC has 12 logical processors.</a:t>
            </a:r>
          </a:p>
        </p:txBody>
      </p:sp>
      <p:sp>
        <p:nvSpPr>
          <p:cNvPr id="6" name="Either side"/>
          <p:cNvSpPr txBox="1"/>
          <p:nvPr/>
        </p:nvSpPr>
        <p:spPr>
          <a:xfrm>
            <a:off x="7634817" y="3822192"/>
            <a:ext cx="3515784" cy="1737360"/>
          </a:xfrm>
          <a:prstGeom prst="rect">
            <a:avLst/>
          </a:prstGeom>
          <a:noFill/>
        </p:spPr>
        <p:txBody>
          <a:bodyPr wrap="square" lIns="0" tIns="0" rIns="0" bIns="0" anchor="t">
            <a:spAutoFit/>
          </a:bodyPr>
          <a:lstStyle/>
          <a:p>
            <a:pPr algn="l">
              <a:lnSpc>
                <a:spcPct val="100000"/>
              </a:lnSpc>
              <a:spcBef>
                <a:spcPts val="0"/>
              </a:spcBef>
              <a:spcAft>
                <a:spcPts val="400"/>
              </a:spcAft>
            </a:pPr>
            <a:r>
              <a:rPr sz="1200" b="1">
                <a:solidFill>
                  <a:srgbClr val="5A6675"/>
                </a:solidFill>
                <a:latin typeface="Arial"/>
              </a:rPr>
              <a:t>Either side of the peak</a:t>
            </a:r>
          </a:p>
          <a:p>
            <a:pPr algn="l">
              <a:lnSpc>
                <a:spcPct val="115000"/>
              </a:lnSpc>
              <a:spcBef>
                <a:spcPts val="0"/>
              </a:spcBef>
              <a:spcAft>
                <a:spcPts val="400"/>
              </a:spcAft>
            </a:pPr>
            <a:r>
              <a:rPr sz="1400" b="0">
                <a:solidFill>
                  <a:srgbClr val="1B2430"/>
                </a:solidFill>
                <a:latin typeface="Arial"/>
              </a:rPr>
              <a:t>Fewer: cores sit idle</a:t>
            </a:r>
          </a:p>
          <a:p>
            <a:pPr algn="l">
              <a:lnSpc>
                <a:spcPct val="115000"/>
              </a:lnSpc>
              <a:spcBef>
                <a:spcPts val="0"/>
              </a:spcBef>
              <a:spcAft>
                <a:spcPts val="400"/>
              </a:spcAft>
            </a:pPr>
            <a:r>
              <a:rPr sz="1400" b="0">
                <a:solidFill>
                  <a:srgbClr val="1B2430"/>
                </a:solidFill>
                <a:latin typeface="Arial"/>
              </a:rPr>
              <a:t>More: starting and joining threads costs more than the work saved. 1,024 threads take 33 ms, against 5.0 ms for 1</a:t>
            </a:r>
          </a:p>
          <a:p>
            <a:pPr algn="l">
              <a:lnSpc>
                <a:spcPct val="115000"/>
              </a:lnSpc>
              <a:spcBef>
                <a:spcPts val="0"/>
              </a:spcBef>
              <a:spcAft>
                <a:spcPts val="0"/>
              </a:spcAft>
            </a:pPr>
            <a:r>
              <a:rPr sz="1400" b="0">
                <a:solidFill>
                  <a:srgbClr val="1B2430"/>
                </a:solidFill>
                <a:latin typeface="Arial"/>
              </a:rPr>
              <a:t>Divisibility testing: fastest at 1 thread</a:t>
            </a:r>
          </a:p>
        </p:txBody>
      </p:sp>
      <p:sp>
        <p:nvSpPr>
          <p:cNvPr id="7" name="Config and Measurement"/>
          <p:cNvSpPr txBox="1"/>
          <p:nvPr/>
        </p:nvSpPr>
        <p:spPr>
          <a:xfrm>
            <a:off x="822537" y="5861304"/>
            <a:ext cx="10556664" cy="900246"/>
          </a:xfrm>
          <a:prstGeom prst="rect">
            <a:avLst/>
          </a:prstGeom>
          <a:noFill/>
        </p:spPr>
        <p:txBody>
          <a:bodyPr wrap="square" lIns="0" tIns="0" rIns="0" bIns="0" anchor="t">
            <a:spAutoFit/>
          </a:bodyPr>
          <a:lstStyle/>
          <a:p>
            <a:pPr algn="l">
              <a:lnSpc>
                <a:spcPct val="100000"/>
              </a:lnSpc>
              <a:spcBef>
                <a:spcPts val="0"/>
              </a:spcBef>
              <a:spcAft>
                <a:spcPts val="300"/>
              </a:spcAft>
            </a:pPr>
            <a:r>
              <a:rPr sz="1200" b="1" dirty="0">
                <a:solidFill>
                  <a:srgbClr val="5A6675"/>
                </a:solidFill>
                <a:latin typeface="Arial"/>
              </a:rPr>
              <a:t>Config used: </a:t>
            </a:r>
            <a:r>
              <a:rPr sz="1200" b="0" dirty="0">
                <a:solidFill>
                  <a:srgbClr val="5A6675"/>
                </a:solidFill>
                <a:latin typeface="Arial"/>
              </a:rPr>
              <a:t>x=1 to 1024, y=100000, print=end, division=straight, </a:t>
            </a:r>
            <a:r>
              <a:rPr sz="1200" b="0" dirty="0" err="1">
                <a:solidFill>
                  <a:srgbClr val="5A6675"/>
                </a:solidFill>
                <a:latin typeface="Arial"/>
              </a:rPr>
              <a:t>max_threads</a:t>
            </a:r>
            <a:r>
              <a:rPr sz="1200" b="0" dirty="0">
                <a:solidFill>
                  <a:srgbClr val="5A6675"/>
                </a:solidFill>
                <a:latin typeface="Arial"/>
              </a:rPr>
              <a:t>=1024</a:t>
            </a:r>
          </a:p>
          <a:p>
            <a:pPr algn="l">
              <a:lnSpc>
                <a:spcPct val="100000"/>
              </a:lnSpc>
              <a:spcBef>
                <a:spcPts val="0"/>
              </a:spcBef>
              <a:spcAft>
                <a:spcPts val="0"/>
              </a:spcAft>
            </a:pPr>
            <a:r>
              <a:rPr sz="1200" b="1" dirty="0">
                <a:solidFill>
                  <a:srgbClr val="5A6675"/>
                </a:solidFill>
                <a:latin typeface="Arial"/>
              </a:rPr>
              <a:t>Measured: </a:t>
            </a:r>
            <a:r>
              <a:rPr sz="1200" b="0" dirty="0">
                <a:solidFill>
                  <a:srgbClr val="5A6675"/>
                </a:solidFill>
                <a:latin typeface="Arial"/>
              </a:rPr>
              <a:t>search time only (printing excluded</a:t>
            </a:r>
            <a:r>
              <a:rPr lang="en-US" sz="1200" b="0" dirty="0">
                <a:solidFill>
                  <a:srgbClr val="5A6675"/>
                </a:solidFill>
                <a:latin typeface="Arial"/>
              </a:rPr>
              <a:t>)</a:t>
            </a:r>
          </a:p>
          <a:p>
            <a:pPr algn="l">
              <a:lnSpc>
                <a:spcPct val="100000"/>
              </a:lnSpc>
              <a:spcBef>
                <a:spcPts val="0"/>
              </a:spcBef>
              <a:spcAft>
                <a:spcPts val="0"/>
              </a:spcAft>
            </a:pPr>
            <a:endParaRPr lang="en-US" sz="1200" dirty="0">
              <a:solidFill>
                <a:srgbClr val="5A6675"/>
              </a:solidFill>
              <a:latin typeface="Arial"/>
            </a:endParaRPr>
          </a:p>
          <a:p>
            <a:r>
              <a:rPr lang="en-US" sz="800" dirty="0">
                <a:solidFill>
                  <a:srgbClr val="5A6675"/>
                </a:solidFill>
                <a:latin typeface="Arial"/>
              </a:rPr>
              <a:t>This graph was generated with AI assistance with Claude. (I am not good at making good looking graphs.)</a:t>
            </a:r>
          </a:p>
          <a:p>
            <a:pPr algn="l">
              <a:lnSpc>
                <a:spcPct val="100000"/>
              </a:lnSpc>
              <a:spcBef>
                <a:spcPts val="0"/>
              </a:spcBef>
              <a:spcAft>
                <a:spcPts val="0"/>
              </a:spcAft>
            </a:pPr>
            <a:endParaRPr sz="1200" b="0" dirty="0">
              <a:solidFill>
                <a:srgbClr val="5A6675"/>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Straight division: immediate printing costs more</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537" y="1536279"/>
          <a:ext cx="10556664" cy="2182285"/>
        </p:xfrm>
        <a:graphic>
          <a:graphicData uri="http://schemas.openxmlformats.org/drawingml/2006/table">
            <a:tbl>
              <a:tblPr/>
              <a:tblGrid>
                <a:gridCol w="2111333">
                  <a:extLst>
                    <a:ext uri="{9D8B030D-6E8A-4147-A177-3AD203B41FA5}">
                      <a16:colId xmlns:a16="http://schemas.microsoft.com/office/drawing/2014/main" val="20000"/>
                    </a:ext>
                  </a:extLst>
                </a:gridCol>
                <a:gridCol w="4011532">
                  <a:extLst>
                    <a:ext uri="{9D8B030D-6E8A-4147-A177-3AD203B41FA5}">
                      <a16:colId xmlns:a16="http://schemas.microsoft.com/office/drawing/2014/main" val="20001"/>
                    </a:ext>
                  </a:extLst>
                </a:gridCol>
                <a:gridCol w="4433799">
                  <a:extLst>
                    <a:ext uri="{9D8B030D-6E8A-4147-A177-3AD203B41FA5}">
                      <a16:colId xmlns:a16="http://schemas.microsoft.com/office/drawing/2014/main" val="20002"/>
                    </a:ext>
                  </a:extLst>
                </a:gridCol>
              </a:tblGrid>
              <a:tr h="436457">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Threads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print = end</a:t>
                      </a:r>
                      <a:endParaRPr lang="en-US" sz="1600" dirty="0">
                        <a:latin typeface="Arial" charset="0"/>
                        <a:ea typeface="Arial" charset="0"/>
                        <a:cs typeface="Arial" charset="0"/>
                      </a:endParaRPr>
                    </a:p>
                  </a:txBody>
                  <a:tcPr marL="71120" marR="71120" marT="71120" marB="7112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print = immediate</a:t>
                      </a:r>
                      <a:endParaRPr lang="en-US" sz="1600" dirty="0">
                        <a:latin typeface="Arial" charset="0"/>
                        <a:ea typeface="Arial" charset="0"/>
                        <a:cs typeface="Arial" charset="0"/>
                      </a:endParaRPr>
                    </a:p>
                  </a:txBody>
                  <a:tcPr marL="71120" marR="71120" marT="71120" marB="7112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extLst>
                  <a:ext uri="{0D108BD9-81ED-4DB2-BD59-A6C34878D82A}">
                    <a16:rowId xmlns:a16="http://schemas.microsoft.com/office/drawing/2014/main" val="10000"/>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9.6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25.0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1"/>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6.6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34.8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2"/>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8</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6.3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36.0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3"/>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16</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6.1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36.2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Config Panel"/>
          <p:cNvSpPr/>
          <p:nvPr/>
        </p:nvSpPr>
        <p:spPr>
          <a:xfrm>
            <a:off x="822537" y="3992884"/>
            <a:ext cx="10556664" cy="1888236"/>
          </a:xfrm>
          <a:prstGeom prst="rect">
            <a:avLst/>
          </a:prstGeom>
          <a:solidFill>
            <a:srgbClr val="EEF2F8"/>
          </a:solidFill>
          <a:ln>
            <a:noFill/>
          </a:ln>
        </p:spPr>
        <p:txBody>
          <a:bodyPr rtlCol="0" anchor="ctr"/>
          <a:lstStyle/>
          <a:p>
            <a:endParaRPr lang="en-US" dirty="0"/>
          </a:p>
        </p:txBody>
      </p:sp>
      <p:sp>
        <p:nvSpPr>
          <p:cNvPr id="5" name="Config Used"/>
          <p:cNvSpPr txBox="1"/>
          <p:nvPr/>
        </p:nvSpPr>
        <p:spPr>
          <a:xfrm>
            <a:off x="1023705" y="4194052"/>
            <a:ext cx="3931920" cy="1485900"/>
          </a:xfrm>
          <a:prstGeom prst="rect">
            <a:avLst/>
          </a:prstGeom>
          <a:noFill/>
        </p:spPr>
        <p:txBody>
          <a:bodyPr wrap="square" lIns="0" tIns="0" rIns="0" bIns="0" rtlCol="0" anchor="t">
            <a:noAutofit/>
          </a:bodyPr>
          <a:lstStyle/>
          <a:p>
            <a:pPr marL="0" indent="0">
              <a:lnSpc>
                <a:spcPct val="100000"/>
              </a:lnSpc>
              <a:spcBef>
                <a:spcPts val="0"/>
              </a:spcBef>
              <a:spcAft>
                <a:spcPts val="600"/>
              </a:spcAft>
              <a:buNone/>
            </a:pPr>
            <a:r>
              <a:rPr lang="en-US" sz="1200" b="1" dirty="0">
                <a:solidFill>
                  <a:srgbClr val="5A6675"/>
                </a:solidFill>
                <a:latin typeface="Arial" panose="020B0604020202020204" pitchFamily="34" charset="0"/>
                <a:cs typeface="Arial" pitchFamily="34" charset="0"/>
              </a:rPr>
              <a:t>Config used (config.txt)</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x=1, 4, 8 or 16</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y=100000</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print=end or immediate</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division=straight</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max_threads=1024</a:t>
            </a:r>
          </a:p>
        </p:txBody>
      </p:sp>
      <p:sp>
        <p:nvSpPr>
          <p:cNvPr id="6" name="Measurement"/>
          <p:cNvSpPr txBox="1"/>
          <p:nvPr/>
        </p:nvSpPr>
        <p:spPr>
          <a:xfrm>
            <a:off x="5229945" y="4194052"/>
            <a:ext cx="5948088" cy="1485900"/>
          </a:xfrm>
          <a:prstGeom prst="rect">
            <a:avLst/>
          </a:prstGeom>
          <a:noFill/>
        </p:spPr>
        <p:txBody>
          <a:bodyPr wrap="square" lIns="0" tIns="0" rIns="0" bIns="0" rtlCol="0" anchor="t">
            <a:noAutofit/>
          </a:bodyPr>
          <a:lstStyle/>
          <a:p>
            <a:pPr marL="0" indent="0">
              <a:lnSpc>
                <a:spcPct val="100000"/>
              </a:lnSpc>
              <a:spcBef>
                <a:spcPts val="0"/>
              </a:spcBef>
              <a:spcAft>
                <a:spcPts val="600"/>
              </a:spcAft>
              <a:buNone/>
            </a:pPr>
            <a:r>
              <a:rPr lang="en-US" sz="1200" b="1" dirty="0">
                <a:solidFill>
                  <a:srgbClr val="5A6675"/>
                </a:solidFill>
                <a:latin typeface="Arial" pitchFamily="34" charset="0"/>
                <a:cs typeface="Arial" pitchFamily="34" charset="0"/>
              </a:rPr>
              <a:t>Measured</a:t>
            </a:r>
          </a:p>
          <a:p>
            <a:pPr marL="0" indent="0">
              <a:lnSpc>
                <a:spcPct val="115000"/>
              </a:lnSpc>
              <a:spcBef>
                <a:spcPts val="0"/>
              </a:spcBef>
              <a:spcAft>
                <a:spcPts val="0"/>
              </a:spcAft>
              <a:buNone/>
            </a:pPr>
            <a:r>
              <a:rPr lang="en-US" sz="1400" dirty="0">
                <a:solidFill>
                  <a:srgbClr val="1B2430"/>
                </a:solidFill>
                <a:latin typeface="Arial" pitchFamily="34" charset="0"/>
                <a:cs typeface="Arial" pitchFamily="34" charset="0"/>
              </a:rPr>
              <a:t>Total time: search plus printing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Divisibility testing: more threads, slower search</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537" y="1536276"/>
          <a:ext cx="10556663" cy="2182285"/>
        </p:xfrm>
        <a:graphic>
          <a:graphicData uri="http://schemas.openxmlformats.org/drawingml/2006/table">
            <a:tbl>
              <a:tblPr/>
              <a:tblGrid>
                <a:gridCol w="2639166">
                  <a:extLst>
                    <a:ext uri="{9D8B030D-6E8A-4147-A177-3AD203B41FA5}">
                      <a16:colId xmlns:a16="http://schemas.microsoft.com/office/drawing/2014/main" val="20000"/>
                    </a:ext>
                  </a:extLst>
                </a:gridCol>
                <a:gridCol w="4222665">
                  <a:extLst>
                    <a:ext uri="{9D8B030D-6E8A-4147-A177-3AD203B41FA5}">
                      <a16:colId xmlns:a16="http://schemas.microsoft.com/office/drawing/2014/main" val="20001"/>
                    </a:ext>
                  </a:extLst>
                </a:gridCol>
                <a:gridCol w="3694832">
                  <a:extLst>
                    <a:ext uri="{9D8B030D-6E8A-4147-A177-3AD203B41FA5}">
                      <a16:colId xmlns:a16="http://schemas.microsoft.com/office/drawing/2014/main" val="20002"/>
                    </a:ext>
                  </a:extLst>
                </a:gridCol>
              </a:tblGrid>
              <a:tr h="436457">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Threads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Search time</a:t>
                      </a:r>
                      <a:endParaRPr lang="en-US" sz="1600" dirty="0">
                        <a:latin typeface="Arial" charset="0"/>
                        <a:ea typeface="Arial" charset="0"/>
                        <a:cs typeface="Arial" charset="0"/>
                      </a:endParaRPr>
                    </a:p>
                  </a:txBody>
                  <a:tcPr marL="71120" marR="71120" marT="71120" marB="7112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2240"/>
                        </a:lnSpc>
                        <a:buNone/>
                      </a:pPr>
                      <a:r>
                        <a:rPr lang="en-US" sz="1600" b="1" dirty="0">
                          <a:solidFill>
                            <a:srgbClr val="2F3A48"/>
                          </a:solidFill>
                          <a:latin typeface="Arial" pitchFamily="34" charset="0"/>
                          <a:ea typeface="Arial" pitchFamily="34" charset="-122"/>
                          <a:cs typeface="Arial" pitchFamily="34" charset="-120"/>
                        </a:rPr>
                        <a:t>Slowdown</a:t>
                      </a:r>
                      <a:endParaRPr lang="en-US" sz="1600" dirty="0">
                        <a:latin typeface="Arial" charset="0"/>
                        <a:ea typeface="Arial" charset="0"/>
                        <a:cs typeface="Arial" charset="0"/>
                      </a:endParaRPr>
                    </a:p>
                  </a:txBody>
                  <a:tcPr marL="71120" marR="71120" marT="71120" marB="7112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extLst>
                  <a:ext uri="{0D108BD9-81ED-4DB2-BD59-A6C34878D82A}">
                    <a16:rowId xmlns:a16="http://schemas.microsoft.com/office/drawing/2014/main" val="10000"/>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7.9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1"/>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1,494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190× slower</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2"/>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8</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3,327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423× slower</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3"/>
                  </a:ext>
                </a:extLst>
              </a:tr>
              <a:tr h="436457">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16</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2,595 ms</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2240"/>
                        </a:lnSpc>
                        <a:buNone/>
                      </a:pPr>
                      <a:r>
                        <a:rPr lang="en-US" sz="1600" dirty="0">
                          <a:solidFill>
                            <a:srgbClr val="2F3A48"/>
                          </a:solidFill>
                          <a:latin typeface="Arial" pitchFamily="34" charset="0"/>
                          <a:ea typeface="Arial" pitchFamily="34" charset="-122"/>
                          <a:cs typeface="Arial" pitchFamily="34" charset="-120"/>
                        </a:rPr>
                        <a:t>330× slower</a:t>
                      </a:r>
                      <a:endParaRPr lang="en-US" sz="1600" dirty="0">
                        <a:latin typeface="Arial" charset="0"/>
                        <a:ea typeface="Arial" charset="0"/>
                        <a:cs typeface="Arial" charset="0"/>
                      </a:endParaRPr>
                    </a:p>
                  </a:txBody>
                  <a:tcPr marL="71120" marR="71120" marT="71120" marB="7112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Config Panel"/>
          <p:cNvSpPr/>
          <p:nvPr/>
        </p:nvSpPr>
        <p:spPr>
          <a:xfrm>
            <a:off x="822537" y="3992881"/>
            <a:ext cx="10556663" cy="1888236"/>
          </a:xfrm>
          <a:prstGeom prst="rect">
            <a:avLst/>
          </a:prstGeom>
          <a:solidFill>
            <a:srgbClr val="EEF2F8"/>
          </a:solidFill>
          <a:ln>
            <a:noFill/>
          </a:ln>
        </p:spPr>
        <p:txBody>
          <a:bodyPr rtlCol="0" anchor="ctr"/>
          <a:lstStyle/>
          <a:p>
            <a:endParaRPr lang="en-US" dirty="0"/>
          </a:p>
        </p:txBody>
      </p:sp>
      <p:sp>
        <p:nvSpPr>
          <p:cNvPr id="5" name="Config Used"/>
          <p:cNvSpPr txBox="1"/>
          <p:nvPr/>
        </p:nvSpPr>
        <p:spPr>
          <a:xfrm>
            <a:off x="1023705" y="4194049"/>
            <a:ext cx="3931920" cy="1485900"/>
          </a:xfrm>
          <a:prstGeom prst="rect">
            <a:avLst/>
          </a:prstGeom>
          <a:noFill/>
        </p:spPr>
        <p:txBody>
          <a:bodyPr wrap="square" lIns="0" tIns="0" rIns="0" bIns="0" rtlCol="0" anchor="t">
            <a:noAutofit/>
          </a:bodyPr>
          <a:lstStyle/>
          <a:p>
            <a:pPr marL="0" indent="0">
              <a:lnSpc>
                <a:spcPct val="100000"/>
              </a:lnSpc>
              <a:spcBef>
                <a:spcPts val="0"/>
              </a:spcBef>
              <a:spcAft>
                <a:spcPts val="600"/>
              </a:spcAft>
              <a:buNone/>
            </a:pPr>
            <a:r>
              <a:rPr lang="en-US" sz="1200" b="1" dirty="0">
                <a:solidFill>
                  <a:srgbClr val="5A6675"/>
                </a:solidFill>
                <a:latin typeface="Arial" panose="020B0604020202020204" pitchFamily="34" charset="0"/>
                <a:cs typeface="Arial" pitchFamily="34" charset="0"/>
              </a:rPr>
              <a:t>Config used (config.txt)</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x=1, 4, 8 or 16</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y=100000</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print=end</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division=divisibility</a:t>
            </a:r>
          </a:p>
          <a:p>
            <a:pPr marL="0" indent="0">
              <a:lnSpc>
                <a:spcPct val="115000"/>
              </a:lnSpc>
              <a:spcBef>
                <a:spcPts val="0"/>
              </a:spcBef>
              <a:spcAft>
                <a:spcPts val="0"/>
              </a:spcAft>
              <a:buNone/>
            </a:pPr>
            <a:r>
              <a:rPr lang="en-US" sz="1400" dirty="0">
                <a:solidFill>
                  <a:srgbClr val="1B2430"/>
                </a:solidFill>
                <a:latin typeface="Arial" panose="020B0604020202020204" pitchFamily="34" charset="0"/>
                <a:cs typeface="Arial" panose="020B0604020202020204" pitchFamily="34" charset="0"/>
              </a:rPr>
              <a:t>max_threads=1024</a:t>
            </a:r>
          </a:p>
        </p:txBody>
      </p:sp>
      <p:sp>
        <p:nvSpPr>
          <p:cNvPr id="6" name="Measurement"/>
          <p:cNvSpPr txBox="1"/>
          <p:nvPr/>
        </p:nvSpPr>
        <p:spPr>
          <a:xfrm>
            <a:off x="5229945" y="4194049"/>
            <a:ext cx="5948087" cy="1485900"/>
          </a:xfrm>
          <a:prstGeom prst="rect">
            <a:avLst/>
          </a:prstGeom>
          <a:noFill/>
        </p:spPr>
        <p:txBody>
          <a:bodyPr wrap="square" lIns="0" tIns="0" rIns="0" bIns="0" rtlCol="0" anchor="t">
            <a:noAutofit/>
          </a:bodyPr>
          <a:lstStyle/>
          <a:p>
            <a:pPr marL="0" indent="0">
              <a:lnSpc>
                <a:spcPct val="100000"/>
              </a:lnSpc>
              <a:spcBef>
                <a:spcPts val="0"/>
              </a:spcBef>
              <a:spcAft>
                <a:spcPts val="600"/>
              </a:spcAft>
              <a:buNone/>
            </a:pPr>
            <a:r>
              <a:rPr lang="en-US" sz="1200" b="1" dirty="0">
                <a:solidFill>
                  <a:srgbClr val="5A6675"/>
                </a:solidFill>
                <a:latin typeface="Arial" pitchFamily="34" charset="0"/>
                <a:cs typeface="Arial" pitchFamily="34" charset="0"/>
              </a:rPr>
              <a:t>Measured</a:t>
            </a:r>
          </a:p>
          <a:p>
            <a:pPr marL="0" indent="0">
              <a:lnSpc>
                <a:spcPct val="115000"/>
              </a:lnSpc>
              <a:spcBef>
                <a:spcPts val="0"/>
              </a:spcBef>
              <a:spcAft>
                <a:spcPts val="0"/>
              </a:spcAft>
              <a:buNone/>
            </a:pPr>
            <a:r>
              <a:rPr lang="en-US" sz="1400" dirty="0">
                <a:solidFill>
                  <a:srgbClr val="1B2430"/>
                </a:solidFill>
                <a:latin typeface="Arial" pitchFamily="34" charset="0"/>
                <a:cs typeface="Arial" pitchFamily="34" charset="0"/>
              </a:rPr>
              <a:t>Search time only (printing excluded)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Divisibility testing: extra threads slow every number</a:t>
            </a:r>
            <a:endParaRPr lang="en-US" sz="2800" dirty="0"/>
          </a:p>
        </p:txBody>
      </p:sp>
      <p:graphicFrame>
        <p:nvGraphicFramePr>
          <p:cNvPr id="3" name="Time per number" descr="Column chart of search time saved each time the thread count doubles: 1 to 2 threads saves 1.42 ms, 2 to 4 threads saves 1.16 ms, 4 to 8 threads saves 0.32 ms, 8 to 16 threads saves 0.15 ms."/>
          <p:cNvGraphicFramePr>
            <a:graphicFrameLocks noGrp="1"/>
          </p:cNvGraphicFramePr>
          <p:nvPr/>
        </p:nvGraphicFramePr>
        <p:xfrm>
          <a:off x="822537" y="1536192"/>
          <a:ext cx="63093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4" name="Config Panel"/>
          <p:cNvSpPr/>
          <p:nvPr/>
        </p:nvSpPr>
        <p:spPr>
          <a:xfrm>
            <a:off x="7406217" y="1536192"/>
            <a:ext cx="3972984" cy="4160520"/>
          </a:xfrm>
          <a:prstGeom prst="rect">
            <a:avLst/>
          </a:prstGeom>
          <a:solidFill>
            <a:srgbClr val="EEF2F8"/>
          </a:solidFill>
          <a:ln>
            <a:noFill/>
          </a:ln>
        </p:spPr>
        <p:txBody>
          <a:bodyPr rtlCol="0" anchor="ctr"/>
          <a:lstStyle/>
          <a:p>
            <a:endParaRPr lang="en-US" dirty="0"/>
          </a:p>
        </p:txBody>
      </p:sp>
      <p:sp>
        <p:nvSpPr>
          <p:cNvPr id="5" name="Stat"/>
          <p:cNvSpPr txBox="1"/>
          <p:nvPr/>
        </p:nvSpPr>
        <p:spPr>
          <a:xfrm>
            <a:off x="7634817" y="1764792"/>
            <a:ext cx="3515784" cy="1371600"/>
          </a:xfrm>
          <a:prstGeom prst="rect">
            <a:avLst/>
          </a:prstGeom>
          <a:noFill/>
        </p:spPr>
        <p:txBody>
          <a:bodyPr wrap="square" lIns="0" tIns="0" rIns="0" bIns="0" anchor="t">
            <a:spAutoFit/>
          </a:bodyPr>
          <a:lstStyle/>
          <a:p>
            <a:pPr algn="l">
              <a:lnSpc>
                <a:spcPct val="100000"/>
              </a:lnSpc>
              <a:spcBef>
                <a:spcPts val="0"/>
              </a:spcBef>
              <a:spcAft>
                <a:spcPts val="200"/>
              </a:spcAft>
            </a:pPr>
            <a:r>
              <a:rPr sz="1200" b="1">
                <a:solidFill>
                  <a:srgbClr val="5A6675"/>
                </a:solidFill>
                <a:latin typeface="Arial"/>
              </a:rPr>
              <a:t>1 → 8 threads</a:t>
            </a:r>
          </a:p>
          <a:p>
            <a:pPr algn="l">
              <a:lnSpc>
                <a:spcPct val="100000"/>
              </a:lnSpc>
              <a:spcBef>
                <a:spcPts val="0"/>
              </a:spcBef>
              <a:spcAft>
                <a:spcPts val="200"/>
              </a:spcAft>
            </a:pPr>
            <a:r>
              <a:rPr sz="3600" b="1">
                <a:solidFill>
                  <a:srgbClr val="156082"/>
                </a:solidFill>
                <a:latin typeface="Arial"/>
              </a:rPr>
              <a:t>423×</a:t>
            </a:r>
          </a:p>
          <a:p>
            <a:pPr algn="l">
              <a:lnSpc>
                <a:spcPct val="115000"/>
              </a:lnSpc>
              <a:spcBef>
                <a:spcPts val="0"/>
              </a:spcBef>
              <a:spcAft>
                <a:spcPts val="0"/>
              </a:spcAft>
            </a:pPr>
            <a:r>
              <a:rPr sz="1400" b="0">
                <a:solidFill>
                  <a:srgbClr val="1B2430"/>
                </a:solidFill>
                <a:latin typeface="Arial"/>
              </a:rPr>
              <a:t>slower, with 8 times the threads</a:t>
            </a:r>
          </a:p>
        </p:txBody>
      </p:sp>
      <p:sp>
        <p:nvSpPr>
          <p:cNvPr id="6" name="Efficiency"/>
          <p:cNvSpPr txBox="1"/>
          <p:nvPr/>
        </p:nvSpPr>
        <p:spPr>
          <a:xfrm>
            <a:off x="7634817" y="3319272"/>
            <a:ext cx="3515784" cy="2103120"/>
          </a:xfrm>
          <a:prstGeom prst="rect">
            <a:avLst/>
          </a:prstGeom>
          <a:noFill/>
        </p:spPr>
        <p:txBody>
          <a:bodyPr wrap="square" lIns="0" tIns="0" rIns="0" bIns="0" anchor="t">
            <a:spAutoFit/>
          </a:bodyPr>
          <a:lstStyle/>
          <a:p>
            <a:pPr algn="l">
              <a:lnSpc>
                <a:spcPct val="100000"/>
              </a:lnSpc>
              <a:spcBef>
                <a:spcPts val="0"/>
              </a:spcBef>
              <a:spcAft>
                <a:spcPts val="400"/>
              </a:spcAft>
            </a:pPr>
            <a:r>
              <a:rPr sz="1200" b="1" dirty="0">
                <a:solidFill>
                  <a:srgbClr val="5A6675"/>
                </a:solidFill>
                <a:latin typeface="Arial"/>
              </a:rPr>
              <a:t>Efficiency (speedup ÷ threads)</a:t>
            </a:r>
          </a:p>
          <a:p>
            <a:pPr algn="l">
              <a:lnSpc>
                <a:spcPct val="115000"/>
              </a:lnSpc>
              <a:spcBef>
                <a:spcPts val="0"/>
              </a:spcBef>
              <a:spcAft>
                <a:spcPts val="200"/>
              </a:spcAft>
            </a:pPr>
            <a:r>
              <a:rPr sz="1400" b="0" dirty="0">
                <a:solidFill>
                  <a:srgbClr val="1B2430"/>
                </a:solidFill>
                <a:latin typeface="Arial"/>
              </a:rPr>
              <a:t>4 threads: 0.13%</a:t>
            </a:r>
          </a:p>
          <a:p>
            <a:pPr algn="l">
              <a:lnSpc>
                <a:spcPct val="115000"/>
              </a:lnSpc>
              <a:spcBef>
                <a:spcPts val="0"/>
              </a:spcBef>
              <a:spcAft>
                <a:spcPts val="200"/>
              </a:spcAft>
            </a:pPr>
            <a:r>
              <a:rPr sz="1400" b="0" dirty="0">
                <a:solidFill>
                  <a:srgbClr val="1B2430"/>
                </a:solidFill>
                <a:latin typeface="Arial"/>
              </a:rPr>
              <a:t>8 threads: 0.03%</a:t>
            </a:r>
          </a:p>
          <a:p>
            <a:pPr algn="l">
              <a:lnSpc>
                <a:spcPct val="115000"/>
              </a:lnSpc>
              <a:spcBef>
                <a:spcPts val="0"/>
              </a:spcBef>
              <a:spcAft>
                <a:spcPts val="800"/>
              </a:spcAft>
            </a:pPr>
            <a:r>
              <a:rPr sz="1400" b="0" dirty="0">
                <a:solidFill>
                  <a:srgbClr val="1B2430"/>
                </a:solidFill>
                <a:latin typeface="Arial"/>
              </a:rPr>
              <a:t>16 threads: 0.02%</a:t>
            </a:r>
          </a:p>
          <a:p>
            <a:pPr algn="l">
              <a:lnSpc>
                <a:spcPct val="115000"/>
              </a:lnSpc>
              <a:spcBef>
                <a:spcPts val="0"/>
              </a:spcBef>
              <a:spcAft>
                <a:spcPts val="0"/>
              </a:spcAft>
            </a:pPr>
            <a:r>
              <a:rPr sz="1400" b="0" dirty="0">
                <a:solidFill>
                  <a:srgbClr val="1B2430"/>
                </a:solidFill>
                <a:latin typeface="Arial"/>
              </a:rPr>
              <a:t>One thread tests a number in under 0.1 µs; waiting for the other threads costs far more</a:t>
            </a:r>
          </a:p>
        </p:txBody>
      </p:sp>
      <p:sp>
        <p:nvSpPr>
          <p:cNvPr id="7" name="Config and Measurement"/>
          <p:cNvSpPr txBox="1"/>
          <p:nvPr/>
        </p:nvSpPr>
        <p:spPr>
          <a:xfrm>
            <a:off x="822537" y="5861304"/>
            <a:ext cx="10556664" cy="900246"/>
          </a:xfrm>
          <a:prstGeom prst="rect">
            <a:avLst/>
          </a:prstGeom>
          <a:noFill/>
        </p:spPr>
        <p:txBody>
          <a:bodyPr wrap="square" lIns="0" tIns="0" rIns="0" bIns="0" anchor="t">
            <a:spAutoFit/>
          </a:bodyPr>
          <a:lstStyle/>
          <a:p>
            <a:pPr algn="l">
              <a:lnSpc>
                <a:spcPct val="100000"/>
              </a:lnSpc>
              <a:spcBef>
                <a:spcPts val="0"/>
              </a:spcBef>
              <a:spcAft>
                <a:spcPts val="300"/>
              </a:spcAft>
            </a:pPr>
            <a:r>
              <a:rPr sz="1200" b="1" dirty="0">
                <a:solidFill>
                  <a:srgbClr val="5A6675"/>
                </a:solidFill>
                <a:latin typeface="Arial"/>
              </a:rPr>
              <a:t>Config used: </a:t>
            </a:r>
            <a:r>
              <a:rPr sz="1200" b="0" dirty="0">
                <a:solidFill>
                  <a:srgbClr val="5A6675"/>
                </a:solidFill>
                <a:latin typeface="Arial"/>
              </a:rPr>
              <a:t>x=1, 2, 4, 8 or 16, y=100000, print=end, division=divisibility, </a:t>
            </a:r>
            <a:r>
              <a:rPr sz="1200" b="0" dirty="0" err="1">
                <a:solidFill>
                  <a:srgbClr val="5A6675"/>
                </a:solidFill>
                <a:latin typeface="Arial"/>
              </a:rPr>
              <a:t>max_threads</a:t>
            </a:r>
            <a:r>
              <a:rPr sz="1200" b="0" dirty="0">
                <a:solidFill>
                  <a:srgbClr val="5A6675"/>
                </a:solidFill>
                <a:latin typeface="Arial"/>
              </a:rPr>
              <a:t>=1024</a:t>
            </a:r>
          </a:p>
          <a:p>
            <a:pPr algn="l">
              <a:lnSpc>
                <a:spcPct val="100000"/>
              </a:lnSpc>
              <a:spcBef>
                <a:spcPts val="0"/>
              </a:spcBef>
              <a:spcAft>
                <a:spcPts val="0"/>
              </a:spcAft>
            </a:pPr>
            <a:r>
              <a:rPr sz="1200" b="1" dirty="0">
                <a:solidFill>
                  <a:srgbClr val="5A6675"/>
                </a:solidFill>
                <a:latin typeface="Arial"/>
              </a:rPr>
              <a:t>Measured: </a:t>
            </a:r>
            <a:r>
              <a:rPr sz="1200" b="0" dirty="0">
                <a:solidFill>
                  <a:srgbClr val="5A6675"/>
                </a:solidFill>
                <a:latin typeface="Arial"/>
              </a:rPr>
              <a:t>search time only (printing excluded) ÷ 99,999 numbers</a:t>
            </a:r>
            <a:endParaRPr lang="en-US" sz="1200" b="0" dirty="0">
              <a:solidFill>
                <a:srgbClr val="5A6675"/>
              </a:solidFill>
              <a:latin typeface="Arial"/>
            </a:endParaRPr>
          </a:p>
          <a:p>
            <a:pPr algn="l">
              <a:lnSpc>
                <a:spcPct val="100000"/>
              </a:lnSpc>
              <a:spcBef>
                <a:spcPts val="0"/>
              </a:spcBef>
              <a:spcAft>
                <a:spcPts val="0"/>
              </a:spcAft>
            </a:pPr>
            <a:endParaRPr lang="en-US" sz="1200" dirty="0">
              <a:solidFill>
                <a:srgbClr val="5A6675"/>
              </a:solidFill>
              <a:latin typeface="Arial"/>
            </a:endParaRPr>
          </a:p>
          <a:p>
            <a:r>
              <a:rPr lang="en-US" sz="800" dirty="0">
                <a:solidFill>
                  <a:srgbClr val="5A6675"/>
                </a:solidFill>
                <a:latin typeface="Arial"/>
              </a:rPr>
              <a:t>This graph was generated with AI assistance with Claude. (I am not good at making good looking graphs.)</a:t>
            </a:r>
          </a:p>
          <a:p>
            <a:pPr algn="l">
              <a:lnSpc>
                <a:spcPct val="100000"/>
              </a:lnSpc>
              <a:spcBef>
                <a:spcPts val="0"/>
              </a:spcBef>
              <a:spcAft>
                <a:spcPts val="0"/>
              </a:spcAft>
            </a:pPr>
            <a:endParaRPr sz="1200" b="0" dirty="0">
              <a:solidFill>
                <a:srgbClr val="5A6675"/>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Optimum thread count: 1 thread</a:t>
            </a:r>
            <a:endParaRPr lang="en-US" sz="2800" dirty="0"/>
          </a:p>
        </p:txBody>
      </p:sp>
      <p:graphicFrame>
        <p:nvGraphicFramePr>
          <p:cNvPr id="3" name="Search time by thread count" descr="Bell-shaped curve of straight-division speedup against thread count on a log scale. Speedup rises from 1.0x at 1 thread to a peak of 2.6x at 20 threads, then falls below 1.0x beyond about 128 threads, reaching 0.15x at 1024 threads."/>
          <p:cNvGraphicFramePr>
            <a:graphicFrameLocks noGrp="1"/>
          </p:cNvGraphicFramePr>
          <p:nvPr/>
        </p:nvGraphicFramePr>
        <p:xfrm>
          <a:off x="822537" y="1536192"/>
          <a:ext cx="63093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4" name="Config Panel"/>
          <p:cNvSpPr/>
          <p:nvPr/>
        </p:nvSpPr>
        <p:spPr>
          <a:xfrm>
            <a:off x="7406217" y="1536192"/>
            <a:ext cx="3972984" cy="4160520"/>
          </a:xfrm>
          <a:prstGeom prst="rect">
            <a:avLst/>
          </a:prstGeom>
          <a:solidFill>
            <a:srgbClr val="EEF2F8"/>
          </a:solidFill>
          <a:ln>
            <a:noFill/>
          </a:ln>
        </p:spPr>
        <p:txBody>
          <a:bodyPr rtlCol="0" anchor="ctr"/>
          <a:lstStyle/>
          <a:p>
            <a:endParaRPr lang="en-US" dirty="0"/>
          </a:p>
        </p:txBody>
      </p:sp>
      <p:sp>
        <p:nvSpPr>
          <p:cNvPr id="5" name="Stat"/>
          <p:cNvSpPr txBox="1"/>
          <p:nvPr/>
        </p:nvSpPr>
        <p:spPr>
          <a:xfrm>
            <a:off x="7634817" y="1764792"/>
            <a:ext cx="3515784" cy="2091791"/>
          </a:xfrm>
          <a:prstGeom prst="rect">
            <a:avLst/>
          </a:prstGeom>
          <a:noFill/>
        </p:spPr>
        <p:txBody>
          <a:bodyPr wrap="square" lIns="0" tIns="0" rIns="0" bIns="0" anchor="t">
            <a:spAutoFit/>
          </a:bodyPr>
          <a:lstStyle/>
          <a:p>
            <a:pPr algn="l">
              <a:lnSpc>
                <a:spcPct val="100000"/>
              </a:lnSpc>
              <a:spcBef>
                <a:spcPts val="0"/>
              </a:spcBef>
              <a:spcAft>
                <a:spcPts val="200"/>
              </a:spcAft>
            </a:pPr>
            <a:r>
              <a:rPr sz="1200" b="1" dirty="0">
                <a:solidFill>
                  <a:srgbClr val="5A6675"/>
                </a:solidFill>
                <a:latin typeface="Arial"/>
              </a:rPr>
              <a:t>Optimum for divisibility testing</a:t>
            </a:r>
          </a:p>
          <a:p>
            <a:pPr algn="l">
              <a:lnSpc>
                <a:spcPct val="100000"/>
              </a:lnSpc>
              <a:spcBef>
                <a:spcPts val="0"/>
              </a:spcBef>
              <a:spcAft>
                <a:spcPts val="200"/>
              </a:spcAft>
            </a:pPr>
            <a:r>
              <a:rPr sz="3600" b="1" dirty="0">
                <a:solidFill>
                  <a:srgbClr val="C2410C"/>
                </a:solidFill>
                <a:latin typeface="Arial"/>
              </a:rPr>
              <a:t>1 thread</a:t>
            </a:r>
            <a:endParaRPr lang="en-US" sz="3600" b="1" dirty="0">
              <a:solidFill>
                <a:srgbClr val="C2410C"/>
              </a:solidFill>
              <a:latin typeface="Arial"/>
            </a:endParaRPr>
          </a:p>
          <a:p>
            <a:pPr algn="l">
              <a:lnSpc>
                <a:spcPct val="100000"/>
              </a:lnSpc>
              <a:spcBef>
                <a:spcPts val="0"/>
              </a:spcBef>
              <a:spcAft>
                <a:spcPts val="200"/>
              </a:spcAft>
            </a:pPr>
            <a:endParaRPr sz="3600" b="1" dirty="0">
              <a:solidFill>
                <a:srgbClr val="C2410C"/>
              </a:solidFill>
              <a:latin typeface="Arial"/>
            </a:endParaRPr>
          </a:p>
          <a:p>
            <a:pPr algn="l">
              <a:lnSpc>
                <a:spcPct val="115000"/>
              </a:lnSpc>
              <a:spcBef>
                <a:spcPts val="0"/>
              </a:spcBef>
              <a:spcAft>
                <a:spcPts val="0"/>
              </a:spcAft>
            </a:pPr>
            <a:r>
              <a:rPr sz="1400" b="0" dirty="0">
                <a:solidFill>
                  <a:srgbClr val="1B2430"/>
                </a:solidFill>
                <a:latin typeface="Arial"/>
              </a:rPr>
              <a:t>Every other count is slower, even 2 threads by 11×</a:t>
            </a:r>
            <a:r>
              <a:rPr lang="en-US" sz="1400" b="0" dirty="0">
                <a:solidFill>
                  <a:srgbClr val="1B2430"/>
                </a:solidFill>
                <a:latin typeface="Arial"/>
              </a:rPr>
              <a:t> due to barriers and waiting</a:t>
            </a:r>
            <a:r>
              <a:rPr sz="1400" b="0" dirty="0">
                <a:solidFill>
                  <a:srgbClr val="1B2430"/>
                </a:solidFill>
                <a:latin typeface="Arial"/>
              </a:rPr>
              <a:t>. </a:t>
            </a:r>
            <a:r>
              <a:rPr lang="en-US" sz="1400" b="0" dirty="0">
                <a:solidFill>
                  <a:srgbClr val="1B2430"/>
                </a:solidFill>
                <a:latin typeface="Arial"/>
              </a:rPr>
              <a:t>As a note, </a:t>
            </a:r>
            <a:r>
              <a:rPr lang="en-US" sz="1400" dirty="0">
                <a:solidFill>
                  <a:srgbClr val="1B2430"/>
                </a:solidFill>
                <a:latin typeface="Arial"/>
              </a:rPr>
              <a:t>t</a:t>
            </a:r>
            <a:r>
              <a:rPr sz="1400" b="0" dirty="0">
                <a:solidFill>
                  <a:srgbClr val="1B2430"/>
                </a:solidFill>
                <a:latin typeface="Arial"/>
              </a:rPr>
              <a:t>his PC has 12 logical processors.</a:t>
            </a:r>
          </a:p>
        </p:txBody>
      </p:sp>
      <p:sp>
        <p:nvSpPr>
          <p:cNvPr id="7" name="Config and Measurement"/>
          <p:cNvSpPr txBox="1"/>
          <p:nvPr/>
        </p:nvSpPr>
        <p:spPr>
          <a:xfrm>
            <a:off x="822537" y="5861304"/>
            <a:ext cx="10556664" cy="715581"/>
          </a:xfrm>
          <a:prstGeom prst="rect">
            <a:avLst/>
          </a:prstGeom>
          <a:noFill/>
        </p:spPr>
        <p:txBody>
          <a:bodyPr wrap="square" lIns="0" tIns="0" rIns="0" bIns="0" anchor="t">
            <a:spAutoFit/>
          </a:bodyPr>
          <a:lstStyle/>
          <a:p>
            <a:pPr algn="l">
              <a:lnSpc>
                <a:spcPct val="100000"/>
              </a:lnSpc>
              <a:spcBef>
                <a:spcPts val="0"/>
              </a:spcBef>
              <a:spcAft>
                <a:spcPts val="300"/>
              </a:spcAft>
            </a:pPr>
            <a:r>
              <a:rPr sz="1200" b="1" dirty="0">
                <a:solidFill>
                  <a:srgbClr val="5A6675"/>
                </a:solidFill>
                <a:latin typeface="Arial"/>
              </a:rPr>
              <a:t>Config used: </a:t>
            </a:r>
            <a:r>
              <a:rPr sz="1200" b="0" dirty="0">
                <a:solidFill>
                  <a:srgbClr val="5A6675"/>
                </a:solidFill>
                <a:latin typeface="Arial"/>
              </a:rPr>
              <a:t>x=1 to 1024, y=100000, print=end, division=divisibility, </a:t>
            </a:r>
            <a:r>
              <a:rPr sz="1200" b="0" dirty="0" err="1">
                <a:solidFill>
                  <a:srgbClr val="5A6675"/>
                </a:solidFill>
                <a:latin typeface="Arial"/>
              </a:rPr>
              <a:t>max_threads</a:t>
            </a:r>
            <a:r>
              <a:rPr sz="1200" b="0" dirty="0">
                <a:solidFill>
                  <a:srgbClr val="5A6675"/>
                </a:solidFill>
                <a:latin typeface="Arial"/>
              </a:rPr>
              <a:t>=1024</a:t>
            </a:r>
          </a:p>
          <a:p>
            <a:pPr algn="l">
              <a:lnSpc>
                <a:spcPct val="100000"/>
              </a:lnSpc>
              <a:spcBef>
                <a:spcPts val="0"/>
              </a:spcBef>
              <a:spcAft>
                <a:spcPts val="0"/>
              </a:spcAft>
            </a:pPr>
            <a:r>
              <a:rPr sz="1200" b="1" dirty="0">
                <a:solidFill>
                  <a:srgbClr val="5A6675"/>
                </a:solidFill>
                <a:latin typeface="Arial"/>
              </a:rPr>
              <a:t>Measured: </a:t>
            </a:r>
            <a:r>
              <a:rPr sz="1200" b="0" dirty="0">
                <a:solidFill>
                  <a:srgbClr val="5A6675"/>
                </a:solidFill>
                <a:latin typeface="Arial"/>
              </a:rPr>
              <a:t>search time only (printing excluded</a:t>
            </a:r>
            <a:r>
              <a:rPr lang="en-US" sz="1200" b="0" dirty="0">
                <a:solidFill>
                  <a:srgbClr val="5A6675"/>
                </a:solidFill>
                <a:latin typeface="Arial"/>
              </a:rPr>
              <a:t>)</a:t>
            </a:r>
          </a:p>
          <a:p>
            <a:pPr algn="l">
              <a:lnSpc>
                <a:spcPct val="100000"/>
              </a:lnSpc>
              <a:spcBef>
                <a:spcPts val="0"/>
              </a:spcBef>
              <a:spcAft>
                <a:spcPts val="0"/>
              </a:spcAft>
            </a:pPr>
            <a:endParaRPr lang="en-US" sz="1200" dirty="0">
              <a:solidFill>
                <a:srgbClr val="5A6675"/>
              </a:solidFill>
              <a:latin typeface="Arial"/>
            </a:endParaRPr>
          </a:p>
          <a:p>
            <a:pPr algn="l">
              <a:lnSpc>
                <a:spcPct val="100000"/>
              </a:lnSpc>
              <a:spcBef>
                <a:spcPts val="0"/>
              </a:spcBef>
              <a:spcAft>
                <a:spcPts val="0"/>
              </a:spcAft>
            </a:pPr>
            <a:r>
              <a:rPr lang="en-US" sz="800" b="0" dirty="0">
                <a:solidFill>
                  <a:srgbClr val="5A6675"/>
                </a:solidFill>
                <a:latin typeface="Arial"/>
              </a:rPr>
              <a:t>This graph was generated with AI assistance with Claude. (</a:t>
            </a:r>
            <a:r>
              <a:rPr lang="en-US" sz="800" dirty="0">
                <a:solidFill>
                  <a:srgbClr val="5A6675"/>
                </a:solidFill>
                <a:latin typeface="Arial"/>
              </a:rPr>
              <a:t>I am not good at making good looking graphs.)</a:t>
            </a:r>
            <a:endParaRPr sz="800" b="0" dirty="0">
              <a:solidFill>
                <a:srgbClr val="5A6675"/>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B2430"/>
                </a:solidFill>
                <a:latin typeface="Arial" pitchFamily="34" charset="0"/>
                <a:ea typeface="Arial" pitchFamily="34" charset="-122"/>
                <a:cs typeface="Arial" pitchFamily="34" charset="-120"/>
              </a:rPr>
              <a:t>Summary</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2515179216"/>
              </p:ext>
            </p:extLst>
          </p:nvPr>
        </p:nvGraphicFramePr>
        <p:xfrm>
          <a:off x="822536" y="1536279"/>
          <a:ext cx="9314069" cy="2801620"/>
        </p:xfrm>
        <a:graphic>
          <a:graphicData uri="http://schemas.openxmlformats.org/drawingml/2006/table">
            <a:tbl>
              <a:tblPr/>
              <a:tblGrid>
                <a:gridCol w="5174483">
                  <a:extLst>
                    <a:ext uri="{9D8B030D-6E8A-4147-A177-3AD203B41FA5}">
                      <a16:colId xmlns:a16="http://schemas.microsoft.com/office/drawing/2014/main" val="20000"/>
                    </a:ext>
                  </a:extLst>
                </a:gridCol>
                <a:gridCol w="4139586">
                  <a:extLst>
                    <a:ext uri="{9D8B030D-6E8A-4147-A177-3AD203B41FA5}">
                      <a16:colId xmlns:a16="http://schemas.microsoft.com/office/drawing/2014/main" val="20001"/>
                    </a:ext>
                  </a:extLst>
                </a:gridCol>
              </a:tblGrid>
              <a:tr h="365760">
                <a:tc>
                  <a:txBody>
                    <a:bodyPr/>
                    <a:lstStyle/>
                    <a:p>
                      <a:pPr marL="0" indent="0">
                        <a:lnSpc>
                          <a:spcPts val="1900"/>
                        </a:lnSpc>
                        <a:buNone/>
                      </a:pPr>
                      <a:r>
                        <a:rPr lang="en-US" sz="1600" b="1" dirty="0">
                          <a:solidFill>
                            <a:srgbClr val="2F3A48"/>
                          </a:solidFill>
                          <a:latin typeface="Arial" pitchFamily="34" charset="0"/>
                          <a:ea typeface="Arial" pitchFamily="34" charset="-122"/>
                          <a:cs typeface="Arial" pitchFamily="34" charset="-120"/>
                        </a:rPr>
                        <a:t>Variant</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tc>
                  <a:txBody>
                    <a:bodyPr/>
                    <a:lstStyle/>
                    <a:p>
                      <a:pPr marL="0" indent="0">
                        <a:lnSpc>
                          <a:spcPts val="1900"/>
                        </a:lnSpc>
                        <a:buNone/>
                      </a:pPr>
                      <a:r>
                        <a:rPr lang="en-US" sz="1600" b="1" dirty="0">
                          <a:solidFill>
                            <a:srgbClr val="2F3A48"/>
                          </a:solidFill>
                          <a:latin typeface="Arial" pitchFamily="34" charset="0"/>
                          <a:ea typeface="Arial" pitchFamily="34" charset="-122"/>
                          <a:cs typeface="Arial" pitchFamily="34" charset="-120"/>
                        </a:rPr>
                        <a:t>Performance</a:t>
                      </a:r>
                      <a:endParaRPr lang="en-US" sz="1600" dirty="0">
                        <a:latin typeface="Arial" charset="0"/>
                        <a:ea typeface="Arial" charset="0"/>
                        <a:cs typeface="Arial" charset="0"/>
                      </a:endParaRPr>
                    </a:p>
                  </a:txBody>
                  <a:tcPr marL="71120" marR="71120" marT="62230" marB="62230">
                    <a:lnL w="12700" cap="flat" cmpd="sng" algn="ctr">
                      <a:solidFill>
                        <a:srgbClr val="B5BBC3"/>
                      </a:solidFill>
                      <a:prstDash val="solid"/>
                      <a:round/>
                      <a:headEnd type="none" w="med" len="med"/>
                      <a:tailEnd type="none" w="med" len="med"/>
                    </a:lnL>
                    <a:lnR w="12700" cap="flat" cmpd="sng" algn="ctr">
                      <a:solidFill>
                        <a:srgbClr val="B5BB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5BBC3"/>
                      </a:solidFill>
                      <a:prstDash val="solid"/>
                      <a:round/>
                      <a:headEnd type="none" w="med" len="med"/>
                      <a:tailEnd type="none" w="med" len="med"/>
                    </a:lnB>
                    <a:solidFill>
                      <a:srgbClr val="E3EAF4"/>
                    </a:solidFill>
                  </a:tcPr>
                </a:tc>
                <a:extLst>
                  <a:ext uri="{0D108BD9-81ED-4DB2-BD59-A6C34878D82A}">
                    <a16:rowId xmlns:a16="http://schemas.microsoft.com/office/drawing/2014/main" val="10000"/>
                  </a:ext>
                </a:extLst>
              </a:tr>
              <a:tr h="365760">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straight + end</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latin typeface="Arial" charset="0"/>
                          <a:ea typeface="Arial" charset="0"/>
                          <a:cs typeface="Arial" charset="0"/>
                        </a:rPr>
                        <a:t>Fastest</a:t>
                      </a: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5BB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straight + immediate</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Fast but slower due to print lock</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3976421899"/>
                  </a:ext>
                </a:extLst>
              </a:tr>
              <a:tr h="365760">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divisibility + end, 1 thread</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latin typeface="Arial" charset="0"/>
                          <a:ea typeface="Arial" charset="0"/>
                          <a:cs typeface="Arial" charset="0"/>
                        </a:rPr>
                        <a:t>Slower than straight due to barrier</a:t>
                      </a: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divisibility + end, 4-16 threads</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1600" dirty="0">
                          <a:solidFill>
                            <a:srgbClr val="2F3A48"/>
                          </a:solidFill>
                          <a:latin typeface="Arial" pitchFamily="34" charset="0"/>
                          <a:ea typeface="Arial" pitchFamily="34" charset="-122"/>
                          <a:cs typeface="Arial" pitchFamily="34" charset="-120"/>
                        </a:rPr>
                        <a:t>190-423× slower than 1 thread for divisibility + end, 1 thread</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3295362817"/>
                  </a:ext>
                </a:extLst>
              </a:tr>
              <a:tr h="365760">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divisibility + immediate, 1 thread</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2.3× slower than divisibility + end</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divisibility + immediate, 4-16 threads</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marL="0" indent="0">
                        <a:lnSpc>
                          <a:spcPts val="1900"/>
                        </a:lnSpc>
                        <a:buNone/>
                      </a:pPr>
                      <a:r>
                        <a:rPr lang="en-US" sz="1600" dirty="0">
                          <a:solidFill>
                            <a:srgbClr val="2F3A48"/>
                          </a:solidFill>
                          <a:latin typeface="Arial" pitchFamily="34" charset="0"/>
                          <a:ea typeface="Arial" pitchFamily="34" charset="-122"/>
                          <a:cs typeface="Arial" pitchFamily="34" charset="-120"/>
                        </a:rPr>
                        <a:t>1.03-1.41× slower than end</a:t>
                      </a:r>
                      <a:endParaRPr lang="en-US" sz="1600" dirty="0">
                        <a:latin typeface="Arial" charset="0"/>
                        <a:ea typeface="Arial" charset="0"/>
                        <a:cs typeface="Arial" charset="0"/>
                      </a:endParaRPr>
                    </a:p>
                  </a:txBody>
                  <a:tcPr marL="71120" marR="71120" marT="62230" marB="62230">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249</TotalTime>
  <Words>3111</Words>
  <Application>Microsoft Office PowerPoint</Application>
  <PresentationFormat>Widescreen</PresentationFormat>
  <Paragraphs>342</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Consolas</vt:lpstr>
      <vt:lpstr>Office Theme</vt:lpstr>
      <vt:lpstr>Problem Set 1 - Threaded Prime Number Search</vt:lpstr>
      <vt:lpstr>Straight division: implementation</vt:lpstr>
      <vt:lpstr>Divisibility testing: implementation</vt:lpstr>
      <vt:lpstr>Immediate: implementation</vt:lpstr>
      <vt:lpstr>Print at end: implementation</vt:lpstr>
      <vt:lpstr>Straight division: more threads, faster search</vt:lpstr>
      <vt:lpstr>Straight division: extra threads help less and less</vt:lpstr>
      <vt:lpstr>Straight division: later blocks take longer</vt:lpstr>
      <vt:lpstr>Straight division: optimum thread count, 12–24 threads</vt:lpstr>
      <vt:lpstr>Straight division: immediate printing costs more</vt:lpstr>
      <vt:lpstr>Divisibility testing: more threads, slower search</vt:lpstr>
      <vt:lpstr>Divisibility testing: extra threads slow every number</vt:lpstr>
      <vt:lpstr>Optimum thread count: 1 thread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Threaded Prime Search Analysis</dc:title>
  <dc:subject/>
  <dc:creator/>
  <cp:lastModifiedBy>Clarence Ang</cp:lastModifiedBy>
  <cp:revision>8</cp:revision>
  <dcterms:created xsi:type="dcterms:W3CDTF">2026-10-07T16:45:58Z</dcterms:created>
  <dcterms:modified xsi:type="dcterms:W3CDTF">2026-10-10T15:16:50Z</dcterms:modified>
</cp:coreProperties>
</file>